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eb98c1cd61489a" /><Relationship Type="http://schemas.openxmlformats.org/officeDocument/2006/relationships/extended-properties" Target="/docProps/app.xml" Id="R75fb9256ccfa47ba" /><Relationship Type="http://schemas.openxmlformats.org/officeDocument/2006/relationships/officeDocument" Target="/ppt/presentation.xml" Id="R97fb56a55604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3d9434a984628"/>
  </p:sldMasterIdLst>
  <p:notesMasterIdLst>
    <p:notesMasterId xmlns:r="http://schemas.openxmlformats.org/officeDocument/2006/relationships" r:id="R098f2157f3c34a86"/>
  </p:notesMasterIdLst>
  <p:sldIdLst>
    <p:sldId xmlns:r="http://schemas.openxmlformats.org/officeDocument/2006/relationships" id="256" r:id="R8cd8389169d74f81"/>
    <p:sldId xmlns:r="http://schemas.openxmlformats.org/officeDocument/2006/relationships" id="257" r:id="R76241fe0fc554fe9"/>
    <p:sldId xmlns:r="http://schemas.openxmlformats.org/officeDocument/2006/relationships" id="258" r:id="R8593920369204d7b"/>
    <p:sldId xmlns:r="http://schemas.openxmlformats.org/officeDocument/2006/relationships" id="259" r:id="Re80d5625125c433f"/>
    <p:sldId xmlns:r="http://schemas.openxmlformats.org/officeDocument/2006/relationships" id="260" r:id="R6ceaea31859e4fd4"/>
    <p:sldId xmlns:r="http://schemas.openxmlformats.org/officeDocument/2006/relationships" id="261" r:id="R138a241776d7490c"/>
    <p:sldId xmlns:r="http://schemas.openxmlformats.org/officeDocument/2006/relationships" id="262" r:id="R41b41af1168c425f"/>
    <p:sldId xmlns:r="http://schemas.openxmlformats.org/officeDocument/2006/relationships" id="263" r:id="R546d0912df2e4a94"/>
    <p:sldId xmlns:r="http://schemas.openxmlformats.org/officeDocument/2006/relationships" id="264" r:id="Raf4ab78e83e74966"/>
    <p:sldId xmlns:r="http://schemas.openxmlformats.org/officeDocument/2006/relationships" id="265" r:id="Rcc853ae51195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993312b114fd4" /><Relationship Type="http://schemas.openxmlformats.org/officeDocument/2006/relationships/slideMaster" Target="/ppt/slideMasters/slideMaster1.xml" Id="R2ba3d9434a984628" /><Relationship Type="http://schemas.openxmlformats.org/officeDocument/2006/relationships/notesMaster" Target="/ppt/notesMasters/notesMaster1.xml" Id="R098f2157f3c34a86" /><Relationship Type="http://schemas.openxmlformats.org/officeDocument/2006/relationships/presProps" Target="/ppt/presProps.xml" Id="R398fab72869949ee" /><Relationship Type="http://schemas.openxmlformats.org/officeDocument/2006/relationships/tableStyles" Target="/ppt/tableStyles.xml" Id="Ra8d76045c0db4f25" /><Relationship Type="http://schemas.openxmlformats.org/officeDocument/2006/relationships/slide" Target="/ppt/slides/slide1.xml" Id="R8cd8389169d74f81" /><Relationship Type="http://schemas.openxmlformats.org/officeDocument/2006/relationships/slide" Target="/ppt/slides/slide2.xml" Id="R76241fe0fc554fe9" /><Relationship Type="http://schemas.openxmlformats.org/officeDocument/2006/relationships/slide" Target="/ppt/slides/slide3.xml" Id="R8593920369204d7b" /><Relationship Type="http://schemas.openxmlformats.org/officeDocument/2006/relationships/slide" Target="/ppt/slides/slide4.xml" Id="Re80d5625125c433f" /><Relationship Type="http://schemas.openxmlformats.org/officeDocument/2006/relationships/slide" Target="/ppt/slides/slide5.xml" Id="R6ceaea31859e4fd4" /><Relationship Type="http://schemas.openxmlformats.org/officeDocument/2006/relationships/slide" Target="/ppt/slides/slide6.xml" Id="R138a241776d7490c" /><Relationship Type="http://schemas.openxmlformats.org/officeDocument/2006/relationships/slide" Target="/ppt/slides/slide7.xml" Id="R41b41af1168c425f" /><Relationship Type="http://schemas.openxmlformats.org/officeDocument/2006/relationships/slide" Target="/ppt/slides/slide8.xml" Id="R546d0912df2e4a94" /><Relationship Type="http://schemas.openxmlformats.org/officeDocument/2006/relationships/slide" Target="/ppt/slides/slide9.xml" Id="Raf4ab78e83e74966" /><Relationship Type="http://schemas.openxmlformats.org/officeDocument/2006/relationships/slide" Target="/ppt/slides/slide10.xml" Id="Rcc853ae51195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2e288294d8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un — Impala presentation system">
      <a:dk1>
        <a:srgbClr val="191817"/>
      </a:dk1>
      <a:lt1>
        <a:srgbClr val="FFFFFF"/>
      </a:lt1>
      <a:dk2>
        <a:srgbClr val="5B1A1D"/>
      </a:dk2>
      <a:lt2>
        <a:srgbClr val="FCFBF8"/>
      </a:lt2>
      <a:accent1>
        <a:srgbClr val="5B1A1D"/>
      </a:accent1>
      <a:accent2>
        <a:srgbClr val="2F74FF"/>
      </a:accent2>
      <a:accent3>
        <a:srgbClr val="14A866"/>
      </a:accent3>
      <a:accent4>
        <a:srgbClr val="D8892B"/>
      </a:accent4>
      <a:accent5>
        <a:srgbClr val="77736D"/>
      </a:accent5>
      <a:accent6>
        <a:srgbClr val="D9D5CF"/>
      </a:accent6>
      <a:hlink>
        <a:srgbClr val="2F74FF"/>
      </a:hlink>
      <a:folHlink>
        <a:srgbClr val="5B1A1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Run — Impala presentation syste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0cdc3f3170442c" /><Relationship Type="http://schemas.openxmlformats.org/officeDocument/2006/relationships/notesMaster" Target="/ppt/notesMasters/notesMaster1.xml" Id="Rccd46341a756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b0705ae3934e05" /><Relationship Type="http://schemas.openxmlformats.org/officeDocument/2006/relationships/notesMaster" Target="/ppt/notesMasters/notesMaster1.xml" Id="R2179a2116d24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ae32ac0ad4ee2" /><Relationship Type="http://schemas.openxmlformats.org/officeDocument/2006/relationships/notesMaster" Target="/ppt/notesMasters/notesMaster1.xml" Id="R743b6df9079346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98eaa16174b35" /><Relationship Type="http://schemas.openxmlformats.org/officeDocument/2006/relationships/notesMaster" Target="/ppt/notesMasters/notesMaster1.xml" Id="Rcf812facb019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fe0d0ae2c346fc" /><Relationship Type="http://schemas.openxmlformats.org/officeDocument/2006/relationships/notesMaster" Target="/ppt/notesMasters/notesMaster1.xml" Id="R03e9e38e71744b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d6ef0909e4fce" /><Relationship Type="http://schemas.openxmlformats.org/officeDocument/2006/relationships/notesMaster" Target="/ppt/notesMasters/notesMaster1.xml" Id="Re506abfc33af42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2b6d4b13ef4563" /><Relationship Type="http://schemas.openxmlformats.org/officeDocument/2006/relationships/notesMaster" Target="/ppt/notesMasters/notesMaster1.xml" Id="Ra28089ce9a59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77f0c1c5e74da9" /><Relationship Type="http://schemas.openxmlformats.org/officeDocument/2006/relationships/notesMaster" Target="/ppt/notesMasters/notesMaster1.xml" Id="R00aade12ab26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6b8fd0a6c4347" /><Relationship Type="http://schemas.openxmlformats.org/officeDocument/2006/relationships/notesMaster" Target="/ppt/notesMasters/notesMaster1.xml" Id="R32485c70e6af46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49bee263e74d18" /><Relationship Type="http://schemas.openxmlformats.org/officeDocument/2006/relationships/notesMaster" Target="/ppt/notesMasters/notesMaster1.xml" Id="R55d5d8cdc5e4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Knowledge without disclosure is Run's brand slogan.</a:t>
            </a:r>
          </a:p>
          <a:p xmlns:a="http://schemas.openxmlformats.org/drawingml/2006/main">
            <a:r>
              <a:t>Run makes difficult-to-access data usable while it remains protected.</a:t>
            </a:r>
          </a:p>
          <a:p xmlns:a="http://schemas.openxmlformats.org/drawingml/2006/main">
            <a:r>
              <a:t>The platform supports approved computation broadly, including analytics and model training.</a:t>
            </a:r>
          </a:p>
          <a:p xmlns:a="http://schemas.openxmlformats.org/drawingml/2006/main">
            <a:r>
              <a:t>Internal sources: business-case.md and product-architecture.md.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curves are directional, not a numerical forecast.</a:t>
            </a:r>
          </a:p>
          <a:p xmlns:a="http://schemas.openxmlformats.org/drawingml/2006/main">
            <a:r>
              <a:t>The two-sided arrow marks the widening difference between demand for unique training signal and data available through conventional sharing.</a:t>
            </a:r>
          </a:p>
          <a:p xmlns:a="http://schemas.openxmlformats.org/drawingml/2006/main">
            <a:r>
              <a:t>Sources: https://epoch.ai/publications/will-we-run-out-of-data-limits-of-llm-scaling-based-on-human-generated-data and business-case.md.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directional market model, not an empirical or exponential data series.</a:t>
            </a:r>
          </a:p>
          <a:p xmlns:a="http://schemas.openxmlformats.org/drawingml/2006/main">
            <a:r>
              <a:t>The progression is open-source data, reinforcement-learning environments, purchased proprietary data, and high-quality restricted data.</a:t>
            </a:r>
          </a:p>
          <a:p xmlns:a="http://schemas.openxmlformats.org/drawingml/2006/main">
            <a:r>
              <a:t>The larger circles represent increasing economic value. The widening arrow represents increasing access difficulty and coordination requirements.</a:t>
            </a:r>
          </a:p>
          <a:p xmlns:a="http://schemas.openxmlformats.org/drawingml/2006/main">
            <a:r>
              <a:t>Internal source: business-case.md.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Conventional access requires a transferable copy, which many high-value data holders cannot permit.</a:t>
            </a:r>
          </a:p>
          <a:p xmlns:a="http://schemas.openxmlformats.org/drawingml/2006/main">
            <a:r>
              <a:t>Run sends the approved computation to protected data and returns only the approved result.</a:t>
            </a:r>
          </a:p>
          <a:p xmlns:a="http://schemas.openxmlformats.org/drawingml/2006/main">
            <a:r>
              <a:t>Internal sources: business-case.md and product-architecture.md.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 specifies the computation. Data holders approve the exact use. Run executes with FHE and returns the approved result.</a:t>
            </a:r>
          </a:p>
          <a:p xmlns:a="http://schemas.openxmlformats.org/drawingml/2006/main">
            <a:r>
              <a:t>Run manages the workflow but cannot replace either side's approval.</a:t>
            </a:r>
          </a:p>
          <a:p xmlns:a="http://schemas.openxmlformats.org/drawingml/2006/main">
            <a:r>
              <a:t>Internal sources: product-architecture.md and key-exchange.md.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Nodes prepare data inside each holder. The control plane manages the agreement and approvals. Run Engine executes the approved computation using FHE.</a:t>
            </a:r>
          </a:p>
          <a:p xmlns:a="http://schemas.openxmlformats.org/drawingml/2006/main">
            <a:r>
              <a:t>The customer sends code and receives only the approved result. Run never sees source data.</a:t>
            </a:r>
          </a:p>
          <a:p xmlns:a="http://schemas.openxmlformats.org/drawingml/2006/main">
            <a:r>
              <a:t>Internal sources: product-architecture.md and key-exchange.md.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 defines and tests the work. The data holder maps its local data and approves the exact request.</a:t>
            </a:r>
          </a:p>
          <a:p xmlns:a="http://schemas.openxmlformats.org/drawingml/2006/main">
            <a:r>
              <a:t>Run validates, compiles, executes with FHE, and delivers the approved result through one shared workflow.</a:t>
            </a:r>
          </a:p>
          <a:p xmlns:a="http://schemas.openxmlformats.org/drawingml/2006/main">
            <a:r>
              <a:t>Internal source: product-architecture.md.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access layer helps customers find protected data, agree permissions and price, and compensate providers.</a:t>
            </a:r>
          </a:p>
          <a:p xmlns:a="http://schemas.openxmlformats.org/drawingml/2006/main">
            <a:r>
              <a:t>The compute layer turns approved code into serverless FHE jobs with predictable cost and a usable result.</a:t>
            </a:r>
          </a:p>
          <a:p xmlns:a="http://schemas.openxmlformats.org/drawingml/2006/main">
            <a:r>
              <a:t>Internal sources: business-case.md and product-architecture.md.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has two economic layers.</a:t>
            </a:r>
          </a:p>
          <a:p xmlns:a="http://schemas.openxmlformats.org/drawingml/2006/main">
            <a:r>
              <a:t>The access layer charges for governed access and pays data holders. The compute layer charges for metered FHE execution and enterprise platform use.</a:t>
            </a:r>
          </a:p>
          <a:p xmlns:a="http://schemas.openxmlformats.org/drawingml/2006/main">
            <a:r>
              <a:t>No revenue figures are implied on this slide.</a:t>
            </a:r>
          </a:p>
          <a:p xmlns:a="http://schemas.openxmlformats.org/drawingml/2006/main">
            <a:r>
              <a:t>Internal source: business-case.md.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message is access: Run makes difficult-to-access data usable for any computation that the customer and data holders approve.</a:t>
            </a:r>
          </a:p>
          <a:p xmlns:a="http://schemas.openxmlformats.org/drawingml/2006/main">
            <a:r>
              <a:t>Close with the Run slogan: Knowledge without disclosure.</a:t>
            </a:r>
          </a:p>
          <a:p xmlns:a="http://schemas.openxmlformats.org/drawingml/2006/main">
            <a:r>
              <a:t>FHE is the base technology that protects data while it is used.</a:t>
            </a:r>
          </a:p>
          <a:p xmlns:a="http://schemas.openxmlformats.org/drawingml/2006/main">
            <a:r>
              <a:t>Internal sources: business-case.md and product-architecture.md.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d5d8bdf4445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2b94297c746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ee9ad086446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da4c7ea5045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95e1f77d446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5e9731a9a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D5D3C6-BE95-406A-B0DB-CADD0EB11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729CD7-099E-43C6-A1B5-81F59A8887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FC744F-C788-49EA-91E7-54189E46F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C74617-9E16-475A-9E3A-D005B92F0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A2EA36-B06E-48D5-994D-34FCD06C4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BBECB0-B76B-4FA0-AA3D-D3C65B7D7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F1EC77-F651-4A05-843B-417C55539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117D29-A17E-4AC5-8991-37F6554280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784CED-E2B0-4056-BC43-777DDB8F8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DB1AC-AB3E-4C09-B3A2-FFD9B74A2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78afb1190b4b91" /><Relationship Type="http://schemas.openxmlformats.org/officeDocument/2006/relationships/slideLayout" Target="/ppt/slideLayouts/slideLayout1.xml" Id="Rec87d941ab1f4e39" /><Relationship Type="http://schemas.openxmlformats.org/officeDocument/2006/relationships/slideLayout" Target="/ppt/slideLayouts/slideLayout2.xml" Id="R8f9d7d621c204683" /><Relationship Type="http://schemas.openxmlformats.org/officeDocument/2006/relationships/slideLayout" Target="/ppt/slideLayouts/slideLayout3.xml" Id="Rc17693217b134965" /><Relationship Type="http://schemas.openxmlformats.org/officeDocument/2006/relationships/slideLayout" Target="/ppt/slideLayouts/slideLayout4.xml" Id="R6b3a864bfbb84873" /><Relationship Type="http://schemas.openxmlformats.org/officeDocument/2006/relationships/slideLayout" Target="/ppt/slideLayouts/slideLayout5.xml" Id="R0574d38819af4448" /><Relationship Type="http://schemas.openxmlformats.org/officeDocument/2006/relationships/slideLayout" Target="/ppt/slideLayouts/slideLayout6.xml" Id="Rc9044bbfbe484b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7d941ab1f4e39"/>
    <p:sldLayoutId xmlns:r="http://schemas.openxmlformats.org/officeDocument/2006/relationships" id="2147483650" r:id="R8f9d7d621c204683"/>
    <p:sldLayoutId xmlns:r="http://schemas.openxmlformats.org/officeDocument/2006/relationships" id="2147483651" r:id="Rc17693217b134965"/>
    <p:sldLayoutId xmlns:r="http://schemas.openxmlformats.org/officeDocument/2006/relationships" id="2147483652" r:id="R6b3a864bfbb84873"/>
    <p:sldLayoutId xmlns:r="http://schemas.openxmlformats.org/officeDocument/2006/relationships" id="2147483653" r:id="R0574d38819af4448"/>
    <p:sldLayoutId xmlns:r="http://schemas.openxmlformats.org/officeDocument/2006/relationships" id="2147483654" r:id="Rc9044bbfbe484b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un — Impala presentation system">
      <a:dk1>
        <a:srgbClr val="191817"/>
      </a:dk1>
      <a:lt1>
        <a:srgbClr val="FFFFFF"/>
      </a:lt1>
      <a:dk2>
        <a:srgbClr val="5B1A1D"/>
      </a:dk2>
      <a:lt2>
        <a:srgbClr val="FCFBF8"/>
      </a:lt2>
      <a:accent1>
        <a:srgbClr val="5B1A1D"/>
      </a:accent1>
      <a:accent2>
        <a:srgbClr val="2F74FF"/>
      </a:accent2>
      <a:accent3>
        <a:srgbClr val="14A866"/>
      </a:accent3>
      <a:accent4>
        <a:srgbClr val="D8892B"/>
      </a:accent4>
      <a:accent5>
        <a:srgbClr val="77736D"/>
      </a:accent5>
      <a:accent6>
        <a:srgbClr val="D9D5CF"/>
      </a:accent6>
      <a:hlink>
        <a:srgbClr val="2F74FF"/>
      </a:hlink>
      <a:folHlink>
        <a:srgbClr val="5B1A1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Run — Impala presentation syste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372dd876f452b" /><Relationship Type="http://schemas.openxmlformats.org/officeDocument/2006/relationships/notesSlide" Target="/ppt/notesSlides/notesSlide1.xml" Id="R6d8516bfae3d4b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4bf0d822b4cba" /><Relationship Type="http://schemas.openxmlformats.org/officeDocument/2006/relationships/notesSlide" Target="/ppt/notesSlides/notesSlide2.xml" Id="R14b14a77a4714e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b2704ca5b48f2" /><Relationship Type="http://schemas.openxmlformats.org/officeDocument/2006/relationships/notesSlide" Target="/ppt/notesSlides/notesSlide3.xml" Id="R297169a3fc96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48d5fcd194cf0" /><Relationship Type="http://schemas.openxmlformats.org/officeDocument/2006/relationships/notesSlide" Target="/ppt/notesSlides/notesSlide4.xml" Id="R3995f1410166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0890b2228432e" /><Relationship Type="http://schemas.openxmlformats.org/officeDocument/2006/relationships/notesSlide" Target="/ppt/notesSlides/notesSlide5.xml" Id="R8d9020d0059d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7b77a92c74330" /><Relationship Type="http://schemas.openxmlformats.org/officeDocument/2006/relationships/notesSlide" Target="/ppt/notesSlides/notesSlide6.xml" Id="R325d3e7c5b4844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889aab06f427b" /><Relationship Type="http://schemas.openxmlformats.org/officeDocument/2006/relationships/notesSlide" Target="/ppt/notesSlides/notesSlide7.xml" Id="R70c81e60b29643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dd78c8c4c472b" /><Relationship Type="http://schemas.openxmlformats.org/officeDocument/2006/relationships/notesSlide" Target="/ppt/notesSlides/notesSlide8.xml" Id="R51cf12aa1d5c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5b07c6af44a0d" /><Relationship Type="http://schemas.openxmlformats.org/officeDocument/2006/relationships/notesSlide" Target="/ppt/notesSlides/notesSlide9.xml" Id="R1c09e69ab9e0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c548f6c4d435c" /><Relationship Type="http://schemas.openxmlformats.org/officeDocument/2006/relationships/notesSlide" Target="/ppt/notesSlides/notesSlide10.xml" Id="R5b22231e345148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BE389-73C0-47EB-9F48-A24EB59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E485E-B818-4920-8E9F-07F9475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0" i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3900" b="0" i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0" i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Knowledge without disclosure.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0D5EB-A21C-48E1-BA4D-06F19965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15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Run connects customers to restricted data and executes approved computation with FHE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9833D-55EA-45A8-97B4-21546A4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" y="4095750"/>
            <a:ext cx="420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B1A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5F61-DC54-4B3A-A811-06C60467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2593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C8EC6-B840-40C8-9829-8011144D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Access to unique data is becoming AI’s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84BC-2977-4259-B9EA-2E6C4CD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" y="5743575"/>
            <a:ext cx="992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5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A5238-E8E6-4FDF-A8B0-5251981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1428750"/>
            <a:ext cx="0" cy="431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5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0A588-AFB7-4C0B-B393-2645DE9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85900"/>
            <a:ext cx="9620250" cy="4114800"/>
          </a:xfrm>
          <a:custGeom xmlns:a="http://schemas.openxmlformats.org/drawingml/2006/main">
            <a:pathLst>
              <a:path w="9620250" h="4114800">
                <a:moveTo>
                  <a:pt x="0" y="3905250"/>
                </a:moveTo>
                <a:cubicBezTo>
                  <a:pt x="2571750" y="3733800"/>
                  <a:pt x="4524375" y="2876550"/>
                  <a:pt x="6191250" y="1981200"/>
                </a:cubicBezTo>
                <a:cubicBezTo>
                  <a:pt x="7667625" y="1190625"/>
                  <a:pt x="8667750" y="400050"/>
                  <a:pt x="9620250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B1A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EF237-BB50-4B5D-BD42-EC48D6E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85900"/>
            <a:ext cx="9620250" cy="4114800"/>
          </a:xfrm>
          <a:custGeom xmlns:a="http://schemas.openxmlformats.org/drawingml/2006/main">
            <a:pathLst>
              <a:path w="9620250" h="4114800">
                <a:moveTo>
                  <a:pt x="0" y="3829050"/>
                </a:moveTo>
                <a:cubicBezTo>
                  <a:pt x="2190750" y="3429000"/>
                  <a:pt x="4095750" y="2552700"/>
                  <a:pt x="6191250" y="2190750"/>
                </a:cubicBezTo>
                <a:cubicBezTo>
                  <a:pt x="7715250" y="1933575"/>
                  <a:pt x="8763000" y="1895475"/>
                  <a:pt x="9620250" y="18859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7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19B4D-9802-4A97-B4FE-F4C1C41D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Demand for unique training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794C3-77D4-4E02-B589-43FFF57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14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Data available through conventional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68BB9-8F1C-4384-9BA0-5B38264B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DIRECTIONAL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60C53-5095-470F-8F48-04BF20D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6C7B9-5793-4740-81DE-372936BC5243}"/>
              </a:ext>
            </a:extLst>
          </p:cNvPr>
          <p:cNvCxnSpPr/>
          <p:nvPr/>
        </p:nvCxnSpPr>
        <p:spPr>
          <a:xfrm xmlns:a="http://schemas.openxmlformats.org/drawingml/2006/main">
            <a:off x="9953625" y="2076450"/>
            <a:ext cx="0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B1A1D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A448A-2C53-4B48-AB83-41AF9DF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38400"/>
            <a:ext cx="97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ACCESS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1662864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rowing value and access arrow">
            <a:extLst xmlns:a="http://schemas.openxmlformats.org/drawingml/2006/main">
              <a:ext uri="{FF2B5EF4-FFF2-40B4-BE49-F238E27FC236}">
                <a16:creationId xmlns:a16="http://schemas.microsoft.com/office/drawing/2014/main" id="{2BD1A161-A1BC-4CA5-9084-66A2C41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9810750" cy="3924300"/>
          </a:xfrm>
          <a:custGeom xmlns:a="http://schemas.openxmlformats.org/drawingml/2006/main">
            <a:pathLst>
              <a:path w="9810750" h="3924300">
                <a:moveTo>
                  <a:pt x="190500" y="3333750"/>
                </a:moveTo>
                <a:lnTo>
                  <a:pt x="8334375" y="190500"/>
                </a:lnTo>
                <a:lnTo>
                  <a:pt x="8334375" y="0"/>
                </a:lnTo>
                <a:lnTo>
                  <a:pt x="9620250" y="904875"/>
                </a:lnTo>
                <a:lnTo>
                  <a:pt x="8334375" y="1809750"/>
                </a:lnTo>
                <a:lnTo>
                  <a:pt x="8334375" y="1619250"/>
                </a:lnTo>
                <a:lnTo>
                  <a:pt x="285750" y="3667125"/>
                </a:lnTo>
                <a:close/>
              </a:path>
            </a:pathLst>
          </a:custGeom>
          <a:solidFill xmlns:a="http://schemas.openxmlformats.org/drawingml/2006/main">
            <a:srgbClr val="F3E9EB"/>
          </a:solidFill>
          <a:ln xmlns:a="http://schemas.openxmlformats.org/drawingml/2006/main" w="19050">
            <a:solidFill>
              <a:srgbClr val="5B1A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883DB-427E-48C7-8A00-48C3507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Data value and access difficulty rise together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6B79C-3924-414F-B12D-E4340D2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82EAC-0786-4E5C-BA9E-44B1828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ECONOMIC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C3576-AD93-40AA-A5D5-6FE94C1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7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ACCESS DIFFICULTY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7454E8-5A17-4982-817E-7E5947FC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52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0E9C6-1E72-42B6-ACA0-BBB1E77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1149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OPEN-SOURCE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A25D0-57EB-464C-82AE-CF5FFD40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816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easy to copy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FF19C-06EB-474B-9DDB-50A474D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95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D35AD-0A39-40BA-9F44-DFD479D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48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RL ENVIRONMENTS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39685-DCCB-461A-BCBF-60345BF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148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costly to create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89056-9450-45F6-84F6-726D02F0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194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19050">
            <a:solidFill>
              <a:srgbClr val="D889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47F6CE-3C6D-46A6-B0A8-99496C7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005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PURCHASED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35001B-530E-45A6-9E85-115201F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67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scarce and proprietary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876187-C778-48B3-A752-D1A24F6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669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1A1D"/>
          </a:solidFill>
          <a:ln xmlns:a="http://schemas.openxmlformats.org/drawingml/2006/main" w="19050">
            <a:solidFill>
              <a:srgbClr val="5B1A1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A74A5C-3459-49DE-8616-81F96C75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909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RESTRICTED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0A4F5-9585-4DD6-A8E7-FE63E80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57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highest-value signal</a:t>
            </a:r>
          </a:p>
        </p:txBody>
      </p:sp>
    </p:spTree>
    <p:extLst>
      <p:ext uri="{BB962C8B-B14F-4D97-AF65-F5344CB8AC3E}">
        <p14:creationId xmlns:p14="http://schemas.microsoft.com/office/powerpoint/2010/main" val="1952994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88A3E-C8CE-4E04-BBDA-68D51057F5C5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4582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866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55CA6-03F8-4139-BF39-9D0101E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Restricted data needs a different access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D4AD2-6A34-47C6-B694-B8473959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4CC44-FA57-43C4-AD06-E044697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85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COPY THE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A57E6-D504-4B41-A93C-9ED3207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1790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DATA HOLDER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source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20E2A-9E5B-4559-AB41-90A2463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790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736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receives a copy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6850E-FB78-4364-BCC6-2C7AB3F1CA38}"/>
              </a:ext>
            </a:extLst>
          </p:cNvPr>
          <p:cNvCxnSpPr/>
          <p:nvPr/>
        </p:nvCxnSpPr>
        <p:spPr>
          <a:xfrm xmlns:a="http://schemas.openxmlformats.org/drawingml/2006/main">
            <a:off x="2990850" y="28670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36D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CE9F7-D784-4FCE-A165-7080D8E2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Often blocked by privacy, policy, or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A1C91-70A9-4F5B-A558-1E2BFB3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8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8BA8C-3CB1-424D-9DE9-B687C57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3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45F48-B2D0-4CE4-833F-F57185B9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85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 THE COMPUTATION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18949-28AC-41E5-B9E9-883C2BBC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1981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DATA HOLDER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source stays in place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EA64D-146A-4F2A-A694-8A85963D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approved computation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6B28C-39D6-427F-82BC-402263B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Approved result returns; source data does not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80DCF-B2C3-4B25-B28A-5E40466F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10150"/>
            <a:ext cx="712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brings approved code to protected data</a:t>
            </a:r>
          </a:p>
        </p:txBody>
      </p:sp>
    </p:spTree>
    <p:extLst>
      <p:ext uri="{BB962C8B-B14F-4D97-AF65-F5344CB8AC3E}">
        <p14:creationId xmlns:p14="http://schemas.microsoft.com/office/powerpoint/2010/main" val="1843109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ED0CDE-789B-4E25-910E-EB32FECCBCA7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572500" y="3295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736D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A4565-F04D-4848-B4EF-0C6AD9D51AD7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810250" y="3295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736D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B80012-9887-4563-B45E-0C7FF6AC0D9C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048000" y="3295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736D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B9124-B5D1-4034-BE89-7213FC4E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How a Run job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CDA70-8C3C-4138-BADA-4FCCEE8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05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51185-9236-42E0-A6A0-EFC8AAF0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A5557-EF1E-43A1-920F-92390EF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AD0B7-4FD7-4196-B7E9-212341F5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43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defines the data request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and computation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10BDA-4B55-4843-920B-E3C2C4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89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7D048-EF91-4EDC-BD40-3E382549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343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4288">
            <a:solidFill>
              <a:srgbClr val="D8892B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DATA HOLDERS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review the exact use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and approve participation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871B77-BB6D-4652-A6BB-A4B8E39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86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D20FD-2CD5-40AF-9927-58647E7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343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executes with FHE while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source data stays protected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3F5D5-4A00-427F-8A84-C33EECC9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1A1D"/>
          </a:solidFill>
          <a:ln xmlns:a="http://schemas.openxmlformats.org/drawingml/2006/main" w="19050">
            <a:solidFill>
              <a:srgbClr val="5B1A1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3328D-D7D5-4209-B2F9-AFD28B9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343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receives the approved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40E7DC-F8C1-4641-B3D2-796F5FBC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B1A1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E99E73-2A5A-4535-BD56-092B4029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0"/>
            <a:ext cx="807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 manages the agreement, execution, metering, and audit trail</a:t>
            </a:r>
          </a:p>
        </p:txBody>
      </p:sp>
    </p:spTree>
    <p:extLst>
      <p:ext uri="{BB962C8B-B14F-4D97-AF65-F5344CB8AC3E}">
        <p14:creationId xmlns:p14="http://schemas.microsoft.com/office/powerpoint/2010/main" val="1704648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95814B-9F1A-4FD9-97EF-05BBF7796F29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058150" y="4267200"/>
            <a:ext cx="114300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866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6D0CF-CC57-49BA-B5E7-8F9E8DBA4F0F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657600" y="4181475"/>
            <a:ext cx="100965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4FF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BF9C4-FE8E-49FB-8C23-A81C35A0B972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657600" y="2581275"/>
            <a:ext cx="100965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4FF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54D209-C2F9-4265-AD5A-A9DFE8812591}"/>
              </a:ext>
            </a:extLst>
          </p:cNvPr>
          <p:cNvCxnSpPr>
            <a:stCxn xmlns:a="http://schemas.openxmlformats.org/drawingml/2006/main" id="34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058150" y="2371725"/>
            <a:ext cx="11430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1A1D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0AD6B-1D67-4D38-A869-6142329F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connects customers to protected data without seeing 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1D994-856F-43D4-9456-1275256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97E1D-57A2-48CA-9ACA-1F63AB5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DATA HOLDERS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58CBD-08AE-4189-B2C6-F03741CB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57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37307-F60F-4945-9B35-30E3949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573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E96B8-7BFA-440E-A8A9-24FBCE13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3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15531-02C0-4D4E-8288-C758A1BD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621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883E7-2A17-4268-A38E-C53CEC20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857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HOSPITAL 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Node prepares data locally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15E64-4B99-44E1-A83C-21352D3E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857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HOSPITAL B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Node prepares data locally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9512E-6B5D-4726-9329-2EE1B0A0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3390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CONTROL PLANE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agreement · approvals · jobs ·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0F42DD-7A7D-4BCF-BE5E-B43A9D8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ENGINE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FHE protects data during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B4CD6-8C6D-44E9-876C-67AEC185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75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CODE + REQUEST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B99AB2-42AE-40C5-88AD-A361F16E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7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APPROVED RESULT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93A500-EA43-4EE5-85B7-4E280F2B0BB5}"/>
              </a:ext>
            </a:extLst>
          </p:cNvPr>
          <p:cNvCxnSpPr/>
          <p:nvPr/>
        </p:nvCxnSpPr>
        <p:spPr>
          <a:xfrm xmlns:a="http://schemas.openxmlformats.org/drawingml/2006/main">
            <a:off x="6362700" y="30480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736D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2D3F98-08C3-433B-954C-5787FDED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Source data stays with each holder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3E7396-8368-43DA-BF32-B7C949C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19700"/>
            <a:ext cx="3848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 coordinates the workflow and executes the approved job</a:t>
            </a:r>
          </a:p>
        </p:txBody>
      </p:sp>
    </p:spTree>
    <p:extLst>
      <p:ext uri="{BB962C8B-B14F-4D97-AF65-F5344CB8AC3E}">
        <p14:creationId xmlns:p14="http://schemas.microsoft.com/office/powerpoint/2010/main" val="722797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76F1E5-7A38-4BF8-B342-1C6C5682D34B}"/>
              </a:ext>
            </a:extLst>
          </p:cNvPr>
          <p:cNvCxnSpPr>
            <a:stCxn xmlns:a="http://schemas.openxmlformats.org/drawingml/2006/main" id="5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6096000" y="42672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36D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D0C32A-0E1B-4B4F-B506-F2EAFDBAD4B3}"/>
              </a:ext>
            </a:extLst>
          </p:cNvPr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6096000" y="3390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36D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5AB833-C143-475C-8395-10E32DC30673}"/>
              </a:ext>
            </a:extLst>
          </p:cNvPr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6096000" y="2514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36D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5BC27-F907-4741-918E-851D9B8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One workflow for the customer and data holder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1E7744-6AAA-42FF-B940-B2B9784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931EE-53B6-4598-A47D-4C0B19E1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7CC579-B2CF-4451-A7C5-2A65B72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9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4A72A-7B40-4581-AEE8-673B35A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9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DATA HOLDER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4106A9-64D9-4C3D-9954-427B5FB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D6D74D-8757-4474-B9C1-D3BF7D4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Define the data request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ABA3D8-716C-4009-A6C0-1831F1B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86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FF3EC4-5907-48D8-B22D-53102ECB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Map local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D30A60-C40C-4F3F-ADC1-3B45BA3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44D17-6272-4827-869C-55983C0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Write the computation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7164BB-556A-427F-A78D-299A2984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86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02EF40-8B62-4A14-A488-82DC6E6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Review the exact request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06BD90-A70A-420C-8E14-169746F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4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184E6-44FE-4142-BB95-744749D8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Test and estimate cost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5239E0-3A87-4805-8011-2091B74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86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C359EA-2F4E-466F-BBE6-160FF0AB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148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Approve participation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DECD6A-ADDF-497C-837C-A4F85B8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81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VALIDATE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A366FC-82FF-494A-A665-A3FAD203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81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COMPILE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B605B9-7383-4127-82E5-43EFAC56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81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RUN WITH FHE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11B34C-DFC3-4A71-B432-A807E99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281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14288">
            <a:solidFill>
              <a:srgbClr val="D8892B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2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D8892B"/>
                </a:solidFill>
                <a:latin typeface="Times New Roman"/>
                <a:ea typeface="Times New Roman"/>
                <a:cs typeface="Times New Roman"/>
              </a:rPr>
              <a:t>DELIVER RESULT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0B8690-D3F7-4D97-8E18-29012291F13F}"/>
              </a:ext>
            </a:extLst>
          </p:cNvPr>
          <p:cNvCxnSpPr/>
          <p:nvPr/>
        </p:nvCxnSpPr>
        <p:spPr>
          <a:xfrm xmlns:a="http://schemas.openxmlformats.org/drawingml/2006/main">
            <a:off x="3886200" y="33718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4FF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7EE1C6-5CC5-47D0-8470-2E8AC3E691A5}"/>
              </a:ext>
            </a:extLst>
          </p:cNvPr>
          <p:cNvCxnSpPr/>
          <p:nvPr/>
        </p:nvCxnSpPr>
        <p:spPr>
          <a:xfrm xmlns:a="http://schemas.openxmlformats.org/drawingml/2006/main">
            <a:off x="7581900" y="33718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A866"/>
            </a:solidFill>
            <a:prstDash val="solid"/>
            <a:head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4DF529-3114-4580-AAAA-7C1AF01B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Both sides see the same request, cost, and output rules</a:t>
            </a:r>
          </a:p>
        </p:txBody>
      </p:sp>
    </p:spTree>
    <p:extLst>
      <p:ext uri="{BB962C8B-B14F-4D97-AF65-F5344CB8AC3E}">
        <p14:creationId xmlns:p14="http://schemas.microsoft.com/office/powerpoint/2010/main" val="152298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41005-D4C1-4437-A38D-7F71C01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Two product layers make restricted data usable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FA10B-510B-450E-9C35-652AC9A0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589E5-D1E6-48E1-9937-A49577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71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ACCESS LAYER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29479-89B0-4F7C-AEFC-62A8DA29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247650" tIns="247650" rIns="247650" bIns="247650" anchor="ctr"/>
          <a:lstStyle xmlns:a="http://schemas.openxmlformats.org/drawingml/2006/main">
            <a:defPPr algn="l">
              <a:defRPr sz="16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RUN EXCHANGE + RUN NODES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17270D-CF74-4700-80AB-2111ECDE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Find qualified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85797-D3CA-4F6D-9B5C-ED7071B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Set permissions and price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E02491-46DE-4BEA-8A38-2037A3A4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Pay data holders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F1E38A-7144-46EC-8F6C-8F08ACC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3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199F3-B46F-478D-88D7-D9B07E0E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COMPUTE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A85B75-9526-4FC0-9926-64B3E20F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247650" tIns="247650" rIns="247650" bIns="247650" anchor="ctr"/>
          <a:lstStyle xmlns:a="http://schemas.openxmlformats.org/drawingml/2006/main">
            <a:defPPr algn="l">
              <a:defRPr sz="16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RUN PLATFORM + RUN 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8D63BB-362F-46BD-9603-A3F3634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Submit code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353ABF-671C-4FF5-B169-BCC1294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Estimate and control cost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9E58A7-560B-4446-9F57-4FE25DB4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serverless FHE jobs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719487-19FC-45BE-B7D1-70CF77D7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One agreement and audit trail spans both layers</a:t>
            </a:r>
          </a:p>
        </p:txBody>
      </p:sp>
    </p:spTree>
    <p:extLst>
      <p:ext uri="{BB962C8B-B14F-4D97-AF65-F5344CB8AC3E}">
        <p14:creationId xmlns:p14="http://schemas.microsoft.com/office/powerpoint/2010/main" val="20315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AB918C-84AE-4167-A564-22FC5045DF76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096000" y="2076450"/>
            <a:ext cx="28860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14A866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7D049-CD70-4AE1-B643-0C7DF2E8C116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3209925" y="2076450"/>
            <a:ext cx="28860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2F74FF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7BC20-6E42-4159-8363-4FE11E15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Run earns from data access and serverless computation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4BC1A-5E41-4CB3-B35C-E7EC40F7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8964C-142D-487C-8267-059A5B0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71600"/>
            <a:ext cx="2819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E9EB"/>
          </a:solidFill>
          <a:ln xmlns:a="http://schemas.openxmlformats.org/drawingml/2006/main" w="14288">
            <a:solidFill>
              <a:srgbClr val="5B1A1D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5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CUSTOMER SPEND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4D63C-5163-4601-9B8E-0702B84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714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74FF"/>
            </a:solidFill>
            <a:prstDash val="solid"/>
          </a:ln>
        </p:spPr>
        <p:txBody>
          <a:bodyPr xmlns:a="http://schemas.openxmlformats.org/drawingml/2006/main" lIns="190500" tIns="190500" rIns="190500" bIns="190500" anchor="ctr"/>
          <a:lstStyle xmlns:a="http://schemas.openxmlformats.org/drawingml/2006/main">
            <a:defPPr algn="ctr"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DATA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Access rights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Marketplace fee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A762F-CF6B-498A-A397-C51490A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3714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14288">
            <a:solidFill>
              <a:srgbClr val="14A866"/>
            </a:solidFill>
            <a:prstDash val="solid"/>
          </a:ln>
        </p:spPr>
        <p:txBody>
          <a:bodyPr xmlns:a="http://schemas.openxmlformats.org/drawingml/2006/main" lIns="190500" tIns="190500" rIns="190500" bIns="190500" anchor="ctr"/>
          <a:lstStyle xmlns:a="http://schemas.openxmlformats.org/drawingml/2006/main">
            <a:defPPr algn="ctr"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SERVERLESS COMPUTE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Metered FHE execution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Platform subscription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E61E5-1641-4AD2-903E-869C9208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74FF"/>
                </a:solidFill>
                <a:latin typeface="Times New Roman"/>
                <a:ea typeface="Times New Roman"/>
                <a:cs typeface="Times New Roman"/>
              </a:rPr>
              <a:t>Data holders receive the negotiated payout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60E49-24C6-494B-87C0-DDA81C34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81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4A866"/>
                </a:solidFill>
                <a:latin typeface="Times New Roman"/>
                <a:ea typeface="Times New Roman"/>
                <a:cs typeface="Times New Roman"/>
              </a:rPr>
              <a:t>Run captures usage and subscription revenue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5163E5-6420-4E10-A10F-7307358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53100"/>
            <a:ext cx="788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B1A1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862B6-DCBA-4DC4-A08A-A66D7CD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674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More approved data and recurring jobs expand both streams</a:t>
            </a:r>
          </a:p>
        </p:txBody>
      </p:sp>
    </p:spTree>
    <p:extLst>
      <p:ext uri="{BB962C8B-B14F-4D97-AF65-F5344CB8AC3E}">
        <p14:creationId xmlns:p14="http://schemas.microsoft.com/office/powerpoint/2010/main" val="1848113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D2152-0C2B-4EB7-A516-59883B95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D6EE-C860-4EC7-B11D-1A758D16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8858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3525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0" i="0">
                <a:solidFill>
                  <a:srgbClr val="191817"/>
                </a:solidFill>
                <a:latin typeface="Times New Roman"/>
                <a:ea typeface="Times New Roman"/>
                <a:cs typeface="Times New Roman"/>
              </a:rPr>
              <a:t>Access the data you cannot reach today.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675F-AC6B-4477-A01E-D361908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buNone/>
              <a:defRPr sz="2325" b="0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5B1A1D"/>
                </a:solidFill>
                <a:latin typeface="Times New Roman"/>
                <a:ea typeface="Times New Roman"/>
                <a:cs typeface="Times New Roman"/>
              </a:rPr>
              <a:t>Run makes it usable for any approved computation.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FAE9B-7A8A-436A-A858-C5EF377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" y="4895850"/>
            <a:ext cx="420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B1A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A8E02-98C7-406A-B8F5-14250F49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77736D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D023F-7CFF-4D62-B27C-C09AB90A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 i="1">
                <a:solidFill>
                  <a:srgbClr val="651D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1">
                <a:solidFill>
                  <a:srgbClr val="651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651D20"/>
                </a:solidFill>
                <a:latin typeface="Times New Roman"/>
                <a:ea typeface="Times New Roman"/>
                <a:cs typeface="Times New Roman"/>
              </a:rPr>
              <a:t>Knowledge without disclosure.</a:t>
            </a:r>
          </a:p>
        </p:txBody>
      </p:sp>
    </p:spTree>
    <p:extLst>
      <p:ext uri="{BB962C8B-B14F-4D97-AF65-F5344CB8AC3E}">
        <p14:creationId xmlns:p14="http://schemas.microsoft.com/office/powerpoint/2010/main" val="1559117436"/>
      </p:ext>
    </p:extLst>
  </p:cSld>
</p:sld>
</file>

<file path=ppt/theme/theme1.xml><?xml version="1.0" encoding="utf-8"?>
<a:theme xmlns:a="http://schemas.openxmlformats.org/drawingml/2006/main" name="ChatGPT">
  <a:themeElements>
    <a:clrScheme name="Run — Impala presentation system">
      <a:dk1>
        <a:srgbClr val="191817"/>
      </a:dk1>
      <a:lt1>
        <a:srgbClr val="FFFFFF"/>
      </a:lt1>
      <a:dk2>
        <a:srgbClr val="5B1A1D"/>
      </a:dk2>
      <a:lt2>
        <a:srgbClr val="FCFBF8"/>
      </a:lt2>
      <a:accent1>
        <a:srgbClr val="5B1A1D"/>
      </a:accent1>
      <a:accent2>
        <a:srgbClr val="2F74FF"/>
      </a:accent2>
      <a:accent3>
        <a:srgbClr val="14A866"/>
      </a:accent3>
      <a:accent4>
        <a:srgbClr val="D8892B"/>
      </a:accent4>
      <a:accent5>
        <a:srgbClr val="77736D"/>
      </a:accent5>
      <a:accent6>
        <a:srgbClr val="D9D5CF"/>
      </a:accent6>
      <a:hlink>
        <a:srgbClr val="2F74FF"/>
      </a:hlink>
      <a:folHlink>
        <a:srgbClr val="5B1A1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Run — Impala presentation syste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2026-10-11T13:17:56.9250000Z</dcterms:created>
  <dcterms:modified xsi:type="dcterms:W3CDTF">2026-10-11T13:17:56.9250000Z</dcterms:modified>
</coreProperties>
</file>