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d6c14b1c2de4819" /><Relationship Type="http://schemas.openxmlformats.org/officeDocument/2006/relationships/extended-properties" Target="/docProps/app.xml" Id="R05ab088758594660" /><Relationship Type="http://schemas.openxmlformats.org/officeDocument/2006/relationships/officeDocument" Target="/ppt/presentation.xml" Id="R123384b99a434b54" /></Relationships>
</file>

<file path=ppt/presentation.xml><?xml version="1.0" encoding="utf-8"?>
<p:presentation xmlns:p="http://schemas.openxmlformats.org/presentationml/2006/main">
  <p:sldMasterIdLst>
    <p:sldMasterId xmlns:r="http://schemas.openxmlformats.org/officeDocument/2006/relationships" id="2147483648" r:id="Rb87931360ff54d74"/>
  </p:sldMasterIdLst>
  <p:notesMasterIdLst>
    <p:notesMasterId xmlns:r="http://schemas.openxmlformats.org/officeDocument/2006/relationships" r:id="R59ddb625ca544c7f"/>
  </p:notesMasterIdLst>
  <p:sldIdLst>
    <p:sldId xmlns:r="http://schemas.openxmlformats.org/officeDocument/2006/relationships" id="256" r:id="R9a748b7662074d87"/>
    <p:sldId xmlns:r="http://schemas.openxmlformats.org/officeDocument/2006/relationships" id="257" r:id="R780e5c3dcd6944db"/>
    <p:sldId xmlns:r="http://schemas.openxmlformats.org/officeDocument/2006/relationships" id="258" r:id="Rb997367af71d479d"/>
    <p:sldId xmlns:r="http://schemas.openxmlformats.org/officeDocument/2006/relationships" id="259" r:id="R9fa1ca8bc01541dd"/>
    <p:sldId xmlns:r="http://schemas.openxmlformats.org/officeDocument/2006/relationships" id="260" r:id="R26d1a2f47fcb4fa6"/>
    <p:sldId xmlns:r="http://schemas.openxmlformats.org/officeDocument/2006/relationships" id="261" r:id="Rc1d4101fb19d4cdb"/>
    <p:sldId xmlns:r="http://schemas.openxmlformats.org/officeDocument/2006/relationships" id="262" r:id="R45644ffe2dc34415"/>
    <p:sldId xmlns:r="http://schemas.openxmlformats.org/officeDocument/2006/relationships" id="263" r:id="Rd6fcf65007264f20"/>
    <p:sldId xmlns:r="http://schemas.openxmlformats.org/officeDocument/2006/relationships" id="264" r:id="R6703831613e144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27aef0eb715418c" /><Relationship Type="http://schemas.openxmlformats.org/officeDocument/2006/relationships/slideMaster" Target="/ppt/slideMasters/slideMaster1.xml" Id="Rb87931360ff54d74" /><Relationship Type="http://schemas.openxmlformats.org/officeDocument/2006/relationships/notesMaster" Target="/ppt/notesMasters/notesMaster1.xml" Id="R59ddb625ca544c7f" /><Relationship Type="http://schemas.openxmlformats.org/officeDocument/2006/relationships/presProps" Target="/ppt/presProps.xml" Id="Rfe69fd34c8f44a80" /><Relationship Type="http://schemas.openxmlformats.org/officeDocument/2006/relationships/tableStyles" Target="/ppt/tableStyles.xml" Id="Rcd7bbc59e51146f8" /><Relationship Type="http://schemas.openxmlformats.org/officeDocument/2006/relationships/slide" Target="/ppt/slides/slide1.xml" Id="R9a748b7662074d87" /><Relationship Type="http://schemas.openxmlformats.org/officeDocument/2006/relationships/slide" Target="/ppt/slides/slide2.xml" Id="R780e5c3dcd6944db" /><Relationship Type="http://schemas.openxmlformats.org/officeDocument/2006/relationships/slide" Target="/ppt/slides/slide3.xml" Id="Rb997367af71d479d" /><Relationship Type="http://schemas.openxmlformats.org/officeDocument/2006/relationships/slide" Target="/ppt/slides/slide4.xml" Id="R9fa1ca8bc01541dd" /><Relationship Type="http://schemas.openxmlformats.org/officeDocument/2006/relationships/slide" Target="/ppt/slides/slide5.xml" Id="R26d1a2f47fcb4fa6" /><Relationship Type="http://schemas.openxmlformats.org/officeDocument/2006/relationships/slide" Target="/ppt/slides/slide6.xml" Id="Rc1d4101fb19d4cdb" /><Relationship Type="http://schemas.openxmlformats.org/officeDocument/2006/relationships/slide" Target="/ppt/slides/slide7.xml" Id="R45644ffe2dc34415" /><Relationship Type="http://schemas.openxmlformats.org/officeDocument/2006/relationships/slide" Target="/ppt/slides/slide8.xml" Id="Rd6fcf65007264f20" /><Relationship Type="http://schemas.openxmlformats.org/officeDocument/2006/relationships/slide" Target="/ppt/slides/slide9.xml" Id="R6703831613e144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02ff4cdbfb4b0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cbe612271f34c62" /><Relationship Type="http://schemas.openxmlformats.org/officeDocument/2006/relationships/notesMaster" Target="/ppt/notesMasters/notesMaster1.xml" Id="Rc59eac2074f14d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85a15cb54fa1462d" /><Relationship Type="http://schemas.openxmlformats.org/officeDocument/2006/relationships/notesMaster" Target="/ppt/notesMasters/notesMaster1.xml" Id="Rdd5350ec1ae84e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c3bfbd7b02224fd7" /><Relationship Type="http://schemas.openxmlformats.org/officeDocument/2006/relationships/notesMaster" Target="/ppt/notesMasters/notesMaster1.xml" Id="R9de0bfec023f490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1f865f7d41f4c07" /><Relationship Type="http://schemas.openxmlformats.org/officeDocument/2006/relationships/notesMaster" Target="/ppt/notesMasters/notesMaster1.xml" Id="Rd96de61ccb5141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087e51f5d3e425c" /><Relationship Type="http://schemas.openxmlformats.org/officeDocument/2006/relationships/notesMaster" Target="/ppt/notesMasters/notesMaster1.xml" Id="Re2cb2a0704f140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2ddc849b82426c" /><Relationship Type="http://schemas.openxmlformats.org/officeDocument/2006/relationships/notesMaster" Target="/ppt/notesMasters/notesMaster1.xml" Id="R4b26ab2b68314bae" /></Relationships>
</file>

<file path=ppt/notesSlides/_rels/notesSlide7.xml.rels>&#65279;<?xml version="1.0" encoding="utf-8"?><Relationships xmlns="http://schemas.openxmlformats.org/package/2006/relationships"><Relationship Type="http://schemas.openxmlformats.org/officeDocument/2006/relationships/slide" Target="/ppt/slides/slide7.xml" Id="R3984352d8c1940c1" /><Relationship Type="http://schemas.openxmlformats.org/officeDocument/2006/relationships/notesMaster" Target="/ppt/notesMasters/notesMaster1.xml" Id="R778326aefba1425a" /></Relationships>
</file>

<file path=ppt/notesSlides/_rels/notesSlide8.xml.rels>&#65279;<?xml version="1.0" encoding="utf-8"?><Relationships xmlns="http://schemas.openxmlformats.org/package/2006/relationships"><Relationship Type="http://schemas.openxmlformats.org/officeDocument/2006/relationships/slide" Target="/ppt/slides/slide8.xml" Id="Rcd9f7e69045046ad" /><Relationship Type="http://schemas.openxmlformats.org/officeDocument/2006/relationships/notesMaster" Target="/ppt/notesMasters/notesMaster1.xml" Id="R443005dde7064d8a" /></Relationships>
</file>

<file path=ppt/notesSlides/_rels/notesSlide9.xml.rels>&#65279;<?xml version="1.0" encoding="utf-8"?><Relationships xmlns="http://schemas.openxmlformats.org/package/2006/relationships"><Relationship Type="http://schemas.openxmlformats.org/officeDocument/2006/relationships/slide" Target="/ppt/slides/slide9.xml" Id="Ra2d77b778e814150" /><Relationship Type="http://schemas.openxmlformats.org/officeDocument/2006/relationships/notesMaster" Target="/ppt/notesMasters/notesMaster1.xml" Id="Rb99688b90b03403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The question is not whether useful public data remains. The next source of differentiated training signal is institutional data that cannot be transferred freely. RUN is designed to make that data computable under explicit permissions.</a:t>
            </a:r>
          </a:p>
          <a:p xmlns:a="http://schemas.openxmlformats.org/drawingml/2006/main">
            <a:r>
              <a:t/>
            </a:r>
          </a:p>
          <a:p xmlns:a="http://schemas.openxmlformats.org/drawingml/2006/main">
            <a:r>
              <a:t>Sources</a:t>
            </a:r>
          </a:p>
          <a:p xmlns:a="http://schemas.openxmlformats.org/drawingml/2006/main">
            <a:r>
              <a:t>• https://github.com/p-tequila/nftpz/blob/bf7f0240e6cda30aa7b4d9bdde3d00ed9eec4d98/business-case.md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focuses on data that organizations can identify as valuable but cannot centralize on acceptable legal, security or commercial terms. The examples on this slide come directly from the business case and its priority markets.</a:t>
            </a:r>
          </a:p>
          <a:p xmlns:a="http://schemas.openxmlformats.org/drawingml/2006/main">
            <a:r>
              <a:t/>
            </a:r>
          </a:p>
          <a:p xmlns:a="http://schemas.openxmlformats.org/drawingml/2006/main">
            <a:r>
              <a:t>Sources</a:t>
            </a:r>
          </a:p>
          <a:p xmlns:a="http://schemas.openxmlformats.org/drawingml/2006/main">
            <a:r>
              <a:t>• https://github.com/p-tequila/nftpz/blob/bf7f0240e6cda30aa7b4d9bdde3d00ed9eec4d98/business-case.md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commercial object is a bounded right to run a named program and receive a named output. Data owners keep plaintext locally, approve the workload and release policy, then send ciphertext to the execution service.</a:t>
            </a:r>
          </a:p>
          <a:p xmlns:a="http://schemas.openxmlformats.org/drawingml/2006/main">
            <a:r>
              <a:t/>
            </a:r>
          </a:p>
          <a:p xmlns:a="http://schemas.openxmlformats.org/drawingml/2006/main">
            <a:r>
              <a:t>Sources</a:t>
            </a:r>
          </a:p>
          <a:p xmlns:a="http://schemas.openxmlformats.org/drawingml/2006/main">
            <a:r>
              <a:t>• https://github.com/p-tequila/nftpz/blob/bf7f0240e6cda30aa7b4d9bdde3d00ed9eec4d98/business-case.md</a:t>
            </a:r>
          </a:p>
          <a:p xmlns:a="http://schemas.openxmlformats.org/drawingml/2006/main">
            <a:r>
              <a:t>• https://github.com/p-tequila/nftpz/blob/bf7f0240e6cda30aa7b4d9bdde3d00ed9eec4d98/product-architecture.md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target architecture for multiple data owners. Holder controlled RUN Nodes transform and encrypt data locally. RUN Engine receives ciphertext and evaluation material, then keeps inputs, state, checkpoints and weights encrypted. Data holder guardians control result release to a separate customer key. The current demo demonstrates encrypted logistic regression training and inference. Linear regression uses encrypted inference only. Threshold release across multiple owners remains a productization target.</a:t>
            </a:r>
          </a:p>
          <a:p xmlns:a="http://schemas.openxmlformats.org/drawingml/2006/main">
            <a:r>
              <a:t/>
            </a:r>
          </a:p>
          <a:p xmlns:a="http://schemas.openxmlformats.org/drawingml/2006/main">
            <a:r>
              <a:t>Sources</a:t>
            </a:r>
          </a:p>
          <a:p xmlns:a="http://schemas.openxmlformats.org/drawingml/2006/main">
            <a:r>
              <a:t>• https://github.com/p-tequila/nftpz/blob/bf7f0240e6cda30aa7b4d9bdde3d00ed9eec4d98/product-architecture.md</a:t>
            </a:r>
          </a:p>
          <a:p xmlns:a="http://schemas.openxmlformats.org/drawingml/2006/main">
            <a:r>
              <a:t>• https://github.com/p-tequila/nftpz/blob/bf7f0240e6cda30aa7b4d9bdde3d00ed9eec4d98/key-exchange.md</a:t>
            </a:r>
          </a:p>
          <a:p xmlns:a="http://schemas.openxmlformats.org/drawingml/2006/main">
            <a:r>
              <a:t>• https://github.com/p-tequila/nftpz/blob/bf7f0240e6cda30aa7b4d9bdde3d00ed9eec4d98/business-case.md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Customer flow: the buyer publishes a private request and immutable workload. Providers approve the data contract, output, price and release policy. RUN Nodes encrypt approved contributions. RUN Engine executes. The required organizations approve the exact result. The customer decrypts the authorized artifact and RUN settles provider payments.</a:t>
            </a:r>
          </a:p>
          <a:p xmlns:a="http://schemas.openxmlformats.org/drawingml/2006/main">
            <a:r>
              <a:t/>
            </a:r>
          </a:p>
          <a:p xmlns:a="http://schemas.openxmlformats.org/drawingml/2006/main">
            <a:r>
              <a:t>Sources</a:t>
            </a:r>
          </a:p>
          <a:p xmlns:a="http://schemas.openxmlformats.org/drawingml/2006/main">
            <a:r>
              <a:t>• https://github.com/p-tequila/nftpz/blob/bf7f0240e6cda30aa7b4d9bdde3d00ed9eec4d98/business-case.md</a:t>
            </a:r>
          </a:p>
          <a:p xmlns:a="http://schemas.openxmlformats.org/drawingml/2006/main">
            <a:r>
              <a:t>• https://github.com/p-tequila/nftpz/blob/bf7f0240e6cda30aa7b4d9bdde3d00ed9eec4d98/product-architecture.md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trust comparison, not a claim that FHE removes every risk. RUN reduces who can view data during computation. Output leakage, endpoint compromise, metadata leakage and legal duties still require controls.</a:t>
            </a:r>
          </a:p>
          <a:p xmlns:a="http://schemas.openxmlformats.org/drawingml/2006/main">
            <a:r>
              <a:t/>
            </a:r>
          </a:p>
          <a:p xmlns:a="http://schemas.openxmlformats.org/drawingml/2006/main">
            <a:r>
              <a:t>Sources</a:t>
            </a:r>
          </a:p>
          <a:p xmlns:a="http://schemas.openxmlformats.org/drawingml/2006/main">
            <a:r>
              <a:t>• https://github.com/p-tequila/nftpz/blob/bf7f0240e6cda30aa7b4d9bdde3d00ed9eec4d98/business-case.md</a:t>
            </a:r>
          </a:p>
          <a:p xmlns:a="http://schemas.openxmlformats.org/drawingml/2006/main">
            <a:r>
              <a:t>• https://github.com/p-tequila/nftpz/blob/bf7f0240e6cda30aa7b4d9bdde3d00ed9eec4d98/product-architecture.md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business model combines a governed computation exchange, usage based infrastructure and a recurring governance subscription. Provider access fees can be part of the buyer invoice, but the business case treats provider payouts as pass through marketplace volume unless contracts or accounting policy require gross presentation.</a:t>
            </a:r>
          </a:p>
          <a:p xmlns:a="http://schemas.openxmlformats.org/drawingml/2006/main">
            <a:r>
              <a:t/>
            </a:r>
          </a:p>
          <a:p xmlns:a="http://schemas.openxmlformats.org/drawingml/2006/main">
            <a:r>
              <a:t>Sources</a:t>
            </a:r>
          </a:p>
          <a:p xmlns:a="http://schemas.openxmlformats.org/drawingml/2006/main">
            <a:r>
              <a:t>• https://github.com/p-tequila/nftpz/blob/bf7f0240e6cda30aa7b4d9bdde3d00ed9eec4d98/business-case.md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supports a land and expand path but does not provide dollar pricing. A paid design partnership carries fixed access, compute and integration budgets. Expansion comes from an annual platform contract, more providers, more approved workloads, dedicated capacity, customer VPC or sovereign licensing and support.</a:t>
            </a:r>
          </a:p>
          <a:p xmlns:a="http://schemas.openxmlformats.org/drawingml/2006/main">
            <a:r>
              <a:t/>
            </a:r>
          </a:p>
          <a:p xmlns:a="http://schemas.openxmlformats.org/drawingml/2006/main">
            <a:r>
              <a:t>Sources</a:t>
            </a:r>
          </a:p>
          <a:p xmlns:a="http://schemas.openxmlformats.org/drawingml/2006/main">
            <a:r>
              <a:t>• https://github.com/p-tequila/nftpz/blob/bf7f0240e6cda30aa7b4d9bdde3d00ed9eec4d98/business-case.md</a:t>
            </a:r>
          </a:p>
          <a:p xmlns:a="http://schemas.openxmlformats.org/drawingml/2006/main">
            <a:r>
              <a:t>• https://github.com/p-tequila/nftpz/blob/bf7f0240e6cda30aa7b4d9bdde3d00ed9eec4d98/product-architecture.md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demo proves encrypted logistic regression training and inference. Linear regression uses plaintext trained coefficients with encrypted inference. Capital primarily funds Exchange and provider operations, privacy backend and runtime work, connectors, key management, security and enterprise controls. The next commercial proof is a paid collaboration across multiple data owners with threshold release and provider payment, followed by a recurring platform and compute contract. The business case identifies the transaction network above the cryptography as the durable asset.</a:t>
            </a:r>
          </a:p>
          <a:p xmlns:a="http://schemas.openxmlformats.org/drawingml/2006/main">
            <a:r>
              <a:t/>
            </a:r>
          </a:p>
          <a:p xmlns:a="http://schemas.openxmlformats.org/drawingml/2006/main">
            <a:r>
              <a:t>Sources</a:t>
            </a:r>
          </a:p>
          <a:p xmlns:a="http://schemas.openxmlformats.org/drawingml/2006/main">
            <a:r>
              <a:t>• https://github.com/p-tequila/nftpz/blob/bf7f0240e6cda30aa7b4d9bdde3d00ed9eec4d98/business-case.md</a:t>
            </a:r>
          </a:p>
          <a:p xmlns:a="http://schemas.openxmlformats.org/drawingml/2006/main">
            <a:r>
              <a:t>• https://github.com/p-tequila/nftpz/blob/bf7f0240e6cda30aa7b4d9bdde3d00ed9eec4d98/product-architecture.md</a:t>
            </a:r>
          </a:p>
          <a:p xmlns:a="http://schemas.openxmlformats.org/drawingml/2006/main">
            <a:r>
              <a:t>• https://github.com/p-tequila/nftpz/blob/bf7f0240e6cda30aa7b4d9bdde3d00ed9eec4d98/README.md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6922a510265410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b1aad1d90a2402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f2cb0e9b83411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2ae2b6d506848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169ab663c94c5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6938cca0a1149a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DC6BEE-DFEA-4315-9991-3505193B913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BCF9A49-0F59-4B31-AD4B-0F432A36B0F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78B6176-CCA4-442F-98E6-7BE78F17A35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54C5BA-EA35-4780-8961-E6C7C361BA5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FFC91AC-B676-4454-B163-DE1FFD6BC81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0B72218-B0E5-4CA3-8223-EE12CE46CD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66EFFE-C535-4046-8292-E2F28FA7A15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CB64FF-46FF-4E70-8434-BF2D5CA2B92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3999D3-8BE7-4B58-B896-D7AB31E5A5E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DC10800-BB06-4737-B843-6B3F764F647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a0b94ce24b41f8" /><Relationship Type="http://schemas.openxmlformats.org/officeDocument/2006/relationships/slideLayout" Target="/ppt/slideLayouts/slideLayout1.xml" Id="R70facdc0570f4a34" /><Relationship Type="http://schemas.openxmlformats.org/officeDocument/2006/relationships/slideLayout" Target="/ppt/slideLayouts/slideLayout2.xml" Id="R21760e6391e84351" /><Relationship Type="http://schemas.openxmlformats.org/officeDocument/2006/relationships/slideLayout" Target="/ppt/slideLayouts/slideLayout3.xml" Id="Rc52d6c8908ae45d4" /><Relationship Type="http://schemas.openxmlformats.org/officeDocument/2006/relationships/slideLayout" Target="/ppt/slideLayouts/slideLayout4.xml" Id="R2063be9b4a9f43f1" /><Relationship Type="http://schemas.openxmlformats.org/officeDocument/2006/relationships/slideLayout" Target="/ppt/slideLayouts/slideLayout5.xml" Id="Rf63b1b27f01545f8" /><Relationship Type="http://schemas.openxmlformats.org/officeDocument/2006/relationships/slideLayout" Target="/ppt/slideLayouts/slideLayout6.xml" Id="R89f92e26c9554cf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facdc0570f4a34"/>
    <p:sldLayoutId xmlns:r="http://schemas.openxmlformats.org/officeDocument/2006/relationships" id="2147483650" r:id="R21760e6391e84351"/>
    <p:sldLayoutId xmlns:r="http://schemas.openxmlformats.org/officeDocument/2006/relationships" id="2147483651" r:id="Rc52d6c8908ae45d4"/>
    <p:sldLayoutId xmlns:r="http://schemas.openxmlformats.org/officeDocument/2006/relationships" id="2147483652" r:id="R2063be9b4a9f43f1"/>
    <p:sldLayoutId xmlns:r="http://schemas.openxmlformats.org/officeDocument/2006/relationships" id="2147483653" r:id="Rf63b1b27f01545f8"/>
    <p:sldLayoutId xmlns:r="http://schemas.openxmlformats.org/officeDocument/2006/relationships" id="2147483654" r:id="R89f92e26c9554cf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5eb62f2c2884a84" /><Relationship Type="http://schemas.openxmlformats.org/officeDocument/2006/relationships/notesSlide" Target="/ppt/notesSlides/notesSlide1.xml" Id="R53539c0f610344f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b8e27ac8a8f4c50" /><Relationship Type="http://schemas.openxmlformats.org/officeDocument/2006/relationships/notesSlide" Target="/ppt/notesSlides/notesSlide2.xml" Id="R9f10e76c1dc44e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0ff0d4940af4033" /><Relationship Type="http://schemas.openxmlformats.org/officeDocument/2006/relationships/notesSlide" Target="/ppt/notesSlides/notesSlide3.xml" Id="Rddc8012ace2a48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9630a30d3c574594" /><Relationship Type="http://schemas.openxmlformats.org/officeDocument/2006/relationships/notesSlide" Target="/ppt/notesSlides/notesSlide4.xml" Id="R1112586f9bd64e7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6db7bcf5c8e48fb" /><Relationship Type="http://schemas.openxmlformats.org/officeDocument/2006/relationships/notesSlide" Target="/ppt/notesSlides/notesSlide5.xml" Id="R7f48de3b640c4f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c05f789d7e14ce2" /><Relationship Type="http://schemas.openxmlformats.org/officeDocument/2006/relationships/notesSlide" Target="/ppt/notesSlides/notesSlide6.xml" Id="R69d35623c9834c2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71c6e86f0244e0f" /><Relationship Type="http://schemas.openxmlformats.org/officeDocument/2006/relationships/notesSlide" Target="/ppt/notesSlides/notesSlide7.xml" Id="R286d2d32aca04b7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e902a14c6a8475d" /><Relationship Type="http://schemas.openxmlformats.org/officeDocument/2006/relationships/notesSlide" Target="/ppt/notesSlides/notesSlide8.xml" Id="R57e5127df7f144f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56188cc3c8c44e1" /><Relationship Type="http://schemas.openxmlformats.org/officeDocument/2006/relationships/notesSlide" Target="/ppt/notesSlides/notesSlide9.xml" Id="Rd1c06e2dfaad4015" /></Relationships>
</file>

<file path=ppt/slides/slide1.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D570F1-5CBD-47AA-B75F-4D0A52F32A57}"/>
              </a:ext>
            </a:extLst>
          </p:cNvPr>
          <p:cNvSpPr>
            <a:spLocks xmlns:a="http://schemas.openxmlformats.org/drawingml/2006/main" noGrp="1"/>
          </p:cNvSpPr>
          <p:nvPr/>
        </p:nvSpPr>
        <p:spPr>
          <a:xfrm xmlns:a="http://schemas.openxmlformats.org/drawingml/2006/main">
            <a:off x="10477500" y="409575"/>
            <a:ext cx="114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1650" b="1">
                <a:solidFill>
                  <a:srgbClr val="5B1A1D"/>
                </a:solidFill>
                <a:latin typeface="Times New Roman"/>
                <a:ea typeface="Times New Roman"/>
                <a:cs typeface="Times New Roman"/>
              </a:defRPr>
            </a:defPPr>
          </a:lstStyle>
          <a:p xmlns:a="http://schemas.openxmlformats.org/drawingml/2006/main">
            <a:pPr algn="r">
              <a:lnSpc>
                <a:spcPct val="100000"/>
              </a:lnSpc>
              <a:buNone/>
              <a:defRPr sz="1650" b="1">
                <a:solidFill>
                  <a:srgbClr val="5B1A1D"/>
                </a:solidFill>
                <a:latin typeface="Times New Roman"/>
                <a:ea typeface="Times New Roman"/>
                <a:cs typeface="Times New Roman"/>
              </a:defRPr>
            </a:pPr>
            <a:r>
              <a:rPr sz="1650" b="1">
                <a:solidFill>
                  <a:srgbClr val="5B1A1D"/>
                </a:solidFill>
                <a:latin typeface="Times New Roman"/>
                <a:ea typeface="Times New Roman"/>
                <a:cs typeface="Times New Roman"/>
              </a:rPr>
              <a:t>RUN</a:t>
            </a:r>
          </a:p>
        </p:txBody>
      </p:sp>
      <p:sp>
        <p:nvSpPr>
          <p:cNvPr id="2" name="">
            <a:extLst xmlns:a="http://schemas.openxmlformats.org/drawingml/2006/main">
              <a:ext uri="{FF2B5EF4-FFF2-40B4-BE49-F238E27FC236}">
                <a16:creationId xmlns:a16="http://schemas.microsoft.com/office/drawing/2014/main" id="{D6507020-0B88-496A-B979-E6A306623BBC}"/>
              </a:ext>
            </a:extLst>
          </p:cNvPr>
          <p:cNvSpPr>
            <a:spLocks xmlns:a="http://schemas.openxmlformats.org/drawingml/2006/main" noGrp="1"/>
          </p:cNvSpPr>
          <p:nvPr/>
        </p:nvSpPr>
        <p:spPr>
          <a:xfrm xmlns:a="http://schemas.openxmlformats.org/drawingml/2006/main">
            <a:off x="1257300" y="1905000"/>
            <a:ext cx="96774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4425" b="0">
                <a:solidFill>
                  <a:srgbClr val="191817"/>
                </a:solidFill>
                <a:latin typeface="Times New Roman"/>
                <a:ea typeface="Times New Roman"/>
                <a:cs typeface="Times New Roman"/>
              </a:defRPr>
            </a:defPPr>
          </a:lstStyle>
          <a:p xmlns:a="http://schemas.openxmlformats.org/drawingml/2006/main">
            <a:pPr algn="ctr">
              <a:lnSpc>
                <a:spcPct val="100000"/>
              </a:lnSpc>
              <a:buNone/>
              <a:defRPr sz="4425" b="0">
                <a:solidFill>
                  <a:srgbClr val="191817"/>
                </a:solidFill>
                <a:latin typeface="Times New Roman"/>
                <a:ea typeface="Times New Roman"/>
                <a:cs typeface="Times New Roman"/>
              </a:defRPr>
            </a:pPr>
            <a:r>
              <a:rPr sz="4425" b="0">
                <a:solidFill>
                  <a:srgbClr val="191817"/>
                </a:solidFill>
                <a:latin typeface="Times New Roman"/>
                <a:ea typeface="Times New Roman"/>
                <a:cs typeface="Times New Roman"/>
              </a:rPr>
              <a:t>“Didn’t we already train on Reddit?”</a:t>
            </a:r>
          </a:p>
        </p:txBody>
      </p:sp>
      <p:sp>
        <p:nvSpPr>
          <p:cNvPr id="3" name="">
            <a:extLst xmlns:a="http://schemas.openxmlformats.org/drawingml/2006/main">
              <a:ext uri="{FF2B5EF4-FFF2-40B4-BE49-F238E27FC236}">
                <a16:creationId xmlns:a16="http://schemas.microsoft.com/office/drawing/2014/main" id="{BFFA4349-156A-4C83-8BAE-18AD64E712A7}"/>
              </a:ext>
            </a:extLst>
          </p:cNvPr>
          <p:cNvSpPr>
            <a:spLocks xmlns:a="http://schemas.openxmlformats.org/drawingml/2006/main" noGrp="1"/>
          </p:cNvSpPr>
          <p:nvPr/>
        </p:nvSpPr>
        <p:spPr>
          <a:xfrm xmlns:a="http://schemas.openxmlformats.org/drawingml/2006/main">
            <a:off x="2190750" y="3219450"/>
            <a:ext cx="7810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325" b="0">
                <a:solidFill>
                  <a:srgbClr val="5B1A1D"/>
                </a:solidFill>
                <a:latin typeface="Times New Roman"/>
                <a:ea typeface="Times New Roman"/>
                <a:cs typeface="Times New Roman"/>
              </a:defRPr>
            </a:defPPr>
          </a:lstStyle>
          <a:p xmlns:a="http://schemas.openxmlformats.org/drawingml/2006/main">
            <a:pPr algn="ctr">
              <a:lnSpc>
                <a:spcPct val="112000"/>
              </a:lnSpc>
              <a:buNone/>
              <a:defRPr sz="2325" b="0">
                <a:solidFill>
                  <a:srgbClr val="5B1A1D"/>
                </a:solidFill>
                <a:latin typeface="Times New Roman"/>
                <a:ea typeface="Times New Roman"/>
                <a:cs typeface="Times New Roman"/>
              </a:defRPr>
            </a:pPr>
            <a:r>
              <a:rPr sz="2325" b="0">
                <a:solidFill>
                  <a:srgbClr val="5B1A1D"/>
                </a:solidFill>
                <a:latin typeface="Times New Roman"/>
                <a:ea typeface="Times New Roman"/>
                <a:cs typeface="Times New Roman"/>
              </a:rPr>
              <a:t>Public data built the first wave.</a:t>
            </a:r>
          </a:p>
          <a:p xmlns:a="http://schemas.openxmlformats.org/drawingml/2006/main">
            <a:pPr algn="ctr">
              <a:lnSpc>
                <a:spcPct val="112000"/>
              </a:lnSpc>
              <a:buNone/>
              <a:defRPr sz="2325" b="0">
                <a:solidFill>
                  <a:srgbClr val="5B1A1D"/>
                </a:solidFill>
                <a:latin typeface="Times New Roman"/>
                <a:ea typeface="Times New Roman"/>
                <a:cs typeface="Times New Roman"/>
              </a:defRPr>
            </a:pPr>
            <a:r>
              <a:rPr sz="2325" b="0">
                <a:solidFill>
                  <a:srgbClr val="5B1A1D"/>
                </a:solidFill>
                <a:latin typeface="Times New Roman"/>
                <a:ea typeface="Times New Roman"/>
                <a:cs typeface="Times New Roman"/>
              </a:rPr>
              <a:t>The next advantage sits behind permission.</a:t>
            </a:r>
          </a:p>
        </p:txBody>
      </p:sp>
      <p:sp>
        <p:nvSpPr>
          <p:cNvPr id="4" name="">
            <a:extLst xmlns:a="http://schemas.openxmlformats.org/drawingml/2006/main">
              <a:ext uri="{FF2B5EF4-FFF2-40B4-BE49-F238E27FC236}">
                <a16:creationId xmlns:a16="http://schemas.microsoft.com/office/drawing/2014/main" id="{33F46328-DC3E-45D7-A200-21A8DF6D2359}"/>
              </a:ext>
            </a:extLst>
          </p:cNvPr>
          <p:cNvSpPr>
            <a:spLocks xmlns:a="http://schemas.openxmlformats.org/drawingml/2006/main" noGrp="1"/>
          </p:cNvSpPr>
          <p:nvPr/>
        </p:nvSpPr>
        <p:spPr>
          <a:xfrm xmlns:a="http://schemas.openxmlformats.org/drawingml/2006/main">
            <a:off x="4667250" y="5657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275" b="0">
                <a:solidFill>
                  <a:srgbClr val="77736D"/>
                </a:solidFill>
                <a:latin typeface="Times New Roman"/>
                <a:ea typeface="Times New Roman"/>
                <a:cs typeface="Times New Roman"/>
              </a:defRPr>
            </a:defPPr>
          </a:lstStyle>
          <a:p xmlns:a="http://schemas.openxmlformats.org/drawingml/2006/main">
            <a:pPr algn="ctr">
              <a:lnSpc>
                <a:spcPct val="100000"/>
              </a:lnSpc>
              <a:buNone/>
              <a:defRPr sz="1275" b="0">
                <a:solidFill>
                  <a:srgbClr val="77736D"/>
                </a:solidFill>
                <a:latin typeface="Times New Roman"/>
                <a:ea typeface="Times New Roman"/>
                <a:cs typeface="Times New Roman"/>
              </a:defRPr>
            </a:pPr>
            <a:r>
              <a:rPr sz="1275" b="0">
                <a:solidFill>
                  <a:srgbClr val="77736D"/>
                </a:solidFill>
                <a:latin typeface="Times New Roman"/>
                <a:ea typeface="Times New Roman"/>
                <a:cs typeface="Times New Roman"/>
              </a:rPr>
              <a:t>Investor overview</a:t>
            </a:r>
          </a:p>
        </p:txBody>
      </p:sp>
    </p:spTree>
    <p:extLst>
      <p:ext uri="{BB962C8B-B14F-4D97-AF65-F5344CB8AC3E}">
        <p14:creationId xmlns:p14="http://schemas.microsoft.com/office/powerpoint/2010/main" val="100719960"/>
      </p:ext>
    </p:extLst>
  </p:cSld>
</p:sld>
</file>

<file path=ppt/slides/slide2.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1" name="slide-2-title">
            <a:extLst xmlns:a="http://schemas.openxmlformats.org/drawingml/2006/main">
              <a:ext uri="{FF2B5EF4-FFF2-40B4-BE49-F238E27FC236}">
                <a16:creationId xmlns:a16="http://schemas.microsoft.com/office/drawing/2014/main" id="{12A52C6E-F878-404F-A773-9E6438B6AB5C}"/>
              </a:ext>
            </a:extLst>
          </p:cNvPr>
          <p:cNvSpPr>
            <a:spLocks xmlns:a="http://schemas.openxmlformats.org/drawingml/2006/main" noGrp="1"/>
          </p:cNvSpPr>
          <p:nvPr/>
        </p:nvSpPr>
        <p:spPr>
          <a:xfrm xmlns:a="http://schemas.openxmlformats.org/drawingml/2006/main">
            <a:off x="514350" y="3810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0">
                <a:solidFill>
                  <a:srgbClr val="191817"/>
                </a:solidFill>
                <a:latin typeface="Times New Roman"/>
                <a:ea typeface="Times New Roman"/>
                <a:cs typeface="Times New Roman"/>
              </a:defRPr>
            </a:defPPr>
          </a:lstStyle>
          <a:p xmlns:a="http://schemas.openxmlformats.org/drawingml/2006/main">
            <a:pPr algn="l">
              <a:lnSpc>
                <a:spcPct val="94000"/>
              </a:lnSpc>
              <a:buNone/>
              <a:defRPr sz="3225" b="0">
                <a:solidFill>
                  <a:srgbClr val="191817"/>
                </a:solidFill>
                <a:latin typeface="Times New Roman"/>
                <a:ea typeface="Times New Roman"/>
                <a:cs typeface="Times New Roman"/>
              </a:defRPr>
            </a:pPr>
            <a:r>
              <a:rPr sz="3225" b="0">
                <a:solidFill>
                  <a:srgbClr val="191817"/>
                </a:solidFill>
                <a:latin typeface="Times New Roman"/>
                <a:ea typeface="Times New Roman"/>
                <a:cs typeface="Times New Roman"/>
              </a:rPr>
              <a:t>The most valuable data sits where it cannot be copied</a:t>
            </a:r>
          </a:p>
        </p:txBody>
      </p:sp>
      <p:sp>
        <p:nvSpPr>
          <p:cNvPr id="2" name="">
            <a:extLst xmlns:a="http://schemas.openxmlformats.org/drawingml/2006/main">
              <a:ext uri="{FF2B5EF4-FFF2-40B4-BE49-F238E27FC236}">
                <a16:creationId xmlns:a16="http://schemas.microsoft.com/office/drawing/2014/main" id="{E6404AD2-E896-4112-A60C-17BD107CB000}"/>
              </a:ext>
            </a:extLst>
          </p:cNvPr>
          <p:cNvSpPr>
            <a:spLocks xmlns:a="http://schemas.openxmlformats.org/drawingml/2006/main" noGrp="1"/>
          </p:cNvSpPr>
          <p:nvPr/>
        </p:nvSpPr>
        <p:spPr>
          <a:xfrm xmlns:a="http://schemas.openxmlformats.org/drawingml/2006/main">
            <a:off x="514350" y="10668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815"/>
          </a:bodyPr>
          <a:lstStyle xmlns:a="http://schemas.openxmlformats.org/drawingml/2006/main">
            <a:defPPr algn="l">
              <a:defRPr sz="1725" b="0">
                <a:solidFill>
                  <a:srgbClr val="77736D"/>
                </a:solidFill>
                <a:latin typeface="Times New Roman"/>
                <a:ea typeface="Times New Roman"/>
                <a:cs typeface="Times New Roman"/>
              </a:defRPr>
            </a:defPPr>
          </a:lstStyle>
          <a:p xmlns:a="http://schemas.openxmlformats.org/drawingml/2006/main">
            <a:pPr algn="l">
              <a:lnSpc>
                <a:spcPct val="112000"/>
              </a:lnSpc>
              <a:buNone/>
              <a:defRPr sz="1725" b="0">
                <a:solidFill>
                  <a:srgbClr val="77736D"/>
                </a:solidFill>
                <a:latin typeface="Times New Roman"/>
                <a:ea typeface="Times New Roman"/>
                <a:cs typeface="Times New Roman"/>
              </a:defRPr>
            </a:pPr>
            <a:r>
              <a:rPr sz="1725" b="0">
                <a:solidFill>
                  <a:srgbClr val="77736D"/>
                </a:solidFill>
                <a:latin typeface="Times New Roman"/>
                <a:ea typeface="Times New Roman"/>
                <a:cs typeface="Times New Roman"/>
              </a:rPr>
              <a:t>Organizations already hold the signal. Contracts, regulation, national security, competitive sensitivity and breach risk keep it fragmented</a:t>
            </a:r>
          </a:p>
        </p:txBody>
      </p:sp>
      <p:sp>
        <p:nvSpPr>
          <p:cNvPr id="3" name="">
            <a:extLst xmlns:a="http://schemas.openxmlformats.org/drawingml/2006/main">
              <a:ext uri="{FF2B5EF4-FFF2-40B4-BE49-F238E27FC236}">
                <a16:creationId xmlns:a16="http://schemas.microsoft.com/office/drawing/2014/main" id="{4CE6CE4E-6606-435B-8BC6-8680762D92BA}"/>
              </a:ext>
            </a:extLst>
          </p:cNvPr>
          <p:cNvSpPr>
            <a:spLocks xmlns:a="http://schemas.openxmlformats.org/drawingml/2006/main" noGrp="1"/>
          </p:cNvSpPr>
          <p:nvPr/>
        </p:nvSpPr>
        <p:spPr>
          <a:xfrm xmlns:a="http://schemas.openxmlformats.org/drawingml/2006/main">
            <a:off x="514350" y="1752600"/>
            <a:ext cx="11144250" cy="400050"/>
          </a:xfrm>
          <a:prstGeom xmlns:a="http://schemas.openxmlformats.org/drawingml/2006/main" prst="roundRect">
            <a:avLst>
              <a:gd name="adj" fmla="val 23810"/>
            </a:avLst>
          </a:prstGeom>
          <a:solidFill xmlns:a="http://schemas.openxmlformats.org/drawingml/2006/main">
            <a:srgbClr val="F3EAEB"/>
          </a:solidFill>
          <a:ln xmlns:a="http://schemas.openxmlformats.org/drawingml/2006/main" w="9525">
            <a:solidFill>
              <a:srgbClr val="5B1A1D"/>
            </a:solidFill>
            <a:prstDash val="solid"/>
          </a:ln>
        </p:spPr>
        <p:txBody>
          <a:bodyPr xmlns:a="http://schemas.openxmlformats.org/drawingml/2006/main" wrap="square" lIns="114300" tIns="114300" rIns="114300" bIns="114300" anchor="ctr">
            <a:normAutofit fontScale="48183"/>
          </a:bodyPr>
          <a:lstStyle xmlns:a="http://schemas.openxmlformats.org/drawingml/2006/main">
            <a:defPPr algn="ctr">
              <a:defRPr sz="1575" b="0">
                <a:solidFill>
                  <a:srgbClr val="5B1A1D"/>
                </a:solidFill>
                <a:latin typeface="Times New Roman"/>
                <a:ea typeface="Times New Roman"/>
                <a:cs typeface="Times New Roman"/>
              </a:defRPr>
            </a:defPPr>
          </a:lstStyle>
          <a:p xmlns:a="http://schemas.openxmlformats.org/drawingml/2006/main">
            <a:pPr algn="ctr">
              <a:lnSpc>
                <a:spcPct val="100000"/>
              </a:lnSpc>
              <a:buNone/>
              <a:defRPr sz="1575" b="0">
                <a:solidFill>
                  <a:srgbClr val="5B1A1D"/>
                </a:solidFill>
                <a:latin typeface="Times New Roman"/>
                <a:ea typeface="Times New Roman"/>
                <a:cs typeface="Times New Roman"/>
              </a:defRPr>
            </a:pPr>
            <a:r>
              <a:rPr sz="1575" b="0">
                <a:solidFill>
                  <a:srgbClr val="5B1A1D"/>
                </a:solidFill>
                <a:latin typeface="Times New Roman"/>
                <a:ea typeface="Times New Roman"/>
                <a:cs typeface="Times New Roman"/>
              </a:rPr>
              <a:t>Initial wedge: hospital to biopharma collaboration</a:t>
            </a:r>
          </a:p>
        </p:txBody>
      </p:sp>
      <p:sp>
        <p:nvSpPr>
          <p:cNvPr id="4" name="">
            <a:extLst xmlns:a="http://schemas.openxmlformats.org/drawingml/2006/main">
              <a:ext uri="{FF2B5EF4-FFF2-40B4-BE49-F238E27FC236}">
                <a16:creationId xmlns:a16="http://schemas.microsoft.com/office/drawing/2014/main" id="{CD368698-B21C-4472-BCFC-1508D51588C6}"/>
              </a:ext>
            </a:extLst>
          </p:cNvPr>
          <p:cNvSpPr>
            <a:spLocks xmlns:a="http://schemas.openxmlformats.org/drawingml/2006/main" noGrp="1"/>
          </p:cNvSpPr>
          <p:nvPr/>
        </p:nvSpPr>
        <p:spPr>
          <a:xfrm xmlns:a="http://schemas.openxmlformats.org/drawingml/2006/main">
            <a:off x="514350" y="23812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5B1A1D"/>
                </a:solidFill>
                <a:latin typeface="Times New Roman"/>
                <a:ea typeface="Times New Roman"/>
                <a:cs typeface="Times New Roman"/>
              </a:defRPr>
            </a:defPPr>
          </a:lstStyle>
          <a:p xmlns:a="http://schemas.openxmlformats.org/drawingml/2006/main">
            <a:pPr algn="l">
              <a:lnSpc>
                <a:spcPct val="100000"/>
              </a:lnSpc>
              <a:buNone/>
              <a:defRPr sz="2025" b="1">
                <a:solidFill>
                  <a:srgbClr val="5B1A1D"/>
                </a:solidFill>
                <a:latin typeface="Times New Roman"/>
                <a:ea typeface="Times New Roman"/>
                <a:cs typeface="Times New Roman"/>
              </a:defRPr>
            </a:pPr>
            <a:r>
              <a:rPr sz="2025" b="1">
                <a:solidFill>
                  <a:srgbClr val="5B1A1D"/>
                </a:solidFill>
                <a:latin typeface="Times New Roman"/>
                <a:ea typeface="Times New Roman"/>
                <a:cs typeface="Times New Roman"/>
              </a:rPr>
              <a:t>Hospitals</a:t>
            </a:r>
          </a:p>
        </p:txBody>
      </p:sp>
      <p:sp>
        <p:nvSpPr>
          <p:cNvPr id="5" name="">
            <a:extLst xmlns:a="http://schemas.openxmlformats.org/drawingml/2006/main">
              <a:ext uri="{FF2B5EF4-FFF2-40B4-BE49-F238E27FC236}">
                <a16:creationId xmlns:a16="http://schemas.microsoft.com/office/drawing/2014/main" id="{D8CAF60E-81F6-4F81-92DB-F149FC2FAB0B}"/>
              </a:ext>
            </a:extLst>
          </p:cNvPr>
          <p:cNvSpPr>
            <a:spLocks xmlns:a="http://schemas.openxmlformats.org/drawingml/2006/main" noGrp="1"/>
          </p:cNvSpPr>
          <p:nvPr/>
        </p:nvSpPr>
        <p:spPr>
          <a:xfrm xmlns:a="http://schemas.openxmlformats.org/drawingml/2006/main">
            <a:off x="2847975" y="24003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191817"/>
                </a:solidFill>
                <a:latin typeface="Times New Roman"/>
                <a:ea typeface="Times New Roman"/>
                <a:cs typeface="Times New Roman"/>
              </a:defRPr>
            </a:defPPr>
          </a:lstStyle>
          <a:p xmlns:a="http://schemas.openxmlformats.org/drawingml/2006/main">
            <a:pPr algn="l">
              <a:lnSpc>
                <a:spcPct val="100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Longitudinal records and outcomes</a:t>
            </a:r>
          </a:p>
        </p:txBody>
      </p:sp>
      <p:sp>
        <p:nvSpPr>
          <p:cNvPr id="6" name="">
            <a:extLst xmlns:a="http://schemas.openxmlformats.org/drawingml/2006/main">
              <a:ext uri="{FF2B5EF4-FFF2-40B4-BE49-F238E27FC236}">
                <a16:creationId xmlns:a16="http://schemas.microsoft.com/office/drawing/2014/main" id="{3FD0713F-B60D-4A0C-9DA5-338EABA00CDA}"/>
              </a:ext>
            </a:extLst>
          </p:cNvPr>
          <p:cNvSpPr>
            <a:spLocks xmlns:a="http://schemas.openxmlformats.org/drawingml/2006/main" noGrp="1"/>
          </p:cNvSpPr>
          <p:nvPr/>
        </p:nvSpPr>
        <p:spPr>
          <a:xfrm xmlns:a="http://schemas.openxmlformats.org/drawingml/2006/main">
            <a:off x="514350" y="3067050"/>
            <a:ext cx="5191125" cy="0"/>
          </a:xfrm>
          <a:prstGeom xmlns:a="http://schemas.openxmlformats.org/drawingml/2006/main" prst="line">
            <a:avLst/>
          </a:prstGeom>
          <a:noFill xmlns:a="http://schemas.openxmlformats.org/drawingml/2006/main"/>
          <a:ln xmlns:a="http://schemas.openxmlformats.org/drawingml/2006/main" w="9525">
            <a:solidFill>
              <a:srgbClr val="D9D5CF"/>
            </a:solidFill>
            <a:prstDash val="solid"/>
          </a:ln>
        </p:spPr>
      </p:sp>
      <p:sp>
        <p:nvSpPr>
          <p:cNvPr id="7" name="">
            <a:extLst xmlns:a="http://schemas.openxmlformats.org/drawingml/2006/main">
              <a:ext uri="{FF2B5EF4-FFF2-40B4-BE49-F238E27FC236}">
                <a16:creationId xmlns:a16="http://schemas.microsoft.com/office/drawing/2014/main" id="{F45EF25B-4EA4-46B0-B808-48DD2E98CB46}"/>
              </a:ext>
            </a:extLst>
          </p:cNvPr>
          <p:cNvSpPr>
            <a:spLocks xmlns:a="http://schemas.openxmlformats.org/drawingml/2006/main" noGrp="1"/>
          </p:cNvSpPr>
          <p:nvPr/>
        </p:nvSpPr>
        <p:spPr>
          <a:xfrm xmlns:a="http://schemas.openxmlformats.org/drawingml/2006/main">
            <a:off x="514350" y="34861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2F74FF"/>
                </a:solidFill>
                <a:latin typeface="Times New Roman"/>
                <a:ea typeface="Times New Roman"/>
                <a:cs typeface="Times New Roman"/>
              </a:defRPr>
            </a:defPPr>
          </a:lstStyle>
          <a:p xmlns:a="http://schemas.openxmlformats.org/drawingml/2006/main">
            <a:pPr algn="l">
              <a:lnSpc>
                <a:spcPct val="100000"/>
              </a:lnSpc>
              <a:buNone/>
              <a:defRPr sz="2025" b="1">
                <a:solidFill>
                  <a:srgbClr val="2F74FF"/>
                </a:solidFill>
                <a:latin typeface="Times New Roman"/>
                <a:ea typeface="Times New Roman"/>
                <a:cs typeface="Times New Roman"/>
              </a:defRPr>
            </a:pPr>
            <a:r>
              <a:rPr sz="2025" b="1">
                <a:solidFill>
                  <a:srgbClr val="2F74FF"/>
                </a:solidFill>
                <a:latin typeface="Times New Roman"/>
                <a:ea typeface="Times New Roman"/>
                <a:cs typeface="Times New Roman"/>
              </a:rPr>
              <a:t>Biopharma</a:t>
            </a:r>
          </a:p>
        </p:txBody>
      </p:sp>
      <p:sp>
        <p:nvSpPr>
          <p:cNvPr id="8" name="">
            <a:extLst xmlns:a="http://schemas.openxmlformats.org/drawingml/2006/main">
              <a:ext uri="{FF2B5EF4-FFF2-40B4-BE49-F238E27FC236}">
                <a16:creationId xmlns:a16="http://schemas.microsoft.com/office/drawing/2014/main" id="{F917E57F-7787-4769-AD06-FC1F784FF340}"/>
              </a:ext>
            </a:extLst>
          </p:cNvPr>
          <p:cNvSpPr>
            <a:spLocks xmlns:a="http://schemas.openxmlformats.org/drawingml/2006/main" noGrp="1"/>
          </p:cNvSpPr>
          <p:nvPr/>
        </p:nvSpPr>
        <p:spPr>
          <a:xfrm xmlns:a="http://schemas.openxmlformats.org/drawingml/2006/main">
            <a:off x="2847975" y="35052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191817"/>
                </a:solidFill>
                <a:latin typeface="Times New Roman"/>
                <a:ea typeface="Times New Roman"/>
                <a:cs typeface="Times New Roman"/>
              </a:defRPr>
            </a:defPPr>
          </a:lstStyle>
          <a:p xmlns:a="http://schemas.openxmlformats.org/drawingml/2006/main">
            <a:pPr algn="l">
              <a:lnSpc>
                <a:spcPct val="100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Proprietary experiments and omics</a:t>
            </a:r>
          </a:p>
        </p:txBody>
      </p:sp>
      <p:sp>
        <p:nvSpPr>
          <p:cNvPr id="9" name="">
            <a:extLst xmlns:a="http://schemas.openxmlformats.org/drawingml/2006/main">
              <a:ext uri="{FF2B5EF4-FFF2-40B4-BE49-F238E27FC236}">
                <a16:creationId xmlns:a16="http://schemas.microsoft.com/office/drawing/2014/main" id="{99E4EC1D-274D-4A18-9B81-463339534723}"/>
              </a:ext>
            </a:extLst>
          </p:cNvPr>
          <p:cNvSpPr>
            <a:spLocks xmlns:a="http://schemas.openxmlformats.org/drawingml/2006/main" noGrp="1"/>
          </p:cNvSpPr>
          <p:nvPr/>
        </p:nvSpPr>
        <p:spPr>
          <a:xfrm xmlns:a="http://schemas.openxmlformats.org/drawingml/2006/main">
            <a:off x="514350" y="4171950"/>
            <a:ext cx="5191125" cy="0"/>
          </a:xfrm>
          <a:prstGeom xmlns:a="http://schemas.openxmlformats.org/drawingml/2006/main" prst="line">
            <a:avLst/>
          </a:prstGeom>
          <a:noFill xmlns:a="http://schemas.openxmlformats.org/drawingml/2006/main"/>
          <a:ln xmlns:a="http://schemas.openxmlformats.org/drawingml/2006/main" w="9525">
            <a:solidFill>
              <a:srgbClr val="D9D5CF"/>
            </a:solidFill>
            <a:prstDash val="solid"/>
          </a:ln>
        </p:spPr>
      </p:sp>
      <p:sp>
        <p:nvSpPr>
          <p:cNvPr id="10" name="">
            <a:extLst xmlns:a="http://schemas.openxmlformats.org/drawingml/2006/main">
              <a:ext uri="{FF2B5EF4-FFF2-40B4-BE49-F238E27FC236}">
                <a16:creationId xmlns:a16="http://schemas.microsoft.com/office/drawing/2014/main" id="{7E861794-05AE-48BB-AE06-B9EE9B7CE943}"/>
              </a:ext>
            </a:extLst>
          </p:cNvPr>
          <p:cNvSpPr>
            <a:spLocks xmlns:a="http://schemas.openxmlformats.org/drawingml/2006/main" noGrp="1"/>
          </p:cNvSpPr>
          <p:nvPr/>
        </p:nvSpPr>
        <p:spPr>
          <a:xfrm xmlns:a="http://schemas.openxmlformats.org/drawingml/2006/main">
            <a:off x="514350" y="45910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14A866"/>
                </a:solidFill>
                <a:latin typeface="Times New Roman"/>
                <a:ea typeface="Times New Roman"/>
                <a:cs typeface="Times New Roman"/>
              </a:defRPr>
            </a:defPPr>
          </a:lstStyle>
          <a:p xmlns:a="http://schemas.openxmlformats.org/drawingml/2006/main">
            <a:pPr algn="l">
              <a:lnSpc>
                <a:spcPct val="100000"/>
              </a:lnSpc>
              <a:buNone/>
              <a:defRPr sz="2025" b="1">
                <a:solidFill>
                  <a:srgbClr val="14A866"/>
                </a:solidFill>
                <a:latin typeface="Times New Roman"/>
                <a:ea typeface="Times New Roman"/>
                <a:cs typeface="Times New Roman"/>
              </a:defRPr>
            </a:pPr>
            <a:r>
              <a:rPr sz="2025" b="1">
                <a:solidFill>
                  <a:srgbClr val="14A866"/>
                </a:solidFill>
                <a:latin typeface="Times New Roman"/>
                <a:ea typeface="Times New Roman"/>
                <a:cs typeface="Times New Roman"/>
              </a:rPr>
              <a:t>Banks and insurers</a:t>
            </a:r>
          </a:p>
        </p:txBody>
      </p:sp>
      <p:sp>
        <p:nvSpPr>
          <p:cNvPr id="11" name="">
            <a:extLst xmlns:a="http://schemas.openxmlformats.org/drawingml/2006/main">
              <a:ext uri="{FF2B5EF4-FFF2-40B4-BE49-F238E27FC236}">
                <a16:creationId xmlns:a16="http://schemas.microsoft.com/office/drawing/2014/main" id="{B303A66D-1969-491B-816A-2474C0DBD84D}"/>
              </a:ext>
            </a:extLst>
          </p:cNvPr>
          <p:cNvSpPr>
            <a:spLocks xmlns:a="http://schemas.openxmlformats.org/drawingml/2006/main" noGrp="1"/>
          </p:cNvSpPr>
          <p:nvPr/>
        </p:nvSpPr>
        <p:spPr>
          <a:xfrm xmlns:a="http://schemas.openxmlformats.org/drawingml/2006/main">
            <a:off x="2847975" y="4610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191817"/>
                </a:solidFill>
                <a:latin typeface="Times New Roman"/>
                <a:ea typeface="Times New Roman"/>
                <a:cs typeface="Times New Roman"/>
              </a:defRPr>
            </a:defPPr>
          </a:lstStyle>
          <a:p xmlns:a="http://schemas.openxmlformats.org/drawingml/2006/main">
            <a:pPr algn="l">
              <a:lnSpc>
                <a:spcPct val="100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Fraud, claims and risk history</a:t>
            </a:r>
          </a:p>
        </p:txBody>
      </p:sp>
      <p:sp>
        <p:nvSpPr>
          <p:cNvPr id="12" name="">
            <a:extLst xmlns:a="http://schemas.openxmlformats.org/drawingml/2006/main">
              <a:ext uri="{FF2B5EF4-FFF2-40B4-BE49-F238E27FC236}">
                <a16:creationId xmlns:a16="http://schemas.microsoft.com/office/drawing/2014/main" id="{710E22F1-1F44-4998-A64E-D47B466EB035}"/>
              </a:ext>
            </a:extLst>
          </p:cNvPr>
          <p:cNvSpPr>
            <a:spLocks xmlns:a="http://schemas.openxmlformats.org/drawingml/2006/main" noGrp="1"/>
          </p:cNvSpPr>
          <p:nvPr/>
        </p:nvSpPr>
        <p:spPr>
          <a:xfrm xmlns:a="http://schemas.openxmlformats.org/drawingml/2006/main">
            <a:off x="6477000" y="23812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D8892B"/>
                </a:solidFill>
                <a:latin typeface="Times New Roman"/>
                <a:ea typeface="Times New Roman"/>
                <a:cs typeface="Times New Roman"/>
              </a:defRPr>
            </a:defPPr>
          </a:lstStyle>
          <a:p xmlns:a="http://schemas.openxmlformats.org/drawingml/2006/main">
            <a:pPr algn="l">
              <a:lnSpc>
                <a:spcPct val="100000"/>
              </a:lnSpc>
              <a:buNone/>
              <a:defRPr sz="2025" b="1">
                <a:solidFill>
                  <a:srgbClr val="D8892B"/>
                </a:solidFill>
                <a:latin typeface="Times New Roman"/>
                <a:ea typeface="Times New Roman"/>
                <a:cs typeface="Times New Roman"/>
              </a:defRPr>
            </a:pPr>
            <a:r>
              <a:rPr sz="2025" b="1">
                <a:solidFill>
                  <a:srgbClr val="D8892B"/>
                </a:solidFill>
                <a:latin typeface="Times New Roman"/>
                <a:ea typeface="Times New Roman"/>
                <a:cs typeface="Times New Roman"/>
              </a:rPr>
              <a:t>Defense</a:t>
            </a:r>
          </a:p>
        </p:txBody>
      </p:sp>
      <p:sp>
        <p:nvSpPr>
          <p:cNvPr id="13" name="">
            <a:extLst xmlns:a="http://schemas.openxmlformats.org/drawingml/2006/main">
              <a:ext uri="{FF2B5EF4-FFF2-40B4-BE49-F238E27FC236}">
                <a16:creationId xmlns:a16="http://schemas.microsoft.com/office/drawing/2014/main" id="{C1BC46F5-47E5-42F4-B270-94F8574473CC}"/>
              </a:ext>
            </a:extLst>
          </p:cNvPr>
          <p:cNvSpPr>
            <a:spLocks xmlns:a="http://schemas.openxmlformats.org/drawingml/2006/main" noGrp="1"/>
          </p:cNvSpPr>
          <p:nvPr/>
        </p:nvSpPr>
        <p:spPr>
          <a:xfrm xmlns:a="http://schemas.openxmlformats.org/drawingml/2006/main">
            <a:off x="8810625" y="24003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191817"/>
                </a:solidFill>
                <a:latin typeface="Times New Roman"/>
                <a:ea typeface="Times New Roman"/>
                <a:cs typeface="Times New Roman"/>
              </a:defRPr>
            </a:defPPr>
          </a:lstStyle>
          <a:p xmlns:a="http://schemas.openxmlformats.org/drawingml/2006/main">
            <a:pPr algn="l">
              <a:lnSpc>
                <a:spcPct val="100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Mission and logistics telemetry</a:t>
            </a:r>
          </a:p>
        </p:txBody>
      </p:sp>
      <p:sp>
        <p:nvSpPr>
          <p:cNvPr id="14" name="">
            <a:extLst xmlns:a="http://schemas.openxmlformats.org/drawingml/2006/main">
              <a:ext uri="{FF2B5EF4-FFF2-40B4-BE49-F238E27FC236}">
                <a16:creationId xmlns:a16="http://schemas.microsoft.com/office/drawing/2014/main" id="{934AF2EA-CEE6-4624-9C58-352DF836F7B5}"/>
              </a:ext>
            </a:extLst>
          </p:cNvPr>
          <p:cNvSpPr>
            <a:spLocks xmlns:a="http://schemas.openxmlformats.org/drawingml/2006/main" noGrp="1"/>
          </p:cNvSpPr>
          <p:nvPr/>
        </p:nvSpPr>
        <p:spPr>
          <a:xfrm xmlns:a="http://schemas.openxmlformats.org/drawingml/2006/main">
            <a:off x="6477000" y="3067050"/>
            <a:ext cx="5191125" cy="0"/>
          </a:xfrm>
          <a:prstGeom xmlns:a="http://schemas.openxmlformats.org/drawingml/2006/main" prst="line">
            <a:avLst/>
          </a:prstGeom>
          <a:noFill xmlns:a="http://schemas.openxmlformats.org/drawingml/2006/main"/>
          <a:ln xmlns:a="http://schemas.openxmlformats.org/drawingml/2006/main" w="9525">
            <a:solidFill>
              <a:srgbClr val="D9D5CF"/>
            </a:solidFill>
            <a:prstDash val="solid"/>
          </a:ln>
        </p:spPr>
      </p:sp>
      <p:sp>
        <p:nvSpPr>
          <p:cNvPr id="15" name="">
            <a:extLst xmlns:a="http://schemas.openxmlformats.org/drawingml/2006/main">
              <a:ext uri="{FF2B5EF4-FFF2-40B4-BE49-F238E27FC236}">
                <a16:creationId xmlns:a16="http://schemas.microsoft.com/office/drawing/2014/main" id="{C2FBE844-6834-4AA9-9298-F72042343866}"/>
              </a:ext>
            </a:extLst>
          </p:cNvPr>
          <p:cNvSpPr>
            <a:spLocks xmlns:a="http://schemas.openxmlformats.org/drawingml/2006/main" noGrp="1"/>
          </p:cNvSpPr>
          <p:nvPr/>
        </p:nvSpPr>
        <p:spPr>
          <a:xfrm xmlns:a="http://schemas.openxmlformats.org/drawingml/2006/main">
            <a:off x="6477000" y="34861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080"/>
          </a:bodyPr>
          <a:lstStyle xmlns:a="http://schemas.openxmlformats.org/drawingml/2006/main">
            <a:defPPr algn="l">
              <a:defRPr sz="2025" b="1">
                <a:solidFill>
                  <a:srgbClr val="5B1A1D"/>
                </a:solidFill>
                <a:latin typeface="Times New Roman"/>
                <a:ea typeface="Times New Roman"/>
                <a:cs typeface="Times New Roman"/>
              </a:defRPr>
            </a:defPPr>
          </a:lstStyle>
          <a:p xmlns:a="http://schemas.openxmlformats.org/drawingml/2006/main">
            <a:pPr algn="l">
              <a:lnSpc>
                <a:spcPct val="100000"/>
              </a:lnSpc>
              <a:buNone/>
              <a:defRPr sz="2025" b="1">
                <a:solidFill>
                  <a:srgbClr val="5B1A1D"/>
                </a:solidFill>
                <a:latin typeface="Times New Roman"/>
                <a:ea typeface="Times New Roman"/>
                <a:cs typeface="Times New Roman"/>
              </a:defRPr>
            </a:pPr>
            <a:r>
              <a:rPr sz="2025" b="1">
                <a:solidFill>
                  <a:srgbClr val="5B1A1D"/>
                </a:solidFill>
                <a:latin typeface="Times New Roman"/>
                <a:ea typeface="Times New Roman"/>
                <a:cs typeface="Times New Roman"/>
              </a:rPr>
              <a:t>Critical infrastructure</a:t>
            </a:r>
          </a:p>
        </p:txBody>
      </p:sp>
      <p:sp>
        <p:nvSpPr>
          <p:cNvPr id="16" name="">
            <a:extLst xmlns:a="http://schemas.openxmlformats.org/drawingml/2006/main">
              <a:ext uri="{FF2B5EF4-FFF2-40B4-BE49-F238E27FC236}">
                <a16:creationId xmlns:a16="http://schemas.microsoft.com/office/drawing/2014/main" id="{47F0D84E-E896-4755-A94B-151228D4E74F}"/>
              </a:ext>
            </a:extLst>
          </p:cNvPr>
          <p:cNvSpPr>
            <a:spLocks xmlns:a="http://schemas.openxmlformats.org/drawingml/2006/main" noGrp="1"/>
          </p:cNvSpPr>
          <p:nvPr/>
        </p:nvSpPr>
        <p:spPr>
          <a:xfrm xmlns:a="http://schemas.openxmlformats.org/drawingml/2006/main">
            <a:off x="8810625" y="35052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191817"/>
                </a:solidFill>
                <a:latin typeface="Times New Roman"/>
                <a:ea typeface="Times New Roman"/>
                <a:cs typeface="Times New Roman"/>
              </a:defRPr>
            </a:defPPr>
          </a:lstStyle>
          <a:p xmlns:a="http://schemas.openxmlformats.org/drawingml/2006/main">
            <a:pPr algn="l">
              <a:lnSpc>
                <a:spcPct val="100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Production and sensor data</a:t>
            </a:r>
          </a:p>
        </p:txBody>
      </p:sp>
      <p:sp>
        <p:nvSpPr>
          <p:cNvPr id="17" name="">
            <a:extLst xmlns:a="http://schemas.openxmlformats.org/drawingml/2006/main">
              <a:ext uri="{FF2B5EF4-FFF2-40B4-BE49-F238E27FC236}">
                <a16:creationId xmlns:a16="http://schemas.microsoft.com/office/drawing/2014/main" id="{F5529F75-5E7A-4811-9DC2-41E0E54E05F6}"/>
              </a:ext>
            </a:extLst>
          </p:cNvPr>
          <p:cNvSpPr>
            <a:spLocks xmlns:a="http://schemas.openxmlformats.org/drawingml/2006/main" noGrp="1"/>
          </p:cNvSpPr>
          <p:nvPr/>
        </p:nvSpPr>
        <p:spPr>
          <a:xfrm xmlns:a="http://schemas.openxmlformats.org/drawingml/2006/main">
            <a:off x="6477000" y="4171950"/>
            <a:ext cx="5191125" cy="0"/>
          </a:xfrm>
          <a:prstGeom xmlns:a="http://schemas.openxmlformats.org/drawingml/2006/main" prst="line">
            <a:avLst/>
          </a:prstGeom>
          <a:noFill xmlns:a="http://schemas.openxmlformats.org/drawingml/2006/main"/>
          <a:ln xmlns:a="http://schemas.openxmlformats.org/drawingml/2006/main" w="9525">
            <a:solidFill>
              <a:srgbClr val="D9D5CF"/>
            </a:solidFill>
            <a:prstDash val="solid"/>
          </a:ln>
        </p:spPr>
      </p:sp>
      <p:sp>
        <p:nvSpPr>
          <p:cNvPr id="18" name="">
            <a:extLst xmlns:a="http://schemas.openxmlformats.org/drawingml/2006/main">
              <a:ext uri="{FF2B5EF4-FFF2-40B4-BE49-F238E27FC236}">
                <a16:creationId xmlns:a16="http://schemas.microsoft.com/office/drawing/2014/main" id="{12F4C4D6-F271-49C0-8225-9FC001A4FD97}"/>
              </a:ext>
            </a:extLst>
          </p:cNvPr>
          <p:cNvSpPr>
            <a:spLocks xmlns:a="http://schemas.openxmlformats.org/drawingml/2006/main" noGrp="1"/>
          </p:cNvSpPr>
          <p:nvPr/>
        </p:nvSpPr>
        <p:spPr>
          <a:xfrm xmlns:a="http://schemas.openxmlformats.org/drawingml/2006/main">
            <a:off x="6477000" y="4591050"/>
            <a:ext cx="2238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2F74FF"/>
                </a:solidFill>
                <a:latin typeface="Times New Roman"/>
                <a:ea typeface="Times New Roman"/>
                <a:cs typeface="Times New Roman"/>
              </a:defRPr>
            </a:defPPr>
          </a:lstStyle>
          <a:p xmlns:a="http://schemas.openxmlformats.org/drawingml/2006/main">
            <a:pPr algn="l">
              <a:lnSpc>
                <a:spcPct val="100000"/>
              </a:lnSpc>
              <a:buNone/>
              <a:defRPr sz="2025" b="1">
                <a:solidFill>
                  <a:srgbClr val="2F74FF"/>
                </a:solidFill>
                <a:latin typeface="Times New Roman"/>
                <a:ea typeface="Times New Roman"/>
                <a:cs typeface="Times New Roman"/>
              </a:defRPr>
            </a:pPr>
            <a:r>
              <a:rPr sz="2025" b="1">
                <a:solidFill>
                  <a:srgbClr val="2F74FF"/>
                </a:solidFill>
                <a:latin typeface="Times New Roman"/>
                <a:ea typeface="Times New Roman"/>
                <a:cs typeface="Times New Roman"/>
              </a:rPr>
              <a:t>Enterprises</a:t>
            </a:r>
          </a:p>
        </p:txBody>
      </p:sp>
      <p:sp>
        <p:nvSpPr>
          <p:cNvPr id="19" name="">
            <a:extLst xmlns:a="http://schemas.openxmlformats.org/drawingml/2006/main">
              <a:ext uri="{FF2B5EF4-FFF2-40B4-BE49-F238E27FC236}">
                <a16:creationId xmlns:a16="http://schemas.microsoft.com/office/drawing/2014/main" id="{0FE53DB7-3E94-478A-9259-2618C7686076}"/>
              </a:ext>
            </a:extLst>
          </p:cNvPr>
          <p:cNvSpPr>
            <a:spLocks xmlns:a="http://schemas.openxmlformats.org/drawingml/2006/main" noGrp="1"/>
          </p:cNvSpPr>
          <p:nvPr/>
        </p:nvSpPr>
        <p:spPr>
          <a:xfrm xmlns:a="http://schemas.openxmlformats.org/drawingml/2006/main">
            <a:off x="8810625" y="46101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575" b="0">
                <a:solidFill>
                  <a:srgbClr val="191817"/>
                </a:solidFill>
                <a:latin typeface="Times New Roman"/>
                <a:ea typeface="Times New Roman"/>
                <a:cs typeface="Times New Roman"/>
              </a:defRPr>
            </a:defPPr>
          </a:lstStyle>
          <a:p xmlns:a="http://schemas.openxmlformats.org/drawingml/2006/main">
            <a:pPr algn="l">
              <a:lnSpc>
                <a:spcPct val="100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Customer interactions and expert decisions</a:t>
            </a:r>
          </a:p>
        </p:txBody>
      </p:sp>
      <p:sp>
        <p:nvSpPr>
          <p:cNvPr id="20" name="slide-2-folio">
            <a:extLst xmlns:a="http://schemas.openxmlformats.org/drawingml/2006/main">
              <a:ext uri="{FF2B5EF4-FFF2-40B4-BE49-F238E27FC236}">
                <a16:creationId xmlns:a16="http://schemas.microsoft.com/office/drawing/2014/main" id="{144DA8B5-75A9-4111-9583-CC755ADFB007}"/>
              </a:ext>
            </a:extLst>
          </p:cNvPr>
          <p:cNvSpPr>
            <a:spLocks xmlns:a="http://schemas.openxmlformats.org/drawingml/2006/main" noGrp="1"/>
          </p:cNvSpPr>
          <p:nvPr/>
        </p:nvSpPr>
        <p:spPr>
          <a:xfrm xmlns:a="http://schemas.openxmlformats.org/drawingml/2006/main">
            <a:off x="11096625" y="6477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77736D"/>
                </a:solidFill>
                <a:latin typeface="Times New Roman"/>
                <a:ea typeface="Times New Roman"/>
                <a:cs typeface="Times New Roman"/>
              </a:defRPr>
            </a:defPPr>
          </a:lstStyle>
          <a:p xmlns:a="http://schemas.openxmlformats.org/drawingml/2006/main">
            <a:pPr algn="r">
              <a:lnSpc>
                <a:spcPct val="100000"/>
              </a:lnSpc>
              <a:buNone/>
              <a:defRPr sz="975" b="0">
                <a:solidFill>
                  <a:srgbClr val="77736D"/>
                </a:solidFill>
                <a:latin typeface="Times New Roman"/>
                <a:ea typeface="Times New Roman"/>
                <a:cs typeface="Times New Roman"/>
              </a:defRPr>
            </a:pPr>
            <a:r>
              <a:rPr sz="975" b="0">
                <a:solidFill>
                  <a:srgbClr val="77736D"/>
                </a:solidFill>
                <a:latin typeface="Times New Roman"/>
                <a:ea typeface="Times New Roman"/>
                <a:cs typeface="Times New Roman"/>
              </a:rPr>
              <a:t>02</a:t>
            </a:r>
          </a:p>
        </p:txBody>
      </p:sp>
    </p:spTree>
    <p:extLst>
      <p:ext uri="{BB962C8B-B14F-4D97-AF65-F5344CB8AC3E}">
        <p14:creationId xmlns:p14="http://schemas.microsoft.com/office/powerpoint/2010/main" val="980255296"/>
      </p:ext>
    </p:extLst>
  </p:cSld>
</p:sld>
</file>

<file path=ppt/slides/slide3.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cxnSp>
        <p:nvCxnSpPr>
          <p:cNvPr id="6" name="">
            <a:extLst xmlns:a="http://schemas.openxmlformats.org/drawingml/2006/main">
              <a:ext uri="{FF2B5EF4-FFF2-40B4-BE49-F238E27FC236}">
                <a16:creationId xmlns:a16="http://schemas.microsoft.com/office/drawing/2014/main" id="{79FB13FC-FEBC-48B1-A084-668A2D2D315F}"/>
              </a:ext>
            </a:extLst>
          </p:cNvPr>
          <p:cNvCxnSpPr>
            <a:stCxn xmlns:a="http://schemas.openxmlformats.org/drawingml/2006/main" id="3" idx="3"/>
            <a:endCxn xmlns:a="http://schemas.openxmlformats.org/drawingml/2006/main" id="4" idx="1"/>
          </p:cNvCxnSpPr>
          <p:nvPr/>
        </p:nvCxnSpPr>
        <p:spPr>
          <a:xfrm xmlns:a="http://schemas.openxmlformats.org/drawingml/2006/main">
            <a:off x="7429500" y="3190875"/>
            <a:ext cx="904875" cy="0"/>
          </a:xfrm>
          <a:prstGeom xmlns:a="http://schemas.openxmlformats.org/drawingml/2006/main" prst="straightConnector1">
            <a:avLst/>
          </a:prstGeom>
          <a:ln xmlns:a="http://schemas.openxmlformats.org/drawingml/2006/main" w="23813">
            <a:solidFill>
              <a:srgbClr val="2F74FF"/>
            </a:solidFill>
            <a:prstDash val="solid"/>
            <a:tailEnd type="arrow" w="med" len="med"/>
          </a:ln>
        </p:spPr>
      </p:cxnSp>
      <p:cxnSp>
        <p:nvCxnSpPr>
          <p:cNvPr id="5" name="">
            <a:extLst xmlns:a="http://schemas.openxmlformats.org/drawingml/2006/main">
              <a:ext uri="{FF2B5EF4-FFF2-40B4-BE49-F238E27FC236}">
                <a16:creationId xmlns:a16="http://schemas.microsoft.com/office/drawing/2014/main" id="{FB102F3E-FFF7-426F-B11B-CD6B1F94EC28}"/>
              </a:ext>
            </a:extLst>
          </p:cNvPr>
          <p:cNvCxnSpPr>
            <a:stCxn xmlns:a="http://schemas.openxmlformats.org/drawingml/2006/main" id="2" idx="3"/>
            <a:endCxn xmlns:a="http://schemas.openxmlformats.org/drawingml/2006/main" id="3" idx="1"/>
          </p:cNvCxnSpPr>
          <p:nvPr/>
        </p:nvCxnSpPr>
        <p:spPr>
          <a:xfrm xmlns:a="http://schemas.openxmlformats.org/drawingml/2006/main">
            <a:off x="3857625" y="3190875"/>
            <a:ext cx="904875" cy="0"/>
          </a:xfrm>
          <a:prstGeom xmlns:a="http://schemas.openxmlformats.org/drawingml/2006/main" prst="straightConnector1">
            <a:avLst/>
          </a:prstGeom>
          <a:ln xmlns:a="http://schemas.openxmlformats.org/drawingml/2006/main" w="23813">
            <a:solidFill>
              <a:srgbClr val="D8892B"/>
            </a:solidFill>
            <a:prstDash val="solid"/>
            <a:tailEnd type="arrow" w="med" len="med"/>
          </a:ln>
        </p:spPr>
      </p:cxnSp>
      <p:sp>
        <p:nvSpPr>
          <p:cNvPr id="9" name="slide-3-title">
            <a:extLst xmlns:a="http://schemas.openxmlformats.org/drawingml/2006/main">
              <a:ext uri="{FF2B5EF4-FFF2-40B4-BE49-F238E27FC236}">
                <a16:creationId xmlns:a16="http://schemas.microsoft.com/office/drawing/2014/main" id="{03715A8A-6073-468C-BE14-F7B10CB9B44B}"/>
              </a:ext>
            </a:extLst>
          </p:cNvPr>
          <p:cNvSpPr>
            <a:spLocks xmlns:a="http://schemas.openxmlformats.org/drawingml/2006/main" noGrp="1"/>
          </p:cNvSpPr>
          <p:nvPr/>
        </p:nvSpPr>
        <p:spPr>
          <a:xfrm xmlns:a="http://schemas.openxmlformats.org/drawingml/2006/main">
            <a:off x="514350" y="3810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0">
                <a:solidFill>
                  <a:srgbClr val="191817"/>
                </a:solidFill>
                <a:latin typeface="Times New Roman"/>
                <a:ea typeface="Times New Roman"/>
                <a:cs typeface="Times New Roman"/>
              </a:defRPr>
            </a:defPPr>
          </a:lstStyle>
          <a:p xmlns:a="http://schemas.openxmlformats.org/drawingml/2006/main">
            <a:pPr algn="l">
              <a:lnSpc>
                <a:spcPct val="94000"/>
              </a:lnSpc>
              <a:buNone/>
              <a:defRPr sz="3225" b="0">
                <a:solidFill>
                  <a:srgbClr val="191817"/>
                </a:solidFill>
                <a:latin typeface="Times New Roman"/>
                <a:ea typeface="Times New Roman"/>
                <a:cs typeface="Times New Roman"/>
              </a:defRPr>
            </a:pPr>
            <a:r>
              <a:rPr sz="3225" b="0">
                <a:solidFill>
                  <a:srgbClr val="191817"/>
                </a:solidFill>
                <a:latin typeface="Times New Roman"/>
                <a:ea typeface="Times New Roman"/>
                <a:cs typeface="Times New Roman"/>
              </a:rPr>
              <a:t>What if the computation could move without the data?</a:t>
            </a:r>
          </a:p>
        </p:txBody>
      </p:sp>
      <p:sp>
        <p:nvSpPr>
          <p:cNvPr id="2" name="">
            <a:extLst xmlns:a="http://schemas.openxmlformats.org/drawingml/2006/main">
              <a:ext uri="{FF2B5EF4-FFF2-40B4-BE49-F238E27FC236}">
                <a16:creationId xmlns:a16="http://schemas.microsoft.com/office/drawing/2014/main" id="{6505A559-368F-49D3-AECB-1122C3307E07}"/>
              </a:ext>
            </a:extLst>
          </p:cNvPr>
          <p:cNvSpPr>
            <a:spLocks xmlns:a="http://schemas.openxmlformats.org/drawingml/2006/main" noGrp="1"/>
          </p:cNvSpPr>
          <p:nvPr/>
        </p:nvSpPr>
        <p:spPr>
          <a:xfrm xmlns:a="http://schemas.openxmlformats.org/drawingml/2006/main">
            <a:off x="666750" y="1952625"/>
            <a:ext cx="3190875" cy="2476500"/>
          </a:xfrm>
          <a:prstGeom xmlns:a="http://schemas.openxmlformats.org/drawingml/2006/main" prst="roundRect">
            <a:avLst>
              <a:gd name="adj" fmla="val 3846"/>
            </a:avLst>
          </a:prstGeom>
          <a:solidFill xmlns:a="http://schemas.openxmlformats.org/drawingml/2006/main">
            <a:srgbClr val="FFF2DD"/>
          </a:solidFill>
          <a:ln xmlns:a="http://schemas.openxmlformats.org/drawingml/2006/main" w="14288">
            <a:solidFill>
              <a:srgbClr val="D8892B"/>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2100" b="0">
                <a:solidFill>
                  <a:srgbClr val="191817"/>
                </a:solidFill>
                <a:latin typeface="Times New Roman"/>
                <a:ea typeface="Times New Roman"/>
                <a:cs typeface="Times New Roman"/>
              </a:defRPr>
            </a:defPPr>
          </a:lstStyle>
          <a:p xmlns:a="http://schemas.openxmlformats.org/drawingml/2006/main">
            <a:pPr algn="ctr">
              <a:lnSpc>
                <a:spcPct val="110000"/>
              </a:lnSpc>
              <a:buNone/>
              <a:defRPr sz="2100" b="0">
                <a:solidFill>
                  <a:srgbClr val="191817"/>
                </a:solidFill>
                <a:latin typeface="Times New Roman"/>
                <a:ea typeface="Times New Roman"/>
                <a:cs typeface="Times New Roman"/>
              </a:defRPr>
            </a:pPr>
            <a:r>
              <a:rPr sz="2100" b="0">
                <a:solidFill>
                  <a:srgbClr val="191817"/>
                </a:solidFill>
                <a:latin typeface="Times New Roman"/>
                <a:ea typeface="Times New Roman"/>
                <a:cs typeface="Times New Roman"/>
              </a:rPr>
              <a:t>DATA OWNER</a:t>
            </a:r>
          </a:p>
          <a:p xmlns:a="http://schemas.openxmlformats.org/drawingml/2006/main">
            <a:r>
              <a:t/>
            </a:r>
          </a:p>
          <a:p xmlns:a="http://schemas.openxmlformats.org/drawingml/2006/main">
            <a:pPr algn="ctr">
              <a:lnSpc>
                <a:spcPct val="110000"/>
              </a:lnSpc>
              <a:buNone/>
              <a:defRPr sz="2100" b="0">
                <a:solidFill>
                  <a:srgbClr val="191817"/>
                </a:solidFill>
                <a:latin typeface="Times New Roman"/>
                <a:ea typeface="Times New Roman"/>
                <a:cs typeface="Times New Roman"/>
              </a:defRPr>
            </a:pPr>
            <a:r>
              <a:rPr sz="2100" b="0">
                <a:solidFill>
                  <a:srgbClr val="191817"/>
                </a:solidFill>
                <a:latin typeface="Times New Roman"/>
                <a:ea typeface="Times New Roman"/>
                <a:cs typeface="Times New Roman"/>
              </a:rPr>
              <a:t>Plaintext stays inside the owner’s environment</a:t>
            </a:r>
          </a:p>
        </p:txBody>
      </p:sp>
      <p:sp>
        <p:nvSpPr>
          <p:cNvPr id="3" name="">
            <a:extLst xmlns:a="http://schemas.openxmlformats.org/drawingml/2006/main">
              <a:ext uri="{FF2B5EF4-FFF2-40B4-BE49-F238E27FC236}">
                <a16:creationId xmlns:a16="http://schemas.microsoft.com/office/drawing/2014/main" id="{ED9E9178-839D-4F60-8509-23552D0543B3}"/>
              </a:ext>
            </a:extLst>
          </p:cNvPr>
          <p:cNvSpPr>
            <a:spLocks xmlns:a="http://schemas.openxmlformats.org/drawingml/2006/main" noGrp="1"/>
          </p:cNvSpPr>
          <p:nvPr/>
        </p:nvSpPr>
        <p:spPr>
          <a:xfrm xmlns:a="http://schemas.openxmlformats.org/drawingml/2006/main">
            <a:off x="4762500" y="2286000"/>
            <a:ext cx="2667000" cy="1809750"/>
          </a:xfrm>
          <a:prstGeom xmlns:a="http://schemas.openxmlformats.org/drawingml/2006/main" prst="roundRect">
            <a:avLst>
              <a:gd name="adj" fmla="val 5263"/>
            </a:avLst>
          </a:prstGeom>
          <a:solidFill xmlns:a="http://schemas.openxmlformats.org/drawingml/2006/main">
            <a:srgbClr val="EAF1FF"/>
          </a:solidFill>
          <a:ln xmlns:a="http://schemas.openxmlformats.org/drawingml/2006/main" w="14288">
            <a:solidFill>
              <a:srgbClr val="2F74FF"/>
            </a:solidFill>
            <a:prstDash val="solid"/>
          </a:ln>
        </p:spPr>
        <p:txBody>
          <a:bodyPr xmlns:a="http://schemas.openxmlformats.org/drawingml/2006/main" wrap="square" lIns="114300" tIns="114300" rIns="114300" bIns="114300" anchor="ctr">
            <a:normAutofit fontScale="94723"/>
          </a:bodyPr>
          <a:lstStyle xmlns:a="http://schemas.openxmlformats.org/drawingml/2006/main">
            <a:defPPr algn="ctr">
              <a:defRPr sz="1800" b="0">
                <a:solidFill>
                  <a:srgbClr val="191817"/>
                </a:solidFill>
                <a:latin typeface="Times New Roman"/>
                <a:ea typeface="Times New Roman"/>
                <a:cs typeface="Times New Roman"/>
              </a:defRPr>
            </a:defPPr>
          </a:lstStyle>
          <a:p xmlns:a="http://schemas.openxmlformats.org/drawingml/2006/main">
            <a:pPr algn="ctr">
              <a:lnSpc>
                <a:spcPct val="108000"/>
              </a:lnSpc>
              <a:buNone/>
              <a:defRPr sz="1800" b="0">
                <a:solidFill>
                  <a:srgbClr val="191817"/>
                </a:solidFill>
                <a:latin typeface="Times New Roman"/>
                <a:ea typeface="Times New Roman"/>
                <a:cs typeface="Times New Roman"/>
              </a:defRPr>
            </a:pPr>
            <a:r>
              <a:rPr sz="1800" b="0">
                <a:solidFill>
                  <a:srgbClr val="191817"/>
                </a:solidFill>
                <a:latin typeface="Times New Roman"/>
                <a:ea typeface="Times New Roman"/>
                <a:cs typeface="Times New Roman"/>
              </a:rPr>
              <a:t>FULLY HOMOMORPHIC ENCRYPTION</a:t>
            </a:r>
          </a:p>
          <a:p xmlns:a="http://schemas.openxmlformats.org/drawingml/2006/main">
            <a:r>
              <a:t/>
            </a:r>
          </a:p>
          <a:p xmlns:a="http://schemas.openxmlformats.org/drawingml/2006/main">
            <a:pPr algn="ctr">
              <a:lnSpc>
                <a:spcPct val="108000"/>
              </a:lnSpc>
              <a:buNone/>
              <a:defRPr sz="1800" b="0">
                <a:solidFill>
                  <a:srgbClr val="191817"/>
                </a:solidFill>
                <a:latin typeface="Times New Roman"/>
                <a:ea typeface="Times New Roman"/>
                <a:cs typeface="Times New Roman"/>
              </a:defRPr>
            </a:pPr>
            <a:r>
              <a:rPr sz="1800" b="0">
                <a:solidFill>
                  <a:srgbClr val="191817"/>
                </a:solidFill>
                <a:latin typeface="Times New Roman"/>
                <a:ea typeface="Times New Roman"/>
                <a:cs typeface="Times New Roman"/>
              </a:rPr>
              <a:t>Compute directly on ciphertext</a:t>
            </a:r>
          </a:p>
        </p:txBody>
      </p:sp>
      <p:sp>
        <p:nvSpPr>
          <p:cNvPr id="4" name="">
            <a:extLst xmlns:a="http://schemas.openxmlformats.org/drawingml/2006/main">
              <a:ext uri="{FF2B5EF4-FFF2-40B4-BE49-F238E27FC236}">
                <a16:creationId xmlns:a16="http://schemas.microsoft.com/office/drawing/2014/main" id="{E6D772F4-072B-43BB-970C-C48C798794AE}"/>
              </a:ext>
            </a:extLst>
          </p:cNvPr>
          <p:cNvSpPr>
            <a:spLocks xmlns:a="http://schemas.openxmlformats.org/drawingml/2006/main" noGrp="1"/>
          </p:cNvSpPr>
          <p:nvPr/>
        </p:nvSpPr>
        <p:spPr>
          <a:xfrm xmlns:a="http://schemas.openxmlformats.org/drawingml/2006/main">
            <a:off x="8334375" y="1952625"/>
            <a:ext cx="3190875" cy="2476500"/>
          </a:xfrm>
          <a:prstGeom xmlns:a="http://schemas.openxmlformats.org/drawingml/2006/main" prst="roundRect">
            <a:avLst>
              <a:gd name="adj" fmla="val 3846"/>
            </a:avLst>
          </a:prstGeom>
          <a:solidFill xmlns:a="http://schemas.openxmlformats.org/drawingml/2006/main">
            <a:srgbClr val="E8F6EF"/>
          </a:solidFill>
          <a:ln xmlns:a="http://schemas.openxmlformats.org/drawingml/2006/main" w="14288">
            <a:solidFill>
              <a:srgbClr val="14A866"/>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2100" b="0">
                <a:solidFill>
                  <a:srgbClr val="191817"/>
                </a:solidFill>
                <a:latin typeface="Times New Roman"/>
                <a:ea typeface="Times New Roman"/>
                <a:cs typeface="Times New Roman"/>
              </a:defRPr>
            </a:defPPr>
          </a:lstStyle>
          <a:p xmlns:a="http://schemas.openxmlformats.org/drawingml/2006/main">
            <a:pPr algn="ctr">
              <a:lnSpc>
                <a:spcPct val="110000"/>
              </a:lnSpc>
              <a:buNone/>
              <a:defRPr sz="2100" b="0">
                <a:solidFill>
                  <a:srgbClr val="191817"/>
                </a:solidFill>
                <a:latin typeface="Times New Roman"/>
                <a:ea typeface="Times New Roman"/>
                <a:cs typeface="Times New Roman"/>
              </a:defRPr>
            </a:pPr>
            <a:r>
              <a:rPr sz="2100" b="0">
                <a:solidFill>
                  <a:srgbClr val="191817"/>
                </a:solidFill>
                <a:latin typeface="Times New Roman"/>
                <a:ea typeface="Times New Roman"/>
                <a:cs typeface="Times New Roman"/>
              </a:rPr>
              <a:t>MODEL BUYER</a:t>
            </a:r>
          </a:p>
          <a:p xmlns:a="http://schemas.openxmlformats.org/drawingml/2006/main">
            <a:r>
              <a:t/>
            </a:r>
          </a:p>
          <a:p xmlns:a="http://schemas.openxmlformats.org/drawingml/2006/main">
            <a:pPr algn="ctr">
              <a:lnSpc>
                <a:spcPct val="110000"/>
              </a:lnSpc>
              <a:buNone/>
              <a:defRPr sz="2100" b="0">
                <a:solidFill>
                  <a:srgbClr val="191817"/>
                </a:solidFill>
                <a:latin typeface="Times New Roman"/>
                <a:ea typeface="Times New Roman"/>
                <a:cs typeface="Times New Roman"/>
              </a:defRPr>
            </a:pPr>
            <a:r>
              <a:rPr sz="2100" b="0">
                <a:solidFill>
                  <a:srgbClr val="191817"/>
                </a:solidFill>
                <a:latin typeface="Times New Roman"/>
                <a:ea typeface="Times New Roman"/>
                <a:cs typeface="Times New Roman"/>
              </a:rPr>
              <a:t>Receives the approved model or result</a:t>
            </a:r>
          </a:p>
        </p:txBody>
      </p:sp>
      <p:sp>
        <p:nvSpPr>
          <p:cNvPr id="7" name="">
            <a:extLst xmlns:a="http://schemas.openxmlformats.org/drawingml/2006/main">
              <a:ext uri="{FF2B5EF4-FFF2-40B4-BE49-F238E27FC236}">
                <a16:creationId xmlns:a16="http://schemas.microsoft.com/office/drawing/2014/main" id="{293F6EB6-82EC-48F6-BEA1-F6F99E792980}"/>
              </a:ext>
            </a:extLst>
          </p:cNvPr>
          <p:cNvSpPr>
            <a:spLocks xmlns:a="http://schemas.openxmlformats.org/drawingml/2006/main" noGrp="1"/>
          </p:cNvSpPr>
          <p:nvPr/>
        </p:nvSpPr>
        <p:spPr>
          <a:xfrm xmlns:a="http://schemas.openxmlformats.org/drawingml/2006/main">
            <a:off x="2047875" y="5143500"/>
            <a:ext cx="8096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246"/>
          </a:bodyPr>
          <a:lstStyle xmlns:a="http://schemas.openxmlformats.org/drawingml/2006/main">
            <a:defPPr algn="ctr">
              <a:defRPr sz="2175" b="0">
                <a:solidFill>
                  <a:srgbClr val="5B1A1D"/>
                </a:solidFill>
                <a:latin typeface="Times New Roman"/>
                <a:ea typeface="Times New Roman"/>
                <a:cs typeface="Times New Roman"/>
              </a:defRPr>
            </a:defPPr>
          </a:lstStyle>
          <a:p xmlns:a="http://schemas.openxmlformats.org/drawingml/2006/main">
            <a:pPr algn="ctr">
              <a:lnSpc>
                <a:spcPct val="100000"/>
              </a:lnSpc>
              <a:buNone/>
              <a:defRPr sz="2175" b="0">
                <a:solidFill>
                  <a:srgbClr val="5B1A1D"/>
                </a:solidFill>
                <a:latin typeface="Times New Roman"/>
                <a:ea typeface="Times New Roman"/>
                <a:cs typeface="Times New Roman"/>
              </a:defRPr>
            </a:pPr>
            <a:r>
              <a:rPr sz="2175" b="0">
                <a:solidFill>
                  <a:srgbClr val="5B1A1D"/>
                </a:solidFill>
                <a:latin typeface="Times New Roman"/>
                <a:ea typeface="Times New Roman"/>
                <a:cs typeface="Times New Roman"/>
              </a:rPr>
              <a:t>RUN sells a narrow computation right. The data never becomes a reusable copy.</a:t>
            </a:r>
          </a:p>
        </p:txBody>
      </p:sp>
      <p:sp>
        <p:nvSpPr>
          <p:cNvPr id="8" name="slide-3-folio">
            <a:extLst xmlns:a="http://schemas.openxmlformats.org/drawingml/2006/main">
              <a:ext uri="{FF2B5EF4-FFF2-40B4-BE49-F238E27FC236}">
                <a16:creationId xmlns:a16="http://schemas.microsoft.com/office/drawing/2014/main" id="{52271C40-2415-4798-8943-52263C3DDA3F}"/>
              </a:ext>
            </a:extLst>
          </p:cNvPr>
          <p:cNvSpPr>
            <a:spLocks xmlns:a="http://schemas.openxmlformats.org/drawingml/2006/main" noGrp="1"/>
          </p:cNvSpPr>
          <p:nvPr/>
        </p:nvSpPr>
        <p:spPr>
          <a:xfrm xmlns:a="http://schemas.openxmlformats.org/drawingml/2006/main">
            <a:off x="11096625" y="6477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77736D"/>
                </a:solidFill>
                <a:latin typeface="Times New Roman"/>
                <a:ea typeface="Times New Roman"/>
                <a:cs typeface="Times New Roman"/>
              </a:defRPr>
            </a:defPPr>
          </a:lstStyle>
          <a:p xmlns:a="http://schemas.openxmlformats.org/drawingml/2006/main">
            <a:pPr algn="r">
              <a:lnSpc>
                <a:spcPct val="100000"/>
              </a:lnSpc>
              <a:buNone/>
              <a:defRPr sz="975" b="0">
                <a:solidFill>
                  <a:srgbClr val="77736D"/>
                </a:solidFill>
                <a:latin typeface="Times New Roman"/>
                <a:ea typeface="Times New Roman"/>
                <a:cs typeface="Times New Roman"/>
              </a:defRPr>
            </a:pPr>
            <a:r>
              <a:rPr sz="975" b="0">
                <a:solidFill>
                  <a:srgbClr val="77736D"/>
                </a:solidFill>
                <a:latin typeface="Times New Roman"/>
                <a:ea typeface="Times New Roman"/>
                <a:cs typeface="Times New Roman"/>
              </a:rPr>
              <a:t>03</a:t>
            </a:r>
          </a:p>
        </p:txBody>
      </p:sp>
    </p:spTree>
    <p:extLst>
      <p:ext uri="{BB962C8B-B14F-4D97-AF65-F5344CB8AC3E}">
        <p14:creationId xmlns:p14="http://schemas.microsoft.com/office/powerpoint/2010/main" val="907740180"/>
      </p:ext>
    </p:extLst>
  </p:cSld>
</p:sld>
</file>

<file path=ppt/slides/slide4.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cxnSp>
        <p:nvCxnSpPr>
          <p:cNvPr id="11" name="">
            <a:extLst xmlns:a="http://schemas.openxmlformats.org/drawingml/2006/main">
              <a:ext uri="{FF2B5EF4-FFF2-40B4-BE49-F238E27FC236}">
                <a16:creationId xmlns:a16="http://schemas.microsoft.com/office/drawing/2014/main" id="{B5B8FC3D-DE64-4A13-9A54-FCC9D1124EB0}"/>
              </a:ext>
            </a:extLst>
          </p:cNvPr>
          <p:cNvCxnSpPr>
            <a:stCxn xmlns:a="http://schemas.openxmlformats.org/drawingml/2006/main" id="10" idx="0"/>
            <a:endCxn xmlns:a="http://schemas.openxmlformats.org/drawingml/2006/main" id="5" idx="2"/>
          </p:cNvCxnSpPr>
          <p:nvPr/>
        </p:nvCxnSpPr>
        <p:spPr>
          <a:xfrm xmlns:a="http://schemas.openxmlformats.org/drawingml/2006/main" flipH="1" flipV="1">
            <a:off x="7977188" y="4191000"/>
            <a:ext cx="1333500" cy="571500"/>
          </a:xfrm>
          <a:prstGeom xmlns:a="http://schemas.openxmlformats.org/drawingml/2006/main" prst="bentConnector4">
            <a:avLst>
              <a:gd name="adj1" fmla="val 0"/>
              <a:gd name="adj2" fmla="val 50000"/>
            </a:avLst>
          </a:prstGeom>
          <a:ln xmlns:a="http://schemas.openxmlformats.org/drawingml/2006/main" w="14288">
            <a:solidFill>
              <a:srgbClr val="5B1A1D"/>
            </a:solidFill>
            <a:prstDash val="dash"/>
            <a:tailEnd type="arrow" w="sm" len="sm"/>
          </a:ln>
        </p:spPr>
      </p:cxnSp>
      <p:cxnSp>
        <p:nvCxnSpPr>
          <p:cNvPr id="9" name="">
            <a:extLst xmlns:a="http://schemas.openxmlformats.org/drawingml/2006/main">
              <a:ext uri="{FF2B5EF4-FFF2-40B4-BE49-F238E27FC236}">
                <a16:creationId xmlns:a16="http://schemas.microsoft.com/office/drawing/2014/main" id="{A6BB28A2-5047-45B4-8D30-6FE2859E8353}"/>
              </a:ext>
            </a:extLst>
          </p:cNvPr>
          <p:cNvCxnSpPr>
            <a:stCxn xmlns:a="http://schemas.openxmlformats.org/drawingml/2006/main" id="5" idx="3"/>
            <a:endCxn xmlns:a="http://schemas.openxmlformats.org/drawingml/2006/main" id="6" idx="1"/>
          </p:cNvCxnSpPr>
          <p:nvPr/>
        </p:nvCxnSpPr>
        <p:spPr>
          <a:xfrm xmlns:a="http://schemas.openxmlformats.org/drawingml/2006/main">
            <a:off x="8953500" y="3309938"/>
            <a:ext cx="666750" cy="0"/>
          </a:xfrm>
          <a:prstGeom xmlns:a="http://schemas.openxmlformats.org/drawingml/2006/main" prst="straightConnector1">
            <a:avLst/>
          </a:prstGeom>
          <a:ln xmlns:a="http://schemas.openxmlformats.org/drawingml/2006/main" w="23813">
            <a:solidFill>
              <a:srgbClr val="14A866"/>
            </a:solidFill>
            <a:prstDash val="solid"/>
            <a:tailEnd type="arrow" w="med" len="med"/>
          </a:ln>
        </p:spPr>
      </p:cxnSp>
      <p:cxnSp>
        <p:nvCxnSpPr>
          <p:cNvPr id="8" name="">
            <a:extLst xmlns:a="http://schemas.openxmlformats.org/drawingml/2006/main">
              <a:ext uri="{FF2B5EF4-FFF2-40B4-BE49-F238E27FC236}">
                <a16:creationId xmlns:a16="http://schemas.microsoft.com/office/drawing/2014/main" id="{E00659EB-321B-4332-81F9-45B9AEA3D490}"/>
              </a:ext>
            </a:extLst>
          </p:cNvPr>
          <p:cNvCxnSpPr>
            <a:stCxn xmlns:a="http://schemas.openxmlformats.org/drawingml/2006/main" id="4" idx="3"/>
            <a:endCxn xmlns:a="http://schemas.openxmlformats.org/drawingml/2006/main" id="5" idx="1"/>
          </p:cNvCxnSpPr>
          <p:nvPr/>
        </p:nvCxnSpPr>
        <p:spPr>
          <a:xfrm xmlns:a="http://schemas.openxmlformats.org/drawingml/2006/main">
            <a:off x="6334125" y="3309938"/>
            <a:ext cx="666750" cy="0"/>
          </a:xfrm>
          <a:prstGeom xmlns:a="http://schemas.openxmlformats.org/drawingml/2006/main" prst="straightConnector1">
            <a:avLst/>
          </a:prstGeom>
          <a:ln xmlns:a="http://schemas.openxmlformats.org/drawingml/2006/main" w="23813">
            <a:solidFill>
              <a:srgbClr val="2F74FF"/>
            </a:solidFill>
            <a:prstDash val="solid"/>
            <a:tailEnd type="arrow" w="med" len="med"/>
          </a:ln>
        </p:spPr>
      </p:cxnSp>
      <p:cxnSp>
        <p:nvCxnSpPr>
          <p:cNvPr id="7" name="">
            <a:extLst xmlns:a="http://schemas.openxmlformats.org/drawingml/2006/main">
              <a:ext uri="{FF2B5EF4-FFF2-40B4-BE49-F238E27FC236}">
                <a16:creationId xmlns:a16="http://schemas.microsoft.com/office/drawing/2014/main" id="{0D12AFDB-6E9B-4422-8A95-904B3F67E6B7}"/>
              </a:ext>
            </a:extLst>
          </p:cNvPr>
          <p:cNvCxnSpPr>
            <a:stCxn xmlns:a="http://schemas.openxmlformats.org/drawingml/2006/main" id="3" idx="3"/>
            <a:endCxn xmlns:a="http://schemas.openxmlformats.org/drawingml/2006/main" id="4" idx="1"/>
          </p:cNvCxnSpPr>
          <p:nvPr/>
        </p:nvCxnSpPr>
        <p:spPr>
          <a:xfrm xmlns:a="http://schemas.openxmlformats.org/drawingml/2006/main">
            <a:off x="3048000" y="3309938"/>
            <a:ext cx="666750" cy="0"/>
          </a:xfrm>
          <a:prstGeom xmlns:a="http://schemas.openxmlformats.org/drawingml/2006/main" prst="straightConnector1">
            <a:avLst/>
          </a:prstGeom>
          <a:ln xmlns:a="http://schemas.openxmlformats.org/drawingml/2006/main" w="23813">
            <a:solidFill>
              <a:srgbClr val="D8892B"/>
            </a:solidFill>
            <a:prstDash val="solid"/>
            <a:tailEnd type="arrow" w="med" len="med"/>
          </a:ln>
        </p:spPr>
      </p:cxnSp>
      <p:sp>
        <p:nvSpPr>
          <p:cNvPr id="14" name="slide-4-title">
            <a:extLst xmlns:a="http://schemas.openxmlformats.org/drawingml/2006/main">
              <a:ext uri="{FF2B5EF4-FFF2-40B4-BE49-F238E27FC236}">
                <a16:creationId xmlns:a16="http://schemas.microsoft.com/office/drawing/2014/main" id="{9E36CE1B-F183-47F5-A2D5-777FA0B8C7E4}"/>
              </a:ext>
            </a:extLst>
          </p:cNvPr>
          <p:cNvSpPr>
            <a:spLocks xmlns:a="http://schemas.openxmlformats.org/drawingml/2006/main" noGrp="1"/>
          </p:cNvSpPr>
          <p:nvPr/>
        </p:nvSpPr>
        <p:spPr>
          <a:xfrm xmlns:a="http://schemas.openxmlformats.org/drawingml/2006/main">
            <a:off x="514350" y="3810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0">
                <a:solidFill>
                  <a:srgbClr val="191817"/>
                </a:solidFill>
                <a:latin typeface="Times New Roman"/>
                <a:ea typeface="Times New Roman"/>
                <a:cs typeface="Times New Roman"/>
              </a:defRPr>
            </a:defPPr>
          </a:lstStyle>
          <a:p xmlns:a="http://schemas.openxmlformats.org/drawingml/2006/main">
            <a:pPr algn="l">
              <a:lnSpc>
                <a:spcPct val="94000"/>
              </a:lnSpc>
              <a:buNone/>
              <a:defRPr sz="3225" b="0">
                <a:solidFill>
                  <a:srgbClr val="191817"/>
                </a:solidFill>
                <a:latin typeface="Times New Roman"/>
                <a:ea typeface="Times New Roman"/>
                <a:cs typeface="Times New Roman"/>
              </a:defRPr>
            </a:pPr>
            <a:r>
              <a:rPr sz="3225" b="0">
                <a:solidFill>
                  <a:srgbClr val="191817"/>
                </a:solidFill>
                <a:latin typeface="Times New Roman"/>
                <a:ea typeface="Times New Roman"/>
                <a:cs typeface="Times New Roman"/>
              </a:rPr>
              <a:t>Architecture for multiple data owners</a:t>
            </a:r>
          </a:p>
        </p:txBody>
      </p:sp>
      <p:sp>
        <p:nvSpPr>
          <p:cNvPr id="2" name="">
            <a:extLst xmlns:a="http://schemas.openxmlformats.org/drawingml/2006/main">
              <a:ext uri="{FF2B5EF4-FFF2-40B4-BE49-F238E27FC236}">
                <a16:creationId xmlns:a16="http://schemas.microsoft.com/office/drawing/2014/main" id="{42CA8EC1-867A-4705-9365-F5CE92E8B2CC}"/>
              </a:ext>
            </a:extLst>
          </p:cNvPr>
          <p:cNvSpPr>
            <a:spLocks xmlns:a="http://schemas.openxmlformats.org/drawingml/2006/main" noGrp="1"/>
          </p:cNvSpPr>
          <p:nvPr/>
        </p:nvSpPr>
        <p:spPr>
          <a:xfrm xmlns:a="http://schemas.openxmlformats.org/drawingml/2006/main">
            <a:off x="571500" y="1066800"/>
            <a:ext cx="11049000" cy="628650"/>
          </a:xfrm>
          <a:prstGeom xmlns:a="http://schemas.openxmlformats.org/drawingml/2006/main" prst="roundRect">
            <a:avLst>
              <a:gd name="adj" fmla="val 15152"/>
            </a:avLst>
          </a:prstGeom>
          <a:solidFill xmlns:a="http://schemas.openxmlformats.org/drawingml/2006/main">
            <a:srgbClr val="F3EAEB"/>
          </a:solidFill>
          <a:ln xmlns:a="http://schemas.openxmlformats.org/drawingml/2006/main" w="9525">
            <a:solidFill>
              <a:srgbClr val="5B1A1D"/>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650" b="0">
                <a:solidFill>
                  <a:srgbClr val="5B1A1D"/>
                </a:solidFill>
                <a:latin typeface="Times New Roman"/>
                <a:ea typeface="Times New Roman"/>
                <a:cs typeface="Times New Roman"/>
              </a:defRPr>
            </a:defPPr>
          </a:lstStyle>
          <a:p xmlns:a="http://schemas.openxmlformats.org/drawingml/2006/main">
            <a:pPr algn="ctr">
              <a:lnSpc>
                <a:spcPct val="100000"/>
              </a:lnSpc>
              <a:buNone/>
              <a:defRPr sz="1650" b="0">
                <a:solidFill>
                  <a:srgbClr val="5B1A1D"/>
                </a:solidFill>
                <a:latin typeface="Times New Roman"/>
                <a:ea typeface="Times New Roman"/>
                <a:cs typeface="Times New Roman"/>
              </a:defRPr>
            </a:pPr>
            <a:r>
              <a:rPr sz="1650" b="0">
                <a:solidFill>
                  <a:srgbClr val="5B1A1D"/>
                </a:solidFill>
                <a:latin typeface="Times New Roman"/>
                <a:ea typeface="Times New Roman"/>
                <a:cs typeface="Times New Roman"/>
              </a:rPr>
              <a:t>TARGET DESIGN     RUN control plane     Agreements, approvals, policy, metering and audit     Metadata only</a:t>
            </a:r>
          </a:p>
        </p:txBody>
      </p:sp>
      <p:sp>
        <p:nvSpPr>
          <p:cNvPr id="3" name="">
            <a:extLst xmlns:a="http://schemas.openxmlformats.org/drawingml/2006/main">
              <a:ext uri="{FF2B5EF4-FFF2-40B4-BE49-F238E27FC236}">
                <a16:creationId xmlns:a16="http://schemas.microsoft.com/office/drawing/2014/main" id="{F9DFECE5-7501-47EC-B6AF-3BB3FE369806}"/>
              </a:ext>
            </a:extLst>
          </p:cNvPr>
          <p:cNvSpPr>
            <a:spLocks xmlns:a="http://schemas.openxmlformats.org/drawingml/2006/main" noGrp="1"/>
          </p:cNvSpPr>
          <p:nvPr/>
        </p:nvSpPr>
        <p:spPr>
          <a:xfrm xmlns:a="http://schemas.openxmlformats.org/drawingml/2006/main">
            <a:off x="571500" y="2238375"/>
            <a:ext cx="2476500" cy="2143125"/>
          </a:xfrm>
          <a:prstGeom xmlns:a="http://schemas.openxmlformats.org/drawingml/2006/main" prst="roundRect">
            <a:avLst>
              <a:gd name="adj" fmla="val 4444"/>
            </a:avLst>
          </a:prstGeom>
          <a:solidFill xmlns:a="http://schemas.openxmlformats.org/drawingml/2006/main">
            <a:srgbClr val="FFF2DD"/>
          </a:solidFill>
          <a:ln xmlns:a="http://schemas.openxmlformats.org/drawingml/2006/main" w="14288">
            <a:solidFill>
              <a:srgbClr val="D8892B"/>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725" b="0">
                <a:solidFill>
                  <a:srgbClr val="191817"/>
                </a:solidFill>
                <a:latin typeface="Times New Roman"/>
                <a:ea typeface="Times New Roman"/>
                <a:cs typeface="Times New Roman"/>
              </a:defRPr>
            </a:defPPr>
          </a:lstStyle>
          <a:p xmlns:a="http://schemas.openxmlformats.org/drawingml/2006/main">
            <a:pPr algn="ctr">
              <a:lnSpc>
                <a:spcPct val="108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DATA OWNER</a:t>
            </a:r>
          </a:p>
          <a:p xmlns:a="http://schemas.openxmlformats.org/drawingml/2006/main">
            <a:r>
              <a:t/>
            </a:r>
          </a:p>
          <a:p xmlns:a="http://schemas.openxmlformats.org/drawingml/2006/main">
            <a:pPr algn="ctr">
              <a:lnSpc>
                <a:spcPct val="108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Private records</a:t>
            </a:r>
          </a:p>
          <a:p xmlns:a="http://schemas.openxmlformats.org/drawingml/2006/main">
            <a:r>
              <a:t/>
            </a:r>
          </a:p>
          <a:p xmlns:a="http://schemas.openxmlformats.org/drawingml/2006/main">
            <a:pPr algn="ctr">
              <a:lnSpc>
                <a:spcPct val="108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RUN Node maps and encrypts locally</a:t>
            </a:r>
          </a:p>
        </p:txBody>
      </p:sp>
      <p:sp>
        <p:nvSpPr>
          <p:cNvPr id="4" name="">
            <a:extLst xmlns:a="http://schemas.openxmlformats.org/drawingml/2006/main">
              <a:ext uri="{FF2B5EF4-FFF2-40B4-BE49-F238E27FC236}">
                <a16:creationId xmlns:a16="http://schemas.microsoft.com/office/drawing/2014/main" id="{9C841FA5-CC39-4139-8CDD-97CD6FDAD756}"/>
              </a:ext>
            </a:extLst>
          </p:cNvPr>
          <p:cNvSpPr>
            <a:spLocks xmlns:a="http://schemas.openxmlformats.org/drawingml/2006/main" noGrp="1"/>
          </p:cNvSpPr>
          <p:nvPr/>
        </p:nvSpPr>
        <p:spPr>
          <a:xfrm xmlns:a="http://schemas.openxmlformats.org/drawingml/2006/main">
            <a:off x="3714750" y="2428875"/>
            <a:ext cx="2619375" cy="1762125"/>
          </a:xfrm>
          <a:prstGeom xmlns:a="http://schemas.openxmlformats.org/drawingml/2006/main" prst="roundRect">
            <a:avLst>
              <a:gd name="adj" fmla="val 5405"/>
            </a:avLst>
          </a:prstGeom>
          <a:solidFill xmlns:a="http://schemas.openxmlformats.org/drawingml/2006/main">
            <a:srgbClr val="EAF1FF"/>
          </a:solidFill>
          <a:ln xmlns:a="http://schemas.openxmlformats.org/drawingml/2006/main" w="14288">
            <a:solidFill>
              <a:srgbClr val="2F74FF"/>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2025" b="0">
                <a:solidFill>
                  <a:srgbClr val="191817"/>
                </a:solidFill>
                <a:latin typeface="Times New Roman"/>
                <a:ea typeface="Times New Roman"/>
                <a:cs typeface="Times New Roman"/>
              </a:defRPr>
            </a:defPPr>
          </a:lstStyle>
          <a:p xmlns:a="http://schemas.openxmlformats.org/drawingml/2006/main">
            <a:pPr algn="ctr">
              <a:lnSpc>
                <a:spcPct val="100000"/>
              </a:lnSpc>
              <a:buNone/>
              <a:defRPr sz="2025" b="0">
                <a:solidFill>
                  <a:srgbClr val="191817"/>
                </a:solidFill>
                <a:latin typeface="Times New Roman"/>
                <a:ea typeface="Times New Roman"/>
                <a:cs typeface="Times New Roman"/>
              </a:defRPr>
            </a:pPr>
            <a:r>
              <a:rPr sz="2025" b="0">
                <a:solidFill>
                  <a:srgbClr val="191817"/>
                </a:solidFill>
                <a:latin typeface="Times New Roman"/>
                <a:ea typeface="Times New Roman"/>
                <a:cs typeface="Times New Roman"/>
              </a:rPr>
              <a:t>RUN ENGINE</a:t>
            </a:r>
          </a:p>
          <a:p xmlns:a="http://schemas.openxmlformats.org/drawingml/2006/main">
            <a:r>
              <a:t/>
            </a:r>
          </a:p>
          <a:p xmlns:a="http://schemas.openxmlformats.org/drawingml/2006/main">
            <a:pPr algn="ctr">
              <a:lnSpc>
                <a:spcPct val="100000"/>
              </a:lnSpc>
              <a:buNone/>
              <a:defRPr sz="2025" b="0">
                <a:solidFill>
                  <a:srgbClr val="191817"/>
                </a:solidFill>
                <a:latin typeface="Times New Roman"/>
                <a:ea typeface="Times New Roman"/>
                <a:cs typeface="Times New Roman"/>
              </a:defRPr>
            </a:pPr>
            <a:r>
              <a:rPr sz="2025" b="0">
                <a:solidFill>
                  <a:srgbClr val="191817"/>
                </a:solidFill>
                <a:latin typeface="Times New Roman"/>
                <a:ea typeface="Times New Roman"/>
                <a:cs typeface="Times New Roman"/>
              </a:rPr>
              <a:t>Train on ciphertext</a:t>
            </a:r>
          </a:p>
        </p:txBody>
      </p:sp>
      <p:sp>
        <p:nvSpPr>
          <p:cNvPr id="5" name="">
            <a:extLst xmlns:a="http://schemas.openxmlformats.org/drawingml/2006/main">
              <a:ext uri="{FF2B5EF4-FFF2-40B4-BE49-F238E27FC236}">
                <a16:creationId xmlns:a16="http://schemas.microsoft.com/office/drawing/2014/main" id="{009A5ABF-ACDB-4B36-BA91-47A9BA285178}"/>
              </a:ext>
            </a:extLst>
          </p:cNvPr>
          <p:cNvSpPr>
            <a:spLocks xmlns:a="http://schemas.openxmlformats.org/drawingml/2006/main" noGrp="1"/>
          </p:cNvSpPr>
          <p:nvPr/>
        </p:nvSpPr>
        <p:spPr>
          <a:xfrm xmlns:a="http://schemas.openxmlformats.org/drawingml/2006/main">
            <a:off x="7000875" y="2428875"/>
            <a:ext cx="1952625" cy="1762125"/>
          </a:xfrm>
          <a:prstGeom xmlns:a="http://schemas.openxmlformats.org/drawingml/2006/main" prst="roundRect">
            <a:avLst>
              <a:gd name="adj" fmla="val 5405"/>
            </a:avLst>
          </a:prstGeom>
          <a:solidFill xmlns:a="http://schemas.openxmlformats.org/drawingml/2006/main">
            <a:srgbClr val="F3EAEB"/>
          </a:solidFill>
          <a:ln xmlns:a="http://schemas.openxmlformats.org/drawingml/2006/main" w="14288">
            <a:solidFill>
              <a:srgbClr val="5B1A1D"/>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800" b="0">
                <a:solidFill>
                  <a:srgbClr val="191817"/>
                </a:solidFill>
                <a:latin typeface="Times New Roman"/>
                <a:ea typeface="Times New Roman"/>
                <a:cs typeface="Times New Roman"/>
              </a:defRPr>
            </a:defPPr>
          </a:lstStyle>
          <a:p xmlns:a="http://schemas.openxmlformats.org/drawingml/2006/main">
            <a:pPr algn="ctr">
              <a:lnSpc>
                <a:spcPct val="100000"/>
              </a:lnSpc>
              <a:buNone/>
              <a:defRPr sz="1800" b="0">
                <a:solidFill>
                  <a:srgbClr val="191817"/>
                </a:solidFill>
                <a:latin typeface="Times New Roman"/>
                <a:ea typeface="Times New Roman"/>
                <a:cs typeface="Times New Roman"/>
              </a:defRPr>
            </a:pPr>
            <a:r>
              <a:rPr sz="1800" b="0">
                <a:solidFill>
                  <a:srgbClr val="191817"/>
                </a:solidFill>
                <a:latin typeface="Times New Roman"/>
                <a:ea typeface="Times New Roman"/>
                <a:cs typeface="Times New Roman"/>
              </a:rPr>
              <a:t>ENCRYPTED MODEL</a:t>
            </a:r>
          </a:p>
          <a:p xmlns:a="http://schemas.openxmlformats.org/drawingml/2006/main">
            <a:r>
              <a:t/>
            </a:r>
          </a:p>
          <a:p xmlns:a="http://schemas.openxmlformats.org/drawingml/2006/main">
            <a:pPr algn="ctr">
              <a:lnSpc>
                <a:spcPct val="100000"/>
              </a:lnSpc>
              <a:buNone/>
              <a:defRPr sz="1800" b="0">
                <a:solidFill>
                  <a:srgbClr val="191817"/>
                </a:solidFill>
                <a:latin typeface="Times New Roman"/>
                <a:ea typeface="Times New Roman"/>
                <a:cs typeface="Times New Roman"/>
              </a:defRPr>
            </a:pPr>
            <a:r>
              <a:rPr sz="1800" b="0">
                <a:solidFill>
                  <a:srgbClr val="191817"/>
                </a:solidFill>
                <a:latin typeface="Times New Roman"/>
                <a:ea typeface="Times New Roman"/>
                <a:cs typeface="Times New Roman"/>
              </a:rPr>
              <a:t>No plaintext</a:t>
            </a:r>
          </a:p>
        </p:txBody>
      </p:sp>
      <p:sp>
        <p:nvSpPr>
          <p:cNvPr id="6" name="">
            <a:extLst xmlns:a="http://schemas.openxmlformats.org/drawingml/2006/main">
              <a:ext uri="{FF2B5EF4-FFF2-40B4-BE49-F238E27FC236}">
                <a16:creationId xmlns:a16="http://schemas.microsoft.com/office/drawing/2014/main" id="{A80416FF-4262-45BD-A0FC-44D1A824B132}"/>
              </a:ext>
            </a:extLst>
          </p:cNvPr>
          <p:cNvSpPr>
            <a:spLocks xmlns:a="http://schemas.openxmlformats.org/drawingml/2006/main" noGrp="1"/>
          </p:cNvSpPr>
          <p:nvPr/>
        </p:nvSpPr>
        <p:spPr>
          <a:xfrm xmlns:a="http://schemas.openxmlformats.org/drawingml/2006/main">
            <a:off x="9620250" y="2238375"/>
            <a:ext cx="2000250" cy="2143125"/>
          </a:xfrm>
          <a:prstGeom xmlns:a="http://schemas.openxmlformats.org/drawingml/2006/main" prst="roundRect">
            <a:avLst>
              <a:gd name="adj" fmla="val 4762"/>
            </a:avLst>
          </a:prstGeom>
          <a:solidFill xmlns:a="http://schemas.openxmlformats.org/drawingml/2006/main">
            <a:srgbClr val="E8F6EF"/>
          </a:solidFill>
          <a:ln xmlns:a="http://schemas.openxmlformats.org/drawingml/2006/main" w="14288">
            <a:solidFill>
              <a:srgbClr val="14A866"/>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725" b="0">
                <a:solidFill>
                  <a:srgbClr val="191817"/>
                </a:solidFill>
                <a:latin typeface="Times New Roman"/>
                <a:ea typeface="Times New Roman"/>
                <a:cs typeface="Times New Roman"/>
              </a:defRPr>
            </a:defPPr>
          </a:lstStyle>
          <a:p xmlns:a="http://schemas.openxmlformats.org/drawingml/2006/main">
            <a:pPr algn="ctr">
              <a:lnSpc>
                <a:spcPct val="108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CUSTOMER</a:t>
            </a:r>
          </a:p>
          <a:p xmlns:a="http://schemas.openxmlformats.org/drawingml/2006/main">
            <a:r>
              <a:t/>
            </a:r>
          </a:p>
          <a:p xmlns:a="http://schemas.openxmlformats.org/drawingml/2006/main">
            <a:pPr algn="ctr">
              <a:lnSpc>
                <a:spcPct val="108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Decrypts only the approved result inside its own boundary</a:t>
            </a:r>
          </a:p>
        </p:txBody>
      </p:sp>
      <p:sp>
        <p:nvSpPr>
          <p:cNvPr id="10" name="">
            <a:extLst xmlns:a="http://schemas.openxmlformats.org/drawingml/2006/main">
              <a:ext uri="{FF2B5EF4-FFF2-40B4-BE49-F238E27FC236}">
                <a16:creationId xmlns:a16="http://schemas.microsoft.com/office/drawing/2014/main" id="{2058EFD2-0BA7-4939-A120-BA12994B42C4}"/>
              </a:ext>
            </a:extLst>
          </p:cNvPr>
          <p:cNvSpPr>
            <a:spLocks xmlns:a="http://schemas.openxmlformats.org/drawingml/2006/main" noGrp="1"/>
          </p:cNvSpPr>
          <p:nvPr/>
        </p:nvSpPr>
        <p:spPr>
          <a:xfrm xmlns:a="http://schemas.openxmlformats.org/drawingml/2006/main">
            <a:off x="7000875" y="4762500"/>
            <a:ext cx="4619625" cy="666750"/>
          </a:xfrm>
          <a:prstGeom xmlns:a="http://schemas.openxmlformats.org/drawingml/2006/main" prst="roundRect">
            <a:avLst>
              <a:gd name="adj" fmla="val 14286"/>
            </a:avLst>
          </a:prstGeom>
          <a:solidFill xmlns:a="http://schemas.openxmlformats.org/drawingml/2006/main">
            <a:srgbClr val="FFFFFF"/>
          </a:solidFill>
          <a:ln xmlns:a="http://schemas.openxmlformats.org/drawingml/2006/main" w="9525">
            <a:solidFill>
              <a:srgbClr val="D9D5CF"/>
            </a:solidFill>
            <a:prstDash val="solid"/>
          </a:ln>
        </p:spPr>
        <p:txBody>
          <a:bodyPr xmlns:a="http://schemas.openxmlformats.org/drawingml/2006/main" wrap="square" lIns="114300" tIns="114300" rIns="114300" bIns="114300" anchor="ctr">
            <a:normAutofit fontScale="92882"/>
          </a:bodyPr>
          <a:lstStyle xmlns:a="http://schemas.openxmlformats.org/drawingml/2006/main">
            <a:defPPr algn="ctr">
              <a:defRPr sz="1500" b="0">
                <a:solidFill>
                  <a:srgbClr val="5B1A1D"/>
                </a:solidFill>
                <a:latin typeface="Times New Roman"/>
                <a:ea typeface="Times New Roman"/>
                <a:cs typeface="Times New Roman"/>
              </a:defRPr>
            </a:defPPr>
          </a:lstStyle>
          <a:p xmlns:a="http://schemas.openxmlformats.org/drawingml/2006/main">
            <a:pPr algn="ctr">
              <a:lnSpc>
                <a:spcPct val="100000"/>
              </a:lnSpc>
              <a:buNone/>
              <a:defRPr sz="1500" b="0">
                <a:solidFill>
                  <a:srgbClr val="5B1A1D"/>
                </a:solidFill>
                <a:latin typeface="Times New Roman"/>
                <a:ea typeface="Times New Roman"/>
                <a:cs typeface="Times New Roman"/>
              </a:defRPr>
            </a:pPr>
            <a:r>
              <a:rPr sz="1500" b="0">
                <a:solidFill>
                  <a:srgbClr val="5B1A1D"/>
                </a:solidFill>
                <a:latin typeface="Times New Roman"/>
                <a:ea typeface="Times New Roman"/>
                <a:cs typeface="Times New Roman"/>
              </a:rPr>
              <a:t>Data holder guardians approve the exact result before release</a:t>
            </a:r>
          </a:p>
        </p:txBody>
      </p:sp>
      <p:sp>
        <p:nvSpPr>
          <p:cNvPr id="12" name="">
            <a:extLst xmlns:a="http://schemas.openxmlformats.org/drawingml/2006/main">
              <a:ext uri="{FF2B5EF4-FFF2-40B4-BE49-F238E27FC236}">
                <a16:creationId xmlns:a16="http://schemas.microsoft.com/office/drawing/2014/main" id="{E6552EBD-B238-4D0B-949D-F9D9F5DBFF20}"/>
              </a:ext>
            </a:extLst>
          </p:cNvPr>
          <p:cNvSpPr>
            <a:spLocks xmlns:a="http://schemas.openxmlformats.org/drawingml/2006/main" noGrp="1"/>
          </p:cNvSpPr>
          <p:nvPr/>
        </p:nvSpPr>
        <p:spPr>
          <a:xfrm xmlns:a="http://schemas.openxmlformats.org/drawingml/2006/main">
            <a:off x="571500" y="4762500"/>
            <a:ext cx="58578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2F74FF"/>
                </a:solidFill>
                <a:latin typeface="Times New Roman"/>
                <a:ea typeface="Times New Roman"/>
                <a:cs typeface="Times New Roman"/>
              </a:defRPr>
            </a:defPPr>
          </a:lstStyle>
          <a:p xmlns:a="http://schemas.openxmlformats.org/drawingml/2006/main">
            <a:pPr algn="l">
              <a:lnSpc>
                <a:spcPct val="108000"/>
              </a:lnSpc>
              <a:buNone/>
              <a:defRPr sz="1725" b="0">
                <a:solidFill>
                  <a:srgbClr val="2F74FF"/>
                </a:solidFill>
                <a:latin typeface="Times New Roman"/>
                <a:ea typeface="Times New Roman"/>
                <a:cs typeface="Times New Roman"/>
              </a:defRPr>
            </a:pPr>
            <a:r>
              <a:rPr sz="1725" b="0">
                <a:solidFill>
                  <a:srgbClr val="2F74FF"/>
                </a:solidFill>
                <a:latin typeface="Times New Roman"/>
                <a:ea typeface="Times New Roman"/>
                <a:cs typeface="Times New Roman"/>
              </a:rPr>
              <a:t>Current demo demonstrates encrypted logistic training.</a:t>
            </a:r>
          </a:p>
          <a:p xmlns:a="http://schemas.openxmlformats.org/drawingml/2006/main">
            <a:pPr algn="l">
              <a:lnSpc>
                <a:spcPct val="108000"/>
              </a:lnSpc>
              <a:buNone/>
              <a:defRPr sz="1725" b="0">
                <a:solidFill>
                  <a:srgbClr val="2F74FF"/>
                </a:solidFill>
                <a:latin typeface="Times New Roman"/>
                <a:ea typeface="Times New Roman"/>
                <a:cs typeface="Times New Roman"/>
              </a:defRPr>
            </a:pPr>
            <a:r>
              <a:rPr sz="1725" b="0">
                <a:solidFill>
                  <a:srgbClr val="2F74FF"/>
                </a:solidFill>
                <a:latin typeface="Times New Roman"/>
                <a:ea typeface="Times New Roman"/>
                <a:cs typeface="Times New Roman"/>
              </a:rPr>
              <a:t>Threshold release across multiple owners remains a product gate.</a:t>
            </a:r>
          </a:p>
        </p:txBody>
      </p:sp>
      <p:sp>
        <p:nvSpPr>
          <p:cNvPr id="13" name="slide-4-folio">
            <a:extLst xmlns:a="http://schemas.openxmlformats.org/drawingml/2006/main">
              <a:ext uri="{FF2B5EF4-FFF2-40B4-BE49-F238E27FC236}">
                <a16:creationId xmlns:a16="http://schemas.microsoft.com/office/drawing/2014/main" id="{E6FF7E17-508D-4C46-81EC-A7AF24F993C0}"/>
              </a:ext>
            </a:extLst>
          </p:cNvPr>
          <p:cNvSpPr>
            <a:spLocks xmlns:a="http://schemas.openxmlformats.org/drawingml/2006/main" noGrp="1"/>
          </p:cNvSpPr>
          <p:nvPr/>
        </p:nvSpPr>
        <p:spPr>
          <a:xfrm xmlns:a="http://schemas.openxmlformats.org/drawingml/2006/main">
            <a:off x="11096625" y="6477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77736D"/>
                </a:solidFill>
                <a:latin typeface="Times New Roman"/>
                <a:ea typeface="Times New Roman"/>
                <a:cs typeface="Times New Roman"/>
              </a:defRPr>
            </a:defPPr>
          </a:lstStyle>
          <a:p xmlns:a="http://schemas.openxmlformats.org/drawingml/2006/main">
            <a:pPr algn="r">
              <a:lnSpc>
                <a:spcPct val="100000"/>
              </a:lnSpc>
              <a:buNone/>
              <a:defRPr sz="975" b="0">
                <a:solidFill>
                  <a:srgbClr val="77736D"/>
                </a:solidFill>
                <a:latin typeface="Times New Roman"/>
                <a:ea typeface="Times New Roman"/>
                <a:cs typeface="Times New Roman"/>
              </a:defRPr>
            </a:pPr>
            <a:r>
              <a:rPr sz="975" b="0">
                <a:solidFill>
                  <a:srgbClr val="77736D"/>
                </a:solidFill>
                <a:latin typeface="Times New Roman"/>
                <a:ea typeface="Times New Roman"/>
                <a:cs typeface="Times New Roman"/>
              </a:rPr>
              <a:t>04</a:t>
            </a:r>
          </a:p>
        </p:txBody>
      </p:sp>
    </p:spTree>
    <p:extLst>
      <p:ext uri="{BB962C8B-B14F-4D97-AF65-F5344CB8AC3E}">
        <p14:creationId xmlns:p14="http://schemas.microsoft.com/office/powerpoint/2010/main" val="1459806646"/>
      </p:ext>
    </p:extLst>
  </p:cSld>
</p:sld>
</file>

<file path=ppt/slides/slide5.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cxnSp>
        <p:nvCxnSpPr>
          <p:cNvPr id="19" name="">
            <a:extLst xmlns:a="http://schemas.openxmlformats.org/drawingml/2006/main">
              <a:ext uri="{FF2B5EF4-FFF2-40B4-BE49-F238E27FC236}">
                <a16:creationId xmlns:a16="http://schemas.microsoft.com/office/drawing/2014/main" id="{E64C131F-A72C-444D-AFCB-32BED3EB7F24}"/>
              </a:ext>
            </a:extLst>
          </p:cNvPr>
          <p:cNvCxnSpPr>
            <a:stCxn xmlns:a="http://schemas.openxmlformats.org/drawingml/2006/main" id="11" idx="3"/>
            <a:endCxn xmlns:a="http://schemas.openxmlformats.org/drawingml/2006/main" id="13" idx="1"/>
          </p:cNvCxnSpPr>
          <p:nvPr/>
        </p:nvCxnSpPr>
        <p:spPr>
          <a:xfrm xmlns:a="http://schemas.openxmlformats.org/drawingml/2006/main">
            <a:off x="9867900" y="2881313"/>
            <a:ext cx="371475" cy="0"/>
          </a:xfrm>
          <a:prstGeom xmlns:a="http://schemas.openxmlformats.org/drawingml/2006/main" prst="straightConnector1">
            <a:avLst/>
          </a:prstGeom>
          <a:ln xmlns:a="http://schemas.openxmlformats.org/drawingml/2006/main" w="14288">
            <a:solidFill>
              <a:srgbClr val="77736D"/>
            </a:solidFill>
            <a:prstDash val="solid"/>
            <a:tailEnd type="arrow" w="med" len="med"/>
          </a:ln>
        </p:spPr>
      </p:cxnSp>
      <p:cxnSp>
        <p:nvCxnSpPr>
          <p:cNvPr id="18" name="">
            <a:extLst xmlns:a="http://schemas.openxmlformats.org/drawingml/2006/main">
              <a:ext uri="{FF2B5EF4-FFF2-40B4-BE49-F238E27FC236}">
                <a16:creationId xmlns:a16="http://schemas.microsoft.com/office/drawing/2014/main" id="{D5AD5EE6-02C3-40A9-ABDE-EC1BF2F29B9B}"/>
              </a:ext>
            </a:extLst>
          </p:cNvPr>
          <p:cNvCxnSpPr>
            <a:stCxn xmlns:a="http://schemas.openxmlformats.org/drawingml/2006/main" id="9" idx="3"/>
            <a:endCxn xmlns:a="http://schemas.openxmlformats.org/drawingml/2006/main" id="11" idx="1"/>
          </p:cNvCxnSpPr>
          <p:nvPr/>
        </p:nvCxnSpPr>
        <p:spPr>
          <a:xfrm xmlns:a="http://schemas.openxmlformats.org/drawingml/2006/main">
            <a:off x="7924800" y="2881313"/>
            <a:ext cx="371475" cy="0"/>
          </a:xfrm>
          <a:prstGeom xmlns:a="http://schemas.openxmlformats.org/drawingml/2006/main" prst="straightConnector1">
            <a:avLst/>
          </a:prstGeom>
          <a:ln xmlns:a="http://schemas.openxmlformats.org/drawingml/2006/main" w="14288">
            <a:solidFill>
              <a:srgbClr val="77736D"/>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87BEE853-9201-4DAE-9E88-C3EF492F9493}"/>
              </a:ext>
            </a:extLst>
          </p:cNvPr>
          <p:cNvCxnSpPr>
            <a:stCxn xmlns:a="http://schemas.openxmlformats.org/drawingml/2006/main" id="7" idx="3"/>
            <a:endCxn xmlns:a="http://schemas.openxmlformats.org/drawingml/2006/main" id="9" idx="1"/>
          </p:cNvCxnSpPr>
          <p:nvPr/>
        </p:nvCxnSpPr>
        <p:spPr>
          <a:xfrm xmlns:a="http://schemas.openxmlformats.org/drawingml/2006/main">
            <a:off x="5981700" y="2881313"/>
            <a:ext cx="371475" cy="0"/>
          </a:xfrm>
          <a:prstGeom xmlns:a="http://schemas.openxmlformats.org/drawingml/2006/main" prst="straightConnector1">
            <a:avLst/>
          </a:prstGeom>
          <a:ln xmlns:a="http://schemas.openxmlformats.org/drawingml/2006/main" w="14288">
            <a:solidFill>
              <a:srgbClr val="77736D"/>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F9995EF9-85AD-4361-AEE6-4CF5B81E17E7}"/>
              </a:ext>
            </a:extLst>
          </p:cNvPr>
          <p:cNvCxnSpPr>
            <a:stCxn xmlns:a="http://schemas.openxmlformats.org/drawingml/2006/main" id="5" idx="3"/>
            <a:endCxn xmlns:a="http://schemas.openxmlformats.org/drawingml/2006/main" id="7" idx="1"/>
          </p:cNvCxnSpPr>
          <p:nvPr/>
        </p:nvCxnSpPr>
        <p:spPr>
          <a:xfrm xmlns:a="http://schemas.openxmlformats.org/drawingml/2006/main">
            <a:off x="4038600" y="2881313"/>
            <a:ext cx="371475" cy="0"/>
          </a:xfrm>
          <a:prstGeom xmlns:a="http://schemas.openxmlformats.org/drawingml/2006/main" prst="straightConnector1">
            <a:avLst/>
          </a:prstGeom>
          <a:ln xmlns:a="http://schemas.openxmlformats.org/drawingml/2006/main" w="14288">
            <a:solidFill>
              <a:srgbClr val="77736D"/>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C936FFAF-97CE-4E75-8572-F9DE68489A1B}"/>
              </a:ext>
            </a:extLst>
          </p:cNvPr>
          <p:cNvCxnSpPr>
            <a:stCxn xmlns:a="http://schemas.openxmlformats.org/drawingml/2006/main" id="3" idx="3"/>
            <a:endCxn xmlns:a="http://schemas.openxmlformats.org/drawingml/2006/main" id="5" idx="1"/>
          </p:cNvCxnSpPr>
          <p:nvPr/>
        </p:nvCxnSpPr>
        <p:spPr>
          <a:xfrm xmlns:a="http://schemas.openxmlformats.org/drawingml/2006/main">
            <a:off x="2095500" y="2881313"/>
            <a:ext cx="371475" cy="0"/>
          </a:xfrm>
          <a:prstGeom xmlns:a="http://schemas.openxmlformats.org/drawingml/2006/main" prst="straightConnector1">
            <a:avLst/>
          </a:prstGeom>
          <a:ln xmlns:a="http://schemas.openxmlformats.org/drawingml/2006/main" w="14288">
            <a:solidFill>
              <a:srgbClr val="77736D"/>
            </a:solidFill>
            <a:prstDash val="solid"/>
            <a:tailEnd type="arrow" w="med" len="med"/>
          </a:ln>
        </p:spPr>
      </p:cxnSp>
      <p:sp>
        <p:nvSpPr>
          <p:cNvPr id="22" name="slide-5-title">
            <a:extLst xmlns:a="http://schemas.openxmlformats.org/drawingml/2006/main">
              <a:ext uri="{FF2B5EF4-FFF2-40B4-BE49-F238E27FC236}">
                <a16:creationId xmlns:a16="http://schemas.microsoft.com/office/drawing/2014/main" id="{829B0127-0DB3-473E-834D-1F27CF8A8C15}"/>
              </a:ext>
            </a:extLst>
          </p:cNvPr>
          <p:cNvSpPr>
            <a:spLocks xmlns:a="http://schemas.openxmlformats.org/drawingml/2006/main" noGrp="1"/>
          </p:cNvSpPr>
          <p:nvPr/>
        </p:nvSpPr>
        <p:spPr>
          <a:xfrm xmlns:a="http://schemas.openxmlformats.org/drawingml/2006/main">
            <a:off x="514350" y="3810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0">
                <a:solidFill>
                  <a:srgbClr val="191817"/>
                </a:solidFill>
                <a:latin typeface="Times New Roman"/>
                <a:ea typeface="Times New Roman"/>
                <a:cs typeface="Times New Roman"/>
              </a:defRPr>
            </a:defPPr>
          </a:lstStyle>
          <a:p xmlns:a="http://schemas.openxmlformats.org/drawingml/2006/main">
            <a:pPr algn="l">
              <a:lnSpc>
                <a:spcPct val="94000"/>
              </a:lnSpc>
              <a:buNone/>
              <a:defRPr sz="3225" b="0">
                <a:solidFill>
                  <a:srgbClr val="191817"/>
                </a:solidFill>
                <a:latin typeface="Times New Roman"/>
                <a:ea typeface="Times New Roman"/>
                <a:cs typeface="Times New Roman"/>
              </a:defRPr>
            </a:pPr>
            <a:r>
              <a:rPr sz="3225" b="0">
                <a:solidFill>
                  <a:srgbClr val="191817"/>
                </a:solidFill>
                <a:latin typeface="Times New Roman"/>
                <a:ea typeface="Times New Roman"/>
                <a:cs typeface="Times New Roman"/>
              </a:rPr>
              <a:t>One governed flow from request to result</a:t>
            </a:r>
          </a:p>
        </p:txBody>
      </p:sp>
      <p:sp>
        <p:nvSpPr>
          <p:cNvPr id="2" name="">
            <a:extLst xmlns:a="http://schemas.openxmlformats.org/drawingml/2006/main">
              <a:ext uri="{FF2B5EF4-FFF2-40B4-BE49-F238E27FC236}">
                <a16:creationId xmlns:a16="http://schemas.microsoft.com/office/drawing/2014/main" id="{709946CE-440D-4EA4-9FA1-37174472EFC4}"/>
              </a:ext>
            </a:extLst>
          </p:cNvPr>
          <p:cNvSpPr>
            <a:spLocks xmlns:a="http://schemas.openxmlformats.org/drawingml/2006/main" noGrp="1"/>
          </p:cNvSpPr>
          <p:nvPr/>
        </p:nvSpPr>
        <p:spPr>
          <a:xfrm xmlns:a="http://schemas.openxmlformats.org/drawingml/2006/main">
            <a:off x="514350" y="1028700"/>
            <a:ext cx="981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77736D"/>
                </a:solidFill>
                <a:latin typeface="Times New Roman"/>
                <a:ea typeface="Times New Roman"/>
                <a:cs typeface="Times New Roman"/>
              </a:defRPr>
            </a:defPPr>
          </a:lstStyle>
          <a:p xmlns:a="http://schemas.openxmlformats.org/drawingml/2006/main">
            <a:pPr algn="l">
              <a:lnSpc>
                <a:spcPct val="100000"/>
              </a:lnSpc>
              <a:buNone/>
              <a:defRPr sz="1650" b="0">
                <a:solidFill>
                  <a:srgbClr val="77736D"/>
                </a:solidFill>
                <a:latin typeface="Times New Roman"/>
                <a:ea typeface="Times New Roman"/>
                <a:cs typeface="Times New Roman"/>
              </a:defRPr>
            </a:pPr>
            <a:r>
              <a:rPr sz="1650" b="0">
                <a:solidFill>
                  <a:srgbClr val="77736D"/>
                </a:solidFill>
                <a:latin typeface="Times New Roman"/>
                <a:ea typeface="Times New Roman"/>
                <a:cs typeface="Times New Roman"/>
              </a:rPr>
              <a:t>The same workflow carries commercial terms, technical approval and release control</a:t>
            </a:r>
          </a:p>
        </p:txBody>
      </p:sp>
      <p:sp>
        <p:nvSpPr>
          <p:cNvPr id="3" name="">
            <a:extLst xmlns:a="http://schemas.openxmlformats.org/drawingml/2006/main">
              <a:ext uri="{FF2B5EF4-FFF2-40B4-BE49-F238E27FC236}">
                <a16:creationId xmlns:a16="http://schemas.microsoft.com/office/drawing/2014/main" id="{A28EFF8E-DEF7-419C-ABA4-568AAB12F020}"/>
              </a:ext>
            </a:extLst>
          </p:cNvPr>
          <p:cNvSpPr>
            <a:spLocks xmlns:a="http://schemas.openxmlformats.org/drawingml/2006/main" noGrp="1"/>
          </p:cNvSpPr>
          <p:nvPr/>
        </p:nvSpPr>
        <p:spPr>
          <a:xfrm xmlns:a="http://schemas.openxmlformats.org/drawingml/2006/main">
            <a:off x="523875" y="2238375"/>
            <a:ext cx="1571625" cy="1285875"/>
          </a:xfrm>
          <a:prstGeom xmlns:a="http://schemas.openxmlformats.org/drawingml/2006/main" prst="roundRect">
            <a:avLst>
              <a:gd name="adj" fmla="val 7407"/>
            </a:avLst>
          </a:prstGeom>
          <a:solidFill xmlns:a="http://schemas.openxmlformats.org/drawingml/2006/main">
            <a:srgbClr val="FFF2DD"/>
          </a:solidFill>
          <a:ln xmlns:a="http://schemas.openxmlformats.org/drawingml/2006/main" w="12383">
            <a:solidFill>
              <a:srgbClr val="D8892B"/>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575" b="0">
                <a:solidFill>
                  <a:srgbClr val="191817"/>
                </a:solidFill>
                <a:latin typeface="Times New Roman"/>
                <a:ea typeface="Times New Roman"/>
                <a:cs typeface="Times New Roman"/>
              </a:defRPr>
            </a:defPPr>
          </a:lstStyle>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Buyer defines</a:t>
            </a:r>
          </a:p>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the workload</a:t>
            </a:r>
          </a:p>
        </p:txBody>
      </p:sp>
      <p:sp>
        <p:nvSpPr>
          <p:cNvPr id="4" name="">
            <a:extLst xmlns:a="http://schemas.openxmlformats.org/drawingml/2006/main">
              <a:ext uri="{FF2B5EF4-FFF2-40B4-BE49-F238E27FC236}">
                <a16:creationId xmlns:a16="http://schemas.microsoft.com/office/drawing/2014/main" id="{8425AE95-A2A8-4BAE-8383-2C96FC83ED82}"/>
              </a:ext>
            </a:extLst>
          </p:cNvPr>
          <p:cNvSpPr>
            <a:spLocks xmlns:a="http://schemas.openxmlformats.org/drawingml/2006/main" noGrp="1"/>
          </p:cNvSpPr>
          <p:nvPr/>
        </p:nvSpPr>
        <p:spPr>
          <a:xfrm xmlns:a="http://schemas.openxmlformats.org/drawingml/2006/main">
            <a:off x="1104900" y="1809750"/>
            <a:ext cx="419100" cy="419100"/>
          </a:xfrm>
          <a:prstGeom xmlns:a="http://schemas.openxmlformats.org/drawingml/2006/main" prst="ellipse">
            <a:avLst/>
          </a:prstGeom>
          <a:solidFill xmlns:a="http://schemas.openxmlformats.org/drawingml/2006/main">
            <a:srgbClr val="D8892B"/>
          </a:solidFill>
          <a:ln xmlns:a="http://schemas.openxmlformats.org/drawingml/2006/main" w="9525">
            <a:solidFill>
              <a:srgbClr val="D8892B"/>
            </a:solid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FFFFFF"/>
                </a:solidFill>
                <a:latin typeface="Times New Roman"/>
                <a:ea typeface="Times New Roman"/>
                <a:cs typeface="Times New Roman"/>
              </a:defRPr>
            </a:defPPr>
          </a:lstStyle>
          <a:p xmlns:a="http://schemas.openxmlformats.org/drawingml/2006/main">
            <a:pPr algn="ctr">
              <a:lnSpc>
                <a:spcPct val="100000"/>
              </a:lnSpc>
              <a:buNone/>
              <a:defRPr sz="1650" b="1">
                <a:solidFill>
                  <a:srgbClr val="FFFFFF"/>
                </a:solidFill>
                <a:latin typeface="Times New Roman"/>
                <a:ea typeface="Times New Roman"/>
                <a:cs typeface="Times New Roman"/>
              </a:defRPr>
            </a:pPr>
            <a:r>
              <a:rPr sz="1650" b="1">
                <a:solidFill>
                  <a:srgbClr val="FFFFFF"/>
                </a:solidFill>
                <a:latin typeface="Times New Roman"/>
                <a:ea typeface="Times New Roman"/>
                <a:cs typeface="Times New Roman"/>
              </a:rPr>
              <a:t>1</a:t>
            </a:r>
          </a:p>
        </p:txBody>
      </p:sp>
      <p:sp>
        <p:nvSpPr>
          <p:cNvPr id="5" name="">
            <a:extLst xmlns:a="http://schemas.openxmlformats.org/drawingml/2006/main">
              <a:ext uri="{FF2B5EF4-FFF2-40B4-BE49-F238E27FC236}">
                <a16:creationId xmlns:a16="http://schemas.microsoft.com/office/drawing/2014/main" id="{7C3EA6B3-A71C-42EA-93A1-03A7E4AED86E}"/>
              </a:ext>
            </a:extLst>
          </p:cNvPr>
          <p:cNvSpPr>
            <a:spLocks xmlns:a="http://schemas.openxmlformats.org/drawingml/2006/main" noGrp="1"/>
          </p:cNvSpPr>
          <p:nvPr/>
        </p:nvSpPr>
        <p:spPr>
          <a:xfrm xmlns:a="http://schemas.openxmlformats.org/drawingml/2006/main">
            <a:off x="2466975" y="2238375"/>
            <a:ext cx="1571625" cy="1285875"/>
          </a:xfrm>
          <a:prstGeom xmlns:a="http://schemas.openxmlformats.org/drawingml/2006/main" prst="roundRect">
            <a:avLst>
              <a:gd name="adj" fmla="val 7407"/>
            </a:avLst>
          </a:prstGeom>
          <a:solidFill xmlns:a="http://schemas.openxmlformats.org/drawingml/2006/main">
            <a:srgbClr val="F3EAEB"/>
          </a:solidFill>
          <a:ln xmlns:a="http://schemas.openxmlformats.org/drawingml/2006/main" w="12383">
            <a:solidFill>
              <a:srgbClr val="5B1A1D"/>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575" b="0">
                <a:solidFill>
                  <a:srgbClr val="191817"/>
                </a:solidFill>
                <a:latin typeface="Times New Roman"/>
                <a:ea typeface="Times New Roman"/>
                <a:cs typeface="Times New Roman"/>
              </a:defRPr>
            </a:defPPr>
          </a:lstStyle>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Providers approve</a:t>
            </a:r>
          </a:p>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terms and fields</a:t>
            </a:r>
          </a:p>
        </p:txBody>
      </p:sp>
      <p:sp>
        <p:nvSpPr>
          <p:cNvPr id="6" name="">
            <a:extLst xmlns:a="http://schemas.openxmlformats.org/drawingml/2006/main">
              <a:ext uri="{FF2B5EF4-FFF2-40B4-BE49-F238E27FC236}">
                <a16:creationId xmlns:a16="http://schemas.microsoft.com/office/drawing/2014/main" id="{38B62D57-801B-4C26-BACA-6A9D9EDBC86E}"/>
              </a:ext>
            </a:extLst>
          </p:cNvPr>
          <p:cNvSpPr>
            <a:spLocks xmlns:a="http://schemas.openxmlformats.org/drawingml/2006/main" noGrp="1"/>
          </p:cNvSpPr>
          <p:nvPr/>
        </p:nvSpPr>
        <p:spPr>
          <a:xfrm xmlns:a="http://schemas.openxmlformats.org/drawingml/2006/main">
            <a:off x="3048000" y="1809750"/>
            <a:ext cx="419100" cy="419100"/>
          </a:xfrm>
          <a:prstGeom xmlns:a="http://schemas.openxmlformats.org/drawingml/2006/main" prst="ellipse">
            <a:avLst/>
          </a:prstGeom>
          <a:solidFill xmlns:a="http://schemas.openxmlformats.org/drawingml/2006/main">
            <a:srgbClr val="5B1A1D"/>
          </a:solidFill>
          <a:ln xmlns:a="http://schemas.openxmlformats.org/drawingml/2006/main" w="9525">
            <a:solidFill>
              <a:srgbClr val="5B1A1D"/>
            </a:solid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FFFFFF"/>
                </a:solidFill>
                <a:latin typeface="Times New Roman"/>
                <a:ea typeface="Times New Roman"/>
                <a:cs typeface="Times New Roman"/>
              </a:defRPr>
            </a:defPPr>
          </a:lstStyle>
          <a:p xmlns:a="http://schemas.openxmlformats.org/drawingml/2006/main">
            <a:pPr algn="ctr">
              <a:lnSpc>
                <a:spcPct val="100000"/>
              </a:lnSpc>
              <a:buNone/>
              <a:defRPr sz="1650" b="1">
                <a:solidFill>
                  <a:srgbClr val="FFFFFF"/>
                </a:solidFill>
                <a:latin typeface="Times New Roman"/>
                <a:ea typeface="Times New Roman"/>
                <a:cs typeface="Times New Roman"/>
              </a:defRPr>
            </a:pPr>
            <a:r>
              <a:rPr sz="1650" b="1">
                <a:solidFill>
                  <a:srgbClr val="FFFFFF"/>
                </a:solidFill>
                <a:latin typeface="Times New Roman"/>
                <a:ea typeface="Times New Roman"/>
                <a:cs typeface="Times New Roman"/>
              </a:rPr>
              <a:t>2</a:t>
            </a:r>
          </a:p>
        </p:txBody>
      </p:sp>
      <p:sp>
        <p:nvSpPr>
          <p:cNvPr id="7" name="">
            <a:extLst xmlns:a="http://schemas.openxmlformats.org/drawingml/2006/main">
              <a:ext uri="{FF2B5EF4-FFF2-40B4-BE49-F238E27FC236}">
                <a16:creationId xmlns:a16="http://schemas.microsoft.com/office/drawing/2014/main" id="{B81F06AB-6E13-4FAD-9AF1-6A465FDA621A}"/>
              </a:ext>
            </a:extLst>
          </p:cNvPr>
          <p:cNvSpPr>
            <a:spLocks xmlns:a="http://schemas.openxmlformats.org/drawingml/2006/main" noGrp="1"/>
          </p:cNvSpPr>
          <p:nvPr/>
        </p:nvSpPr>
        <p:spPr>
          <a:xfrm xmlns:a="http://schemas.openxmlformats.org/drawingml/2006/main">
            <a:off x="4410075" y="2238375"/>
            <a:ext cx="1571625" cy="1285875"/>
          </a:xfrm>
          <a:prstGeom xmlns:a="http://schemas.openxmlformats.org/drawingml/2006/main" prst="roundRect">
            <a:avLst>
              <a:gd name="adj" fmla="val 7407"/>
            </a:avLst>
          </a:prstGeom>
          <a:solidFill xmlns:a="http://schemas.openxmlformats.org/drawingml/2006/main">
            <a:srgbClr val="EAF1FF"/>
          </a:solidFill>
          <a:ln xmlns:a="http://schemas.openxmlformats.org/drawingml/2006/main" w="12383">
            <a:solidFill>
              <a:srgbClr val="2F74FF"/>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575" b="0">
                <a:solidFill>
                  <a:srgbClr val="191817"/>
                </a:solidFill>
                <a:latin typeface="Times New Roman"/>
                <a:ea typeface="Times New Roman"/>
                <a:cs typeface="Times New Roman"/>
              </a:defRPr>
            </a:defPPr>
          </a:lstStyle>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RUN Nodes map</a:t>
            </a:r>
          </a:p>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and encrypt</a:t>
            </a:r>
          </a:p>
        </p:txBody>
      </p:sp>
      <p:sp>
        <p:nvSpPr>
          <p:cNvPr id="8" name="">
            <a:extLst xmlns:a="http://schemas.openxmlformats.org/drawingml/2006/main">
              <a:ext uri="{FF2B5EF4-FFF2-40B4-BE49-F238E27FC236}">
                <a16:creationId xmlns:a16="http://schemas.microsoft.com/office/drawing/2014/main" id="{1B59A0BC-2239-4620-8380-20CB86B421EC}"/>
              </a:ext>
            </a:extLst>
          </p:cNvPr>
          <p:cNvSpPr>
            <a:spLocks xmlns:a="http://schemas.openxmlformats.org/drawingml/2006/main" noGrp="1"/>
          </p:cNvSpPr>
          <p:nvPr/>
        </p:nvSpPr>
        <p:spPr>
          <a:xfrm xmlns:a="http://schemas.openxmlformats.org/drawingml/2006/main">
            <a:off x="4991100" y="1809750"/>
            <a:ext cx="419100" cy="419100"/>
          </a:xfrm>
          <a:prstGeom xmlns:a="http://schemas.openxmlformats.org/drawingml/2006/main" prst="ellipse">
            <a:avLst/>
          </a:prstGeom>
          <a:solidFill xmlns:a="http://schemas.openxmlformats.org/drawingml/2006/main">
            <a:srgbClr val="2F74FF"/>
          </a:solidFill>
          <a:ln xmlns:a="http://schemas.openxmlformats.org/drawingml/2006/main" w="9525">
            <a:solidFill>
              <a:srgbClr val="2F74FF"/>
            </a:solid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FFFFFF"/>
                </a:solidFill>
                <a:latin typeface="Times New Roman"/>
                <a:ea typeface="Times New Roman"/>
                <a:cs typeface="Times New Roman"/>
              </a:defRPr>
            </a:defPPr>
          </a:lstStyle>
          <a:p xmlns:a="http://schemas.openxmlformats.org/drawingml/2006/main">
            <a:pPr algn="ctr">
              <a:lnSpc>
                <a:spcPct val="100000"/>
              </a:lnSpc>
              <a:buNone/>
              <a:defRPr sz="1650" b="1">
                <a:solidFill>
                  <a:srgbClr val="FFFFFF"/>
                </a:solidFill>
                <a:latin typeface="Times New Roman"/>
                <a:ea typeface="Times New Roman"/>
                <a:cs typeface="Times New Roman"/>
              </a:defRPr>
            </a:pPr>
            <a:r>
              <a:rPr sz="1650" b="1">
                <a:solidFill>
                  <a:srgbClr val="FFFFFF"/>
                </a:solidFill>
                <a:latin typeface="Times New Roman"/>
                <a:ea typeface="Times New Roman"/>
                <a:cs typeface="Times New Roman"/>
              </a:rPr>
              <a:t>3</a:t>
            </a:r>
          </a:p>
        </p:txBody>
      </p:sp>
      <p:sp>
        <p:nvSpPr>
          <p:cNvPr id="9" name="">
            <a:extLst xmlns:a="http://schemas.openxmlformats.org/drawingml/2006/main">
              <a:ext uri="{FF2B5EF4-FFF2-40B4-BE49-F238E27FC236}">
                <a16:creationId xmlns:a16="http://schemas.microsoft.com/office/drawing/2014/main" id="{DA4DFCDC-ABDE-4CD8-9BA3-358B7C2A8EA5}"/>
              </a:ext>
            </a:extLst>
          </p:cNvPr>
          <p:cNvSpPr>
            <a:spLocks xmlns:a="http://schemas.openxmlformats.org/drawingml/2006/main" noGrp="1"/>
          </p:cNvSpPr>
          <p:nvPr/>
        </p:nvSpPr>
        <p:spPr>
          <a:xfrm xmlns:a="http://schemas.openxmlformats.org/drawingml/2006/main">
            <a:off x="6353175" y="2238375"/>
            <a:ext cx="1571625" cy="1285875"/>
          </a:xfrm>
          <a:prstGeom xmlns:a="http://schemas.openxmlformats.org/drawingml/2006/main" prst="roundRect">
            <a:avLst>
              <a:gd name="adj" fmla="val 7407"/>
            </a:avLst>
          </a:prstGeom>
          <a:solidFill xmlns:a="http://schemas.openxmlformats.org/drawingml/2006/main">
            <a:srgbClr val="EAF1FF"/>
          </a:solidFill>
          <a:ln xmlns:a="http://schemas.openxmlformats.org/drawingml/2006/main" w="12383">
            <a:solidFill>
              <a:srgbClr val="2F74FF"/>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575" b="0">
                <a:solidFill>
                  <a:srgbClr val="191817"/>
                </a:solidFill>
                <a:latin typeface="Times New Roman"/>
                <a:ea typeface="Times New Roman"/>
                <a:cs typeface="Times New Roman"/>
              </a:defRPr>
            </a:defPPr>
          </a:lstStyle>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RUN Engine trains</a:t>
            </a:r>
          </a:p>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on ciphertext</a:t>
            </a:r>
          </a:p>
        </p:txBody>
      </p:sp>
      <p:sp>
        <p:nvSpPr>
          <p:cNvPr id="10" name="">
            <a:extLst xmlns:a="http://schemas.openxmlformats.org/drawingml/2006/main">
              <a:ext uri="{FF2B5EF4-FFF2-40B4-BE49-F238E27FC236}">
                <a16:creationId xmlns:a16="http://schemas.microsoft.com/office/drawing/2014/main" id="{9947B691-7876-46D4-835B-F930736AC99A}"/>
              </a:ext>
            </a:extLst>
          </p:cNvPr>
          <p:cNvSpPr>
            <a:spLocks xmlns:a="http://schemas.openxmlformats.org/drawingml/2006/main" noGrp="1"/>
          </p:cNvSpPr>
          <p:nvPr/>
        </p:nvSpPr>
        <p:spPr>
          <a:xfrm xmlns:a="http://schemas.openxmlformats.org/drawingml/2006/main">
            <a:off x="6934200" y="1809750"/>
            <a:ext cx="419100" cy="419100"/>
          </a:xfrm>
          <a:prstGeom xmlns:a="http://schemas.openxmlformats.org/drawingml/2006/main" prst="ellipse">
            <a:avLst/>
          </a:prstGeom>
          <a:solidFill xmlns:a="http://schemas.openxmlformats.org/drawingml/2006/main">
            <a:srgbClr val="2F74FF"/>
          </a:solidFill>
          <a:ln xmlns:a="http://schemas.openxmlformats.org/drawingml/2006/main" w="9525">
            <a:solidFill>
              <a:srgbClr val="2F74FF"/>
            </a:solid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FFFFFF"/>
                </a:solidFill>
                <a:latin typeface="Times New Roman"/>
                <a:ea typeface="Times New Roman"/>
                <a:cs typeface="Times New Roman"/>
              </a:defRPr>
            </a:defPPr>
          </a:lstStyle>
          <a:p xmlns:a="http://schemas.openxmlformats.org/drawingml/2006/main">
            <a:pPr algn="ctr">
              <a:lnSpc>
                <a:spcPct val="100000"/>
              </a:lnSpc>
              <a:buNone/>
              <a:defRPr sz="1650" b="1">
                <a:solidFill>
                  <a:srgbClr val="FFFFFF"/>
                </a:solidFill>
                <a:latin typeface="Times New Roman"/>
                <a:ea typeface="Times New Roman"/>
                <a:cs typeface="Times New Roman"/>
              </a:defRPr>
            </a:pPr>
            <a:r>
              <a:rPr sz="1650" b="1">
                <a:solidFill>
                  <a:srgbClr val="FFFFFF"/>
                </a:solidFill>
                <a:latin typeface="Times New Roman"/>
                <a:ea typeface="Times New Roman"/>
                <a:cs typeface="Times New Roman"/>
              </a:rPr>
              <a:t>4</a:t>
            </a:r>
          </a:p>
        </p:txBody>
      </p:sp>
      <p:sp>
        <p:nvSpPr>
          <p:cNvPr id="11" name="">
            <a:extLst xmlns:a="http://schemas.openxmlformats.org/drawingml/2006/main">
              <a:ext uri="{FF2B5EF4-FFF2-40B4-BE49-F238E27FC236}">
                <a16:creationId xmlns:a16="http://schemas.microsoft.com/office/drawing/2014/main" id="{5C578040-E85F-4867-8C0F-D8DFCAC8D26C}"/>
              </a:ext>
            </a:extLst>
          </p:cNvPr>
          <p:cNvSpPr>
            <a:spLocks xmlns:a="http://schemas.openxmlformats.org/drawingml/2006/main" noGrp="1"/>
          </p:cNvSpPr>
          <p:nvPr/>
        </p:nvSpPr>
        <p:spPr>
          <a:xfrm xmlns:a="http://schemas.openxmlformats.org/drawingml/2006/main">
            <a:off x="8296275" y="2238375"/>
            <a:ext cx="1571625" cy="1285875"/>
          </a:xfrm>
          <a:prstGeom xmlns:a="http://schemas.openxmlformats.org/drawingml/2006/main" prst="roundRect">
            <a:avLst>
              <a:gd name="adj" fmla="val 7407"/>
            </a:avLst>
          </a:prstGeom>
          <a:solidFill xmlns:a="http://schemas.openxmlformats.org/drawingml/2006/main">
            <a:srgbClr val="F3EAEB"/>
          </a:solidFill>
          <a:ln xmlns:a="http://schemas.openxmlformats.org/drawingml/2006/main" w="12383">
            <a:solidFill>
              <a:srgbClr val="5B1A1D"/>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575" b="0">
                <a:solidFill>
                  <a:srgbClr val="191817"/>
                </a:solidFill>
                <a:latin typeface="Times New Roman"/>
                <a:ea typeface="Times New Roman"/>
                <a:cs typeface="Times New Roman"/>
              </a:defRPr>
            </a:defPPr>
          </a:lstStyle>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Guardians approve</a:t>
            </a:r>
          </a:p>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the exact result</a:t>
            </a:r>
          </a:p>
        </p:txBody>
      </p:sp>
      <p:sp>
        <p:nvSpPr>
          <p:cNvPr id="12" name="">
            <a:extLst xmlns:a="http://schemas.openxmlformats.org/drawingml/2006/main">
              <a:ext uri="{FF2B5EF4-FFF2-40B4-BE49-F238E27FC236}">
                <a16:creationId xmlns:a16="http://schemas.microsoft.com/office/drawing/2014/main" id="{E8BF202C-B24D-43E6-A32A-4995FBC6A704}"/>
              </a:ext>
            </a:extLst>
          </p:cNvPr>
          <p:cNvSpPr>
            <a:spLocks xmlns:a="http://schemas.openxmlformats.org/drawingml/2006/main" noGrp="1"/>
          </p:cNvSpPr>
          <p:nvPr/>
        </p:nvSpPr>
        <p:spPr>
          <a:xfrm xmlns:a="http://schemas.openxmlformats.org/drawingml/2006/main">
            <a:off x="8877300" y="1809750"/>
            <a:ext cx="419100" cy="419100"/>
          </a:xfrm>
          <a:prstGeom xmlns:a="http://schemas.openxmlformats.org/drawingml/2006/main" prst="ellipse">
            <a:avLst/>
          </a:prstGeom>
          <a:solidFill xmlns:a="http://schemas.openxmlformats.org/drawingml/2006/main">
            <a:srgbClr val="5B1A1D"/>
          </a:solidFill>
          <a:ln xmlns:a="http://schemas.openxmlformats.org/drawingml/2006/main" w="9525">
            <a:solidFill>
              <a:srgbClr val="5B1A1D"/>
            </a:solid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FFFFFF"/>
                </a:solidFill>
                <a:latin typeface="Times New Roman"/>
                <a:ea typeface="Times New Roman"/>
                <a:cs typeface="Times New Roman"/>
              </a:defRPr>
            </a:defPPr>
          </a:lstStyle>
          <a:p xmlns:a="http://schemas.openxmlformats.org/drawingml/2006/main">
            <a:pPr algn="ctr">
              <a:lnSpc>
                <a:spcPct val="100000"/>
              </a:lnSpc>
              <a:buNone/>
              <a:defRPr sz="1650" b="1">
                <a:solidFill>
                  <a:srgbClr val="FFFFFF"/>
                </a:solidFill>
                <a:latin typeface="Times New Roman"/>
                <a:ea typeface="Times New Roman"/>
                <a:cs typeface="Times New Roman"/>
              </a:defRPr>
            </a:pPr>
            <a:r>
              <a:rPr sz="1650" b="1">
                <a:solidFill>
                  <a:srgbClr val="FFFFFF"/>
                </a:solidFill>
                <a:latin typeface="Times New Roman"/>
                <a:ea typeface="Times New Roman"/>
                <a:cs typeface="Times New Roman"/>
              </a:rPr>
              <a:t>5</a:t>
            </a:r>
          </a:p>
        </p:txBody>
      </p:sp>
      <p:sp>
        <p:nvSpPr>
          <p:cNvPr id="13" name="">
            <a:extLst xmlns:a="http://schemas.openxmlformats.org/drawingml/2006/main">
              <a:ext uri="{FF2B5EF4-FFF2-40B4-BE49-F238E27FC236}">
                <a16:creationId xmlns:a16="http://schemas.microsoft.com/office/drawing/2014/main" id="{0D61869D-7120-4306-9EB6-6941C326D0D6}"/>
              </a:ext>
            </a:extLst>
          </p:cNvPr>
          <p:cNvSpPr>
            <a:spLocks xmlns:a="http://schemas.openxmlformats.org/drawingml/2006/main" noGrp="1"/>
          </p:cNvSpPr>
          <p:nvPr/>
        </p:nvSpPr>
        <p:spPr>
          <a:xfrm xmlns:a="http://schemas.openxmlformats.org/drawingml/2006/main">
            <a:off x="10239375" y="2238375"/>
            <a:ext cx="1571625" cy="1285875"/>
          </a:xfrm>
          <a:prstGeom xmlns:a="http://schemas.openxmlformats.org/drawingml/2006/main" prst="roundRect">
            <a:avLst>
              <a:gd name="adj" fmla="val 7407"/>
            </a:avLst>
          </a:prstGeom>
          <a:solidFill xmlns:a="http://schemas.openxmlformats.org/drawingml/2006/main">
            <a:srgbClr val="E8F6EF"/>
          </a:solidFill>
          <a:ln xmlns:a="http://schemas.openxmlformats.org/drawingml/2006/main" w="12383">
            <a:solidFill>
              <a:srgbClr val="14A866"/>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575" b="0">
                <a:solidFill>
                  <a:srgbClr val="191817"/>
                </a:solidFill>
                <a:latin typeface="Times New Roman"/>
                <a:ea typeface="Times New Roman"/>
                <a:cs typeface="Times New Roman"/>
              </a:defRPr>
            </a:defPPr>
          </a:lstStyle>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Buyer decrypts</a:t>
            </a:r>
          </a:p>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Providers get paid</a:t>
            </a:r>
          </a:p>
        </p:txBody>
      </p:sp>
      <p:sp>
        <p:nvSpPr>
          <p:cNvPr id="14" name="">
            <a:extLst xmlns:a="http://schemas.openxmlformats.org/drawingml/2006/main">
              <a:ext uri="{FF2B5EF4-FFF2-40B4-BE49-F238E27FC236}">
                <a16:creationId xmlns:a16="http://schemas.microsoft.com/office/drawing/2014/main" id="{CB50792C-0C79-44C8-BF98-5C1549235CAD}"/>
              </a:ext>
            </a:extLst>
          </p:cNvPr>
          <p:cNvSpPr>
            <a:spLocks xmlns:a="http://schemas.openxmlformats.org/drawingml/2006/main" noGrp="1"/>
          </p:cNvSpPr>
          <p:nvPr/>
        </p:nvSpPr>
        <p:spPr>
          <a:xfrm xmlns:a="http://schemas.openxmlformats.org/drawingml/2006/main">
            <a:off x="10820400" y="1809750"/>
            <a:ext cx="419100" cy="419100"/>
          </a:xfrm>
          <a:prstGeom xmlns:a="http://schemas.openxmlformats.org/drawingml/2006/main" prst="ellipse">
            <a:avLst/>
          </a:prstGeom>
          <a:solidFill xmlns:a="http://schemas.openxmlformats.org/drawingml/2006/main">
            <a:srgbClr val="14A866"/>
          </a:solidFill>
          <a:ln xmlns:a="http://schemas.openxmlformats.org/drawingml/2006/main" w="9525">
            <a:solidFill>
              <a:srgbClr val="14A866"/>
            </a:solidFill>
            <a:prstDash val="solid"/>
          </a:ln>
        </p:spPr>
        <p:txBody>
          <a:bodyPr xmlns:a="http://schemas.openxmlformats.org/drawingml/2006/main" wrap="square" lIns="0" tIns="0" rIns="0" bIns="0" anchor="ctr">
            <a:normAutofit fontScale="100000"/>
          </a:bodyPr>
          <a:lstStyle xmlns:a="http://schemas.openxmlformats.org/drawingml/2006/main">
            <a:defPPr algn="ctr">
              <a:defRPr sz="1650" b="1">
                <a:solidFill>
                  <a:srgbClr val="FFFFFF"/>
                </a:solidFill>
                <a:latin typeface="Times New Roman"/>
                <a:ea typeface="Times New Roman"/>
                <a:cs typeface="Times New Roman"/>
              </a:defRPr>
            </a:defPPr>
          </a:lstStyle>
          <a:p xmlns:a="http://schemas.openxmlformats.org/drawingml/2006/main">
            <a:pPr algn="ctr">
              <a:lnSpc>
                <a:spcPct val="100000"/>
              </a:lnSpc>
              <a:buNone/>
              <a:defRPr sz="1650" b="1">
                <a:solidFill>
                  <a:srgbClr val="FFFFFF"/>
                </a:solidFill>
                <a:latin typeface="Times New Roman"/>
                <a:ea typeface="Times New Roman"/>
                <a:cs typeface="Times New Roman"/>
              </a:defRPr>
            </a:pPr>
            <a:r>
              <a:rPr sz="1650" b="1">
                <a:solidFill>
                  <a:srgbClr val="FFFFFF"/>
                </a:solidFill>
                <a:latin typeface="Times New Roman"/>
                <a:ea typeface="Times New Roman"/>
                <a:cs typeface="Times New Roman"/>
              </a:rPr>
              <a:t>6</a:t>
            </a:r>
          </a:p>
        </p:txBody>
      </p:sp>
      <p:sp>
        <p:nvSpPr>
          <p:cNvPr id="20" name="">
            <a:extLst xmlns:a="http://schemas.openxmlformats.org/drawingml/2006/main">
              <a:ext uri="{FF2B5EF4-FFF2-40B4-BE49-F238E27FC236}">
                <a16:creationId xmlns:a16="http://schemas.microsoft.com/office/drawing/2014/main" id="{CB7FE629-24C5-4F13-B991-255271DBB7E7}"/>
              </a:ext>
            </a:extLst>
          </p:cNvPr>
          <p:cNvSpPr>
            <a:spLocks xmlns:a="http://schemas.openxmlformats.org/drawingml/2006/main" noGrp="1"/>
          </p:cNvSpPr>
          <p:nvPr/>
        </p:nvSpPr>
        <p:spPr>
          <a:xfrm xmlns:a="http://schemas.openxmlformats.org/drawingml/2006/main">
            <a:off x="1428750" y="4476750"/>
            <a:ext cx="9334500" cy="952500"/>
          </a:xfrm>
          <a:prstGeom xmlns:a="http://schemas.openxmlformats.org/drawingml/2006/main" prst="roundRect">
            <a:avLst>
              <a:gd name="adj" fmla="val 10000"/>
            </a:avLst>
          </a:prstGeom>
          <a:solidFill xmlns:a="http://schemas.openxmlformats.org/drawingml/2006/main">
            <a:srgbClr val="FFFFFF"/>
          </a:solidFill>
          <a:ln xmlns:a="http://schemas.openxmlformats.org/drawingml/2006/main" w="9525">
            <a:solidFill>
              <a:srgbClr val="D9D5CF"/>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2100" b="0">
                <a:solidFill>
                  <a:srgbClr val="5B1A1D"/>
                </a:solidFill>
                <a:latin typeface="Times New Roman"/>
                <a:ea typeface="Times New Roman"/>
                <a:cs typeface="Times New Roman"/>
              </a:defRPr>
            </a:defPPr>
          </a:lstStyle>
          <a:p xmlns:a="http://schemas.openxmlformats.org/drawingml/2006/main">
            <a:pPr algn="ctr">
              <a:lnSpc>
                <a:spcPct val="100000"/>
              </a:lnSpc>
              <a:buNone/>
              <a:defRPr sz="2100" b="0">
                <a:solidFill>
                  <a:srgbClr val="5B1A1D"/>
                </a:solidFill>
                <a:latin typeface="Times New Roman"/>
                <a:ea typeface="Times New Roman"/>
                <a:cs typeface="Times New Roman"/>
              </a:defRPr>
            </a:pPr>
            <a:r>
              <a:rPr sz="2100" b="0">
                <a:solidFill>
                  <a:srgbClr val="5B1A1D"/>
                </a:solidFill>
                <a:latin typeface="Times New Roman"/>
                <a:ea typeface="Times New Roman"/>
                <a:cs typeface="Times New Roman"/>
              </a:rPr>
              <a:t>Every run fixes the exact code, contributors, keys, output rights and budget before approved ciphertext is uploaded.</a:t>
            </a:r>
          </a:p>
        </p:txBody>
      </p:sp>
      <p:sp>
        <p:nvSpPr>
          <p:cNvPr id="21" name="slide-5-folio">
            <a:extLst xmlns:a="http://schemas.openxmlformats.org/drawingml/2006/main">
              <a:ext uri="{FF2B5EF4-FFF2-40B4-BE49-F238E27FC236}">
                <a16:creationId xmlns:a16="http://schemas.microsoft.com/office/drawing/2014/main" id="{9166DCE7-95D4-48FF-8978-8D47BEDD4C92}"/>
              </a:ext>
            </a:extLst>
          </p:cNvPr>
          <p:cNvSpPr>
            <a:spLocks xmlns:a="http://schemas.openxmlformats.org/drawingml/2006/main" noGrp="1"/>
          </p:cNvSpPr>
          <p:nvPr/>
        </p:nvSpPr>
        <p:spPr>
          <a:xfrm xmlns:a="http://schemas.openxmlformats.org/drawingml/2006/main">
            <a:off x="11096625" y="6477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77736D"/>
                </a:solidFill>
                <a:latin typeface="Times New Roman"/>
                <a:ea typeface="Times New Roman"/>
                <a:cs typeface="Times New Roman"/>
              </a:defRPr>
            </a:defPPr>
          </a:lstStyle>
          <a:p xmlns:a="http://schemas.openxmlformats.org/drawingml/2006/main">
            <a:pPr algn="r">
              <a:lnSpc>
                <a:spcPct val="100000"/>
              </a:lnSpc>
              <a:buNone/>
              <a:defRPr sz="975" b="0">
                <a:solidFill>
                  <a:srgbClr val="77736D"/>
                </a:solidFill>
                <a:latin typeface="Times New Roman"/>
                <a:ea typeface="Times New Roman"/>
                <a:cs typeface="Times New Roman"/>
              </a:defRPr>
            </a:pPr>
            <a:r>
              <a:rPr sz="975" b="0">
                <a:solidFill>
                  <a:srgbClr val="77736D"/>
                </a:solidFill>
                <a:latin typeface="Times New Roman"/>
                <a:ea typeface="Times New Roman"/>
                <a:cs typeface="Times New Roman"/>
              </a:rPr>
              <a:t>05</a:t>
            </a:r>
          </a:p>
        </p:txBody>
      </p:sp>
    </p:spTree>
    <p:extLst>
      <p:ext uri="{BB962C8B-B14F-4D97-AF65-F5344CB8AC3E}">
        <p14:creationId xmlns:p14="http://schemas.microsoft.com/office/powerpoint/2010/main" val="1913021221"/>
      </p:ext>
    </p:extLst>
  </p:cSld>
</p:sld>
</file>

<file path=ppt/slides/slide6.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0" name="slide-6-title">
            <a:extLst xmlns:a="http://schemas.openxmlformats.org/drawingml/2006/main">
              <a:ext uri="{FF2B5EF4-FFF2-40B4-BE49-F238E27FC236}">
                <a16:creationId xmlns:a16="http://schemas.microsoft.com/office/drawing/2014/main" id="{CD461552-F1C2-4EDD-857C-AAF8297E2367}"/>
              </a:ext>
            </a:extLst>
          </p:cNvPr>
          <p:cNvSpPr>
            <a:spLocks xmlns:a="http://schemas.openxmlformats.org/drawingml/2006/main" noGrp="1"/>
          </p:cNvSpPr>
          <p:nvPr/>
        </p:nvSpPr>
        <p:spPr>
          <a:xfrm xmlns:a="http://schemas.openxmlformats.org/drawingml/2006/main">
            <a:off x="514350" y="3810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0">
                <a:solidFill>
                  <a:srgbClr val="191817"/>
                </a:solidFill>
                <a:latin typeface="Times New Roman"/>
                <a:ea typeface="Times New Roman"/>
                <a:cs typeface="Times New Roman"/>
              </a:defRPr>
            </a:defPPr>
          </a:lstStyle>
          <a:p xmlns:a="http://schemas.openxmlformats.org/drawingml/2006/main">
            <a:pPr algn="l">
              <a:lnSpc>
                <a:spcPct val="94000"/>
              </a:lnSpc>
              <a:buNone/>
              <a:defRPr sz="3225" b="0">
                <a:solidFill>
                  <a:srgbClr val="191817"/>
                </a:solidFill>
                <a:latin typeface="Times New Roman"/>
                <a:ea typeface="Times New Roman"/>
                <a:cs typeface="Times New Roman"/>
              </a:defRPr>
            </a:pPr>
            <a:r>
              <a:rPr sz="3225" b="0">
                <a:solidFill>
                  <a:srgbClr val="191817"/>
                </a:solidFill>
                <a:latin typeface="Times New Roman"/>
                <a:ea typeface="Times New Roman"/>
                <a:cs typeface="Times New Roman"/>
              </a:rPr>
              <a:t>RUN changes the trust boundary</a:t>
            </a:r>
          </a:p>
        </p:txBody>
      </p:sp>
      <p:sp>
        <p:nvSpPr>
          <p:cNvPr id="2" name="">
            <a:extLst xmlns:a="http://schemas.openxmlformats.org/drawingml/2006/main">
              <a:ext uri="{FF2B5EF4-FFF2-40B4-BE49-F238E27FC236}">
                <a16:creationId xmlns:a16="http://schemas.microsoft.com/office/drawing/2014/main" id="{D863DBBD-D537-4DC9-B3D8-DD617D1DBFFA}"/>
              </a:ext>
            </a:extLst>
          </p:cNvPr>
          <p:cNvSpPr>
            <a:spLocks xmlns:a="http://schemas.openxmlformats.org/drawingml/2006/main" noGrp="1"/>
          </p:cNvSpPr>
          <p:nvPr/>
        </p:nvSpPr>
        <p:spPr>
          <a:xfrm xmlns:a="http://schemas.openxmlformats.org/drawingml/2006/main">
            <a:off x="1619250" y="12192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0">
                <a:solidFill>
                  <a:srgbClr val="5B1A1D"/>
                </a:solidFill>
                <a:latin typeface="Times New Roman"/>
                <a:ea typeface="Times New Roman"/>
                <a:cs typeface="Times New Roman"/>
              </a:defRPr>
            </a:defPPr>
          </a:lstStyle>
          <a:p xmlns:a="http://schemas.openxmlformats.org/drawingml/2006/main">
            <a:pPr algn="ctr">
              <a:lnSpc>
                <a:spcPct val="100000"/>
              </a:lnSpc>
              <a:buNone/>
              <a:defRPr sz="2250" b="0">
                <a:solidFill>
                  <a:srgbClr val="5B1A1D"/>
                </a:solidFill>
                <a:latin typeface="Times New Roman"/>
                <a:ea typeface="Times New Roman"/>
                <a:cs typeface="Times New Roman"/>
              </a:defRPr>
            </a:pPr>
            <a:r>
              <a:rPr sz="2250" b="0">
                <a:solidFill>
                  <a:srgbClr val="5B1A1D"/>
                </a:solidFill>
                <a:latin typeface="Times New Roman"/>
                <a:ea typeface="Times New Roman"/>
                <a:cs typeface="Times New Roman"/>
              </a:rPr>
              <a:t>Centralized training</a:t>
            </a:r>
          </a:p>
        </p:txBody>
      </p:sp>
      <p:sp>
        <p:nvSpPr>
          <p:cNvPr id="3" name="">
            <a:extLst xmlns:a="http://schemas.openxmlformats.org/drawingml/2006/main">
              <a:ext uri="{FF2B5EF4-FFF2-40B4-BE49-F238E27FC236}">
                <a16:creationId xmlns:a16="http://schemas.microsoft.com/office/drawing/2014/main" id="{59AB732C-5563-430F-9CD6-04B8B3AB86D6}"/>
              </a:ext>
            </a:extLst>
          </p:cNvPr>
          <p:cNvSpPr>
            <a:spLocks xmlns:a="http://schemas.openxmlformats.org/drawingml/2006/main" noGrp="1"/>
          </p:cNvSpPr>
          <p:nvPr/>
        </p:nvSpPr>
        <p:spPr>
          <a:xfrm xmlns:a="http://schemas.openxmlformats.org/drawingml/2006/main">
            <a:off x="6953250" y="1219200"/>
            <a:ext cx="361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250" b="0">
                <a:solidFill>
                  <a:srgbClr val="2F74FF"/>
                </a:solidFill>
                <a:latin typeface="Times New Roman"/>
                <a:ea typeface="Times New Roman"/>
                <a:cs typeface="Times New Roman"/>
              </a:defRPr>
            </a:defPPr>
          </a:lstStyle>
          <a:p xmlns:a="http://schemas.openxmlformats.org/drawingml/2006/main">
            <a:pPr algn="ctr">
              <a:lnSpc>
                <a:spcPct val="100000"/>
              </a:lnSpc>
              <a:buNone/>
              <a:defRPr sz="2250" b="0">
                <a:solidFill>
                  <a:srgbClr val="2F74FF"/>
                </a:solidFill>
                <a:latin typeface="Times New Roman"/>
                <a:ea typeface="Times New Roman"/>
                <a:cs typeface="Times New Roman"/>
              </a:defRPr>
            </a:pPr>
            <a:r>
              <a:rPr sz="2250" b="0">
                <a:solidFill>
                  <a:srgbClr val="2F74FF"/>
                </a:solidFill>
                <a:latin typeface="Times New Roman"/>
                <a:ea typeface="Times New Roman"/>
                <a:cs typeface="Times New Roman"/>
              </a:rPr>
              <a:t>Training with RUN</a:t>
            </a:r>
          </a:p>
        </p:txBody>
      </p:sp>
      <p:sp>
        <p:nvSpPr>
          <p:cNvPr id="4" name="">
            <a:extLst xmlns:a="http://schemas.openxmlformats.org/drawingml/2006/main">
              <a:ext uri="{FF2B5EF4-FFF2-40B4-BE49-F238E27FC236}">
                <a16:creationId xmlns:a16="http://schemas.microsoft.com/office/drawing/2014/main" id="{3C3EEE2A-AF02-4816-B877-7C6AB2737D14}"/>
              </a:ext>
            </a:extLst>
          </p:cNvPr>
          <p:cNvSpPr>
            <a:spLocks xmlns:a="http://schemas.openxmlformats.org/drawingml/2006/main" noGrp="1"/>
          </p:cNvSpPr>
          <p:nvPr/>
        </p:nvSpPr>
        <p:spPr>
          <a:xfrm xmlns:a="http://schemas.openxmlformats.org/drawingml/2006/main">
            <a:off x="6096000" y="1809750"/>
            <a:ext cx="0" cy="3219450"/>
          </a:xfrm>
          <a:prstGeom xmlns:a="http://schemas.openxmlformats.org/drawingml/2006/main" prst="line">
            <a:avLst/>
          </a:prstGeom>
          <a:noFill xmlns:a="http://schemas.openxmlformats.org/drawingml/2006/main"/>
          <a:ln xmlns:a="http://schemas.openxmlformats.org/drawingml/2006/main" w="14288">
            <a:solidFill>
              <a:srgbClr val="D9D5CF"/>
            </a:solidFill>
            <a:prstDash val="solid"/>
          </a:ln>
        </p:spPr>
      </p:sp>
      <p:sp>
        <p:nvSpPr>
          <p:cNvPr id="5" name="">
            <a:extLst xmlns:a="http://schemas.openxmlformats.org/drawingml/2006/main">
              <a:ext uri="{FF2B5EF4-FFF2-40B4-BE49-F238E27FC236}">
                <a16:creationId xmlns:a16="http://schemas.microsoft.com/office/drawing/2014/main" id="{DC7DB9BC-7DE8-49F0-A33C-7220563366CD}"/>
              </a:ext>
            </a:extLst>
          </p:cNvPr>
          <p:cNvSpPr>
            <a:spLocks xmlns:a="http://schemas.openxmlformats.org/drawingml/2006/main" noGrp="1"/>
          </p:cNvSpPr>
          <p:nvPr/>
        </p:nvSpPr>
        <p:spPr>
          <a:xfrm xmlns:a="http://schemas.openxmlformats.org/drawingml/2006/main">
            <a:off x="523875" y="2076450"/>
            <a:ext cx="90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7736D"/>
                </a:solidFill>
                <a:latin typeface="Times New Roman"/>
                <a:ea typeface="Times New Roman"/>
                <a:cs typeface="Times New Roman"/>
              </a:defRPr>
            </a:defPPr>
          </a:lstStyle>
          <a:p xmlns:a="http://schemas.openxmlformats.org/drawingml/2006/main">
            <a:pPr algn="l">
              <a:lnSpc>
                <a:spcPct val="100000"/>
              </a:lnSpc>
              <a:buNone/>
              <a:defRPr sz="1125" b="1">
                <a:solidFill>
                  <a:srgbClr val="77736D"/>
                </a:solidFill>
                <a:latin typeface="Times New Roman"/>
                <a:ea typeface="Times New Roman"/>
                <a:cs typeface="Times New Roman"/>
              </a:defRPr>
            </a:pPr>
            <a:r>
              <a:rPr sz="1125" b="1">
                <a:solidFill>
                  <a:srgbClr val="77736D"/>
                </a:solidFill>
                <a:latin typeface="Times New Roman"/>
                <a:ea typeface="Times New Roman"/>
                <a:cs typeface="Times New Roman"/>
              </a:rPr>
              <a:t>DATA</a:t>
            </a:r>
          </a:p>
        </p:txBody>
      </p:sp>
      <p:sp>
        <p:nvSpPr>
          <p:cNvPr id="6" name="">
            <a:extLst xmlns:a="http://schemas.openxmlformats.org/drawingml/2006/main">
              <a:ext uri="{FF2B5EF4-FFF2-40B4-BE49-F238E27FC236}">
                <a16:creationId xmlns:a16="http://schemas.microsoft.com/office/drawing/2014/main" id="{10D60738-16AA-40FE-95A4-296637F7D814}"/>
              </a:ext>
            </a:extLst>
          </p:cNvPr>
          <p:cNvSpPr>
            <a:spLocks xmlns:a="http://schemas.openxmlformats.org/drawingml/2006/main" noGrp="1"/>
          </p:cNvSpPr>
          <p:nvPr/>
        </p:nvSpPr>
        <p:spPr>
          <a:xfrm xmlns:a="http://schemas.openxmlformats.org/drawingml/2006/main">
            <a:off x="1619250" y="2038350"/>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91817"/>
                </a:solidFill>
                <a:latin typeface="Times New Roman"/>
                <a:ea typeface="Times New Roman"/>
                <a:cs typeface="Times New Roman"/>
              </a:defRPr>
            </a:defPPr>
          </a:lstStyle>
          <a:p xmlns:a="http://schemas.openxmlformats.org/drawingml/2006/main">
            <a:pPr algn="l">
              <a:lnSpc>
                <a:spcPct val="100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Raw records move to a third party</a:t>
            </a:r>
          </a:p>
        </p:txBody>
      </p:sp>
      <p:sp>
        <p:nvSpPr>
          <p:cNvPr id="7" name="">
            <a:extLst xmlns:a="http://schemas.openxmlformats.org/drawingml/2006/main">
              <a:ext uri="{FF2B5EF4-FFF2-40B4-BE49-F238E27FC236}">
                <a16:creationId xmlns:a16="http://schemas.microsoft.com/office/drawing/2014/main" id="{AC47C11D-FFF6-4429-A3D0-F7700E666CDD}"/>
              </a:ext>
            </a:extLst>
          </p:cNvPr>
          <p:cNvSpPr>
            <a:spLocks xmlns:a="http://schemas.openxmlformats.org/drawingml/2006/main" noGrp="1"/>
          </p:cNvSpPr>
          <p:nvPr/>
        </p:nvSpPr>
        <p:spPr>
          <a:xfrm xmlns:a="http://schemas.openxmlformats.org/drawingml/2006/main">
            <a:off x="6953250" y="2038350"/>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91817"/>
                </a:solidFill>
                <a:latin typeface="Times New Roman"/>
                <a:ea typeface="Times New Roman"/>
                <a:cs typeface="Times New Roman"/>
              </a:defRPr>
            </a:defPPr>
          </a:lstStyle>
          <a:p xmlns:a="http://schemas.openxmlformats.org/drawingml/2006/main">
            <a:pPr algn="l">
              <a:lnSpc>
                <a:spcPct val="100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Plaintext stays with the owner</a:t>
            </a:r>
          </a:p>
        </p:txBody>
      </p:sp>
      <p:sp>
        <p:nvSpPr>
          <p:cNvPr id="8" name="">
            <a:extLst xmlns:a="http://schemas.openxmlformats.org/drawingml/2006/main">
              <a:ext uri="{FF2B5EF4-FFF2-40B4-BE49-F238E27FC236}">
                <a16:creationId xmlns:a16="http://schemas.microsoft.com/office/drawing/2014/main" id="{B28409C2-287B-47CE-A78E-83EF289B8B1C}"/>
              </a:ext>
            </a:extLst>
          </p:cNvPr>
          <p:cNvSpPr>
            <a:spLocks xmlns:a="http://schemas.openxmlformats.org/drawingml/2006/main" noGrp="1"/>
          </p:cNvSpPr>
          <p:nvPr/>
        </p:nvSpPr>
        <p:spPr>
          <a:xfrm xmlns:a="http://schemas.openxmlformats.org/drawingml/2006/main">
            <a:off x="523875" y="2819400"/>
            <a:ext cx="4810125" cy="0"/>
          </a:xfrm>
          <a:prstGeom xmlns:a="http://schemas.openxmlformats.org/drawingml/2006/main" prst="line">
            <a:avLst/>
          </a:prstGeom>
          <a:noFill xmlns:a="http://schemas.openxmlformats.org/drawingml/2006/main"/>
          <a:ln xmlns:a="http://schemas.openxmlformats.org/drawingml/2006/main" w="9525">
            <a:solidFill>
              <a:srgbClr val="D9D5CF"/>
            </a:solidFill>
            <a:prstDash val="solid"/>
          </a:ln>
        </p:spPr>
      </p:sp>
      <p:sp>
        <p:nvSpPr>
          <p:cNvPr id="9" name="">
            <a:extLst xmlns:a="http://schemas.openxmlformats.org/drawingml/2006/main">
              <a:ext uri="{FF2B5EF4-FFF2-40B4-BE49-F238E27FC236}">
                <a16:creationId xmlns:a16="http://schemas.microsoft.com/office/drawing/2014/main" id="{EE704A53-E559-4E52-BCCF-8AF728C9EF94}"/>
              </a:ext>
            </a:extLst>
          </p:cNvPr>
          <p:cNvSpPr>
            <a:spLocks xmlns:a="http://schemas.openxmlformats.org/drawingml/2006/main" noGrp="1"/>
          </p:cNvSpPr>
          <p:nvPr/>
        </p:nvSpPr>
        <p:spPr>
          <a:xfrm xmlns:a="http://schemas.openxmlformats.org/drawingml/2006/main">
            <a:off x="6953250" y="2819400"/>
            <a:ext cx="4095750" cy="0"/>
          </a:xfrm>
          <a:prstGeom xmlns:a="http://schemas.openxmlformats.org/drawingml/2006/main" prst="line">
            <a:avLst/>
          </a:prstGeom>
          <a:noFill xmlns:a="http://schemas.openxmlformats.org/drawingml/2006/main"/>
          <a:ln xmlns:a="http://schemas.openxmlformats.org/drawingml/2006/main" w="9525">
            <a:solidFill>
              <a:srgbClr val="D9D5CF"/>
            </a:solidFill>
            <a:prstDash val="solid"/>
          </a:ln>
        </p:spPr>
      </p:sp>
      <p:sp>
        <p:nvSpPr>
          <p:cNvPr id="10" name="">
            <a:extLst xmlns:a="http://schemas.openxmlformats.org/drawingml/2006/main">
              <a:ext uri="{FF2B5EF4-FFF2-40B4-BE49-F238E27FC236}">
                <a16:creationId xmlns:a16="http://schemas.microsoft.com/office/drawing/2014/main" id="{028B72C4-0ABB-4CEF-AD5C-5B039FC8F912}"/>
              </a:ext>
            </a:extLst>
          </p:cNvPr>
          <p:cNvSpPr>
            <a:spLocks xmlns:a="http://schemas.openxmlformats.org/drawingml/2006/main" noGrp="1"/>
          </p:cNvSpPr>
          <p:nvPr/>
        </p:nvSpPr>
        <p:spPr>
          <a:xfrm xmlns:a="http://schemas.openxmlformats.org/drawingml/2006/main">
            <a:off x="523875" y="3143250"/>
            <a:ext cx="90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7736D"/>
                </a:solidFill>
                <a:latin typeface="Times New Roman"/>
                <a:ea typeface="Times New Roman"/>
                <a:cs typeface="Times New Roman"/>
              </a:defRPr>
            </a:defPPr>
          </a:lstStyle>
          <a:p xmlns:a="http://schemas.openxmlformats.org/drawingml/2006/main">
            <a:pPr algn="l">
              <a:lnSpc>
                <a:spcPct val="100000"/>
              </a:lnSpc>
              <a:buNone/>
              <a:defRPr sz="1125" b="1">
                <a:solidFill>
                  <a:srgbClr val="77736D"/>
                </a:solidFill>
                <a:latin typeface="Times New Roman"/>
                <a:ea typeface="Times New Roman"/>
                <a:cs typeface="Times New Roman"/>
              </a:defRPr>
            </a:pPr>
            <a:r>
              <a:rPr sz="1125" b="1">
                <a:solidFill>
                  <a:srgbClr val="77736D"/>
                </a:solidFill>
                <a:latin typeface="Times New Roman"/>
                <a:ea typeface="Times New Roman"/>
                <a:cs typeface="Times New Roman"/>
              </a:rPr>
              <a:t>EXECUTION</a:t>
            </a:r>
          </a:p>
        </p:txBody>
      </p:sp>
      <p:sp>
        <p:nvSpPr>
          <p:cNvPr id="11" name="">
            <a:extLst xmlns:a="http://schemas.openxmlformats.org/drawingml/2006/main">
              <a:ext uri="{FF2B5EF4-FFF2-40B4-BE49-F238E27FC236}">
                <a16:creationId xmlns:a16="http://schemas.microsoft.com/office/drawing/2014/main" id="{DA0E6A5F-7188-4801-ADDC-5B93273728C0}"/>
              </a:ext>
            </a:extLst>
          </p:cNvPr>
          <p:cNvSpPr>
            <a:spLocks xmlns:a="http://schemas.openxmlformats.org/drawingml/2006/main" noGrp="1"/>
          </p:cNvSpPr>
          <p:nvPr/>
        </p:nvSpPr>
        <p:spPr>
          <a:xfrm xmlns:a="http://schemas.openxmlformats.org/drawingml/2006/main">
            <a:off x="1619250" y="3105150"/>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91817"/>
                </a:solidFill>
                <a:latin typeface="Times New Roman"/>
                <a:ea typeface="Times New Roman"/>
                <a:cs typeface="Times New Roman"/>
              </a:defRPr>
            </a:defPPr>
          </a:lstStyle>
          <a:p xmlns:a="http://schemas.openxmlformats.org/drawingml/2006/main">
            <a:pPr algn="l">
              <a:lnSpc>
                <a:spcPct val="100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The trainer must see the data</a:t>
            </a:r>
          </a:p>
        </p:txBody>
      </p:sp>
      <p:sp>
        <p:nvSpPr>
          <p:cNvPr id="12" name="">
            <a:extLst xmlns:a="http://schemas.openxmlformats.org/drawingml/2006/main">
              <a:ext uri="{FF2B5EF4-FFF2-40B4-BE49-F238E27FC236}">
                <a16:creationId xmlns:a16="http://schemas.microsoft.com/office/drawing/2014/main" id="{AA72843F-E11A-44ED-80F9-F51564D3F97C}"/>
              </a:ext>
            </a:extLst>
          </p:cNvPr>
          <p:cNvSpPr>
            <a:spLocks xmlns:a="http://schemas.openxmlformats.org/drawingml/2006/main" noGrp="1"/>
          </p:cNvSpPr>
          <p:nvPr/>
        </p:nvSpPr>
        <p:spPr>
          <a:xfrm xmlns:a="http://schemas.openxmlformats.org/drawingml/2006/main">
            <a:off x="6953250" y="3105150"/>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91817"/>
                </a:solidFill>
                <a:latin typeface="Times New Roman"/>
                <a:ea typeface="Times New Roman"/>
                <a:cs typeface="Times New Roman"/>
              </a:defRPr>
            </a:defPPr>
          </a:lstStyle>
          <a:p xmlns:a="http://schemas.openxmlformats.org/drawingml/2006/main">
            <a:pPr algn="l">
              <a:lnSpc>
                <a:spcPct val="100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RUN Engine sees ciphertext and metadata</a:t>
            </a:r>
          </a:p>
        </p:txBody>
      </p:sp>
      <p:sp>
        <p:nvSpPr>
          <p:cNvPr id="13" name="">
            <a:extLst xmlns:a="http://schemas.openxmlformats.org/drawingml/2006/main">
              <a:ext uri="{FF2B5EF4-FFF2-40B4-BE49-F238E27FC236}">
                <a16:creationId xmlns:a16="http://schemas.microsoft.com/office/drawing/2014/main" id="{EEEEF84A-5E00-4AC9-BE45-2AFAA5306E04}"/>
              </a:ext>
            </a:extLst>
          </p:cNvPr>
          <p:cNvSpPr>
            <a:spLocks xmlns:a="http://schemas.openxmlformats.org/drawingml/2006/main" noGrp="1"/>
          </p:cNvSpPr>
          <p:nvPr/>
        </p:nvSpPr>
        <p:spPr>
          <a:xfrm xmlns:a="http://schemas.openxmlformats.org/drawingml/2006/main">
            <a:off x="523875" y="3886200"/>
            <a:ext cx="4810125" cy="0"/>
          </a:xfrm>
          <a:prstGeom xmlns:a="http://schemas.openxmlformats.org/drawingml/2006/main" prst="line">
            <a:avLst/>
          </a:prstGeom>
          <a:noFill xmlns:a="http://schemas.openxmlformats.org/drawingml/2006/main"/>
          <a:ln xmlns:a="http://schemas.openxmlformats.org/drawingml/2006/main" w="9525">
            <a:solidFill>
              <a:srgbClr val="D9D5CF"/>
            </a:solidFill>
            <a:prstDash val="solid"/>
          </a:ln>
        </p:spPr>
      </p:sp>
      <p:sp>
        <p:nvSpPr>
          <p:cNvPr id="14" name="">
            <a:extLst xmlns:a="http://schemas.openxmlformats.org/drawingml/2006/main">
              <a:ext uri="{FF2B5EF4-FFF2-40B4-BE49-F238E27FC236}">
                <a16:creationId xmlns:a16="http://schemas.microsoft.com/office/drawing/2014/main" id="{FFDF8F60-F355-4AD2-A40A-499F738EF87A}"/>
              </a:ext>
            </a:extLst>
          </p:cNvPr>
          <p:cNvSpPr>
            <a:spLocks xmlns:a="http://schemas.openxmlformats.org/drawingml/2006/main" noGrp="1"/>
          </p:cNvSpPr>
          <p:nvPr/>
        </p:nvSpPr>
        <p:spPr>
          <a:xfrm xmlns:a="http://schemas.openxmlformats.org/drawingml/2006/main">
            <a:off x="6953250" y="3886200"/>
            <a:ext cx="4095750" cy="0"/>
          </a:xfrm>
          <a:prstGeom xmlns:a="http://schemas.openxmlformats.org/drawingml/2006/main" prst="line">
            <a:avLst/>
          </a:prstGeom>
          <a:noFill xmlns:a="http://schemas.openxmlformats.org/drawingml/2006/main"/>
          <a:ln xmlns:a="http://schemas.openxmlformats.org/drawingml/2006/main" w="9525">
            <a:solidFill>
              <a:srgbClr val="D9D5CF"/>
            </a:solidFill>
            <a:prstDash val="solid"/>
          </a:ln>
        </p:spPr>
      </p:sp>
      <p:sp>
        <p:nvSpPr>
          <p:cNvPr id="15" name="">
            <a:extLst xmlns:a="http://schemas.openxmlformats.org/drawingml/2006/main">
              <a:ext uri="{FF2B5EF4-FFF2-40B4-BE49-F238E27FC236}">
                <a16:creationId xmlns:a16="http://schemas.microsoft.com/office/drawing/2014/main" id="{BDB162B5-86CA-418F-BDFE-AEDC93716A2C}"/>
              </a:ext>
            </a:extLst>
          </p:cNvPr>
          <p:cNvSpPr>
            <a:spLocks xmlns:a="http://schemas.openxmlformats.org/drawingml/2006/main" noGrp="1"/>
          </p:cNvSpPr>
          <p:nvPr/>
        </p:nvSpPr>
        <p:spPr>
          <a:xfrm xmlns:a="http://schemas.openxmlformats.org/drawingml/2006/main">
            <a:off x="523875" y="4210050"/>
            <a:ext cx="9048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125" b="1">
                <a:solidFill>
                  <a:srgbClr val="77736D"/>
                </a:solidFill>
                <a:latin typeface="Times New Roman"/>
                <a:ea typeface="Times New Roman"/>
                <a:cs typeface="Times New Roman"/>
              </a:defRPr>
            </a:defPPr>
          </a:lstStyle>
          <a:p xmlns:a="http://schemas.openxmlformats.org/drawingml/2006/main">
            <a:pPr algn="l">
              <a:lnSpc>
                <a:spcPct val="100000"/>
              </a:lnSpc>
              <a:buNone/>
              <a:defRPr sz="1125" b="1">
                <a:solidFill>
                  <a:srgbClr val="77736D"/>
                </a:solidFill>
                <a:latin typeface="Times New Roman"/>
                <a:ea typeface="Times New Roman"/>
                <a:cs typeface="Times New Roman"/>
              </a:defRPr>
            </a:pPr>
            <a:r>
              <a:rPr sz="1125" b="1">
                <a:solidFill>
                  <a:srgbClr val="77736D"/>
                </a:solidFill>
                <a:latin typeface="Times New Roman"/>
                <a:ea typeface="Times New Roman"/>
                <a:cs typeface="Times New Roman"/>
              </a:rPr>
              <a:t>CONTROL</a:t>
            </a:r>
          </a:p>
        </p:txBody>
      </p:sp>
      <p:sp>
        <p:nvSpPr>
          <p:cNvPr id="16" name="">
            <a:extLst xmlns:a="http://schemas.openxmlformats.org/drawingml/2006/main">
              <a:ext uri="{FF2B5EF4-FFF2-40B4-BE49-F238E27FC236}">
                <a16:creationId xmlns:a16="http://schemas.microsoft.com/office/drawing/2014/main" id="{D9390A75-6643-498D-91D2-FE5815A93083}"/>
              </a:ext>
            </a:extLst>
          </p:cNvPr>
          <p:cNvSpPr>
            <a:spLocks xmlns:a="http://schemas.openxmlformats.org/drawingml/2006/main" noGrp="1"/>
          </p:cNvSpPr>
          <p:nvPr/>
        </p:nvSpPr>
        <p:spPr>
          <a:xfrm xmlns:a="http://schemas.openxmlformats.org/drawingml/2006/main">
            <a:off x="1619250" y="4171950"/>
            <a:ext cx="3714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91817"/>
                </a:solidFill>
                <a:latin typeface="Times New Roman"/>
                <a:ea typeface="Times New Roman"/>
                <a:cs typeface="Times New Roman"/>
              </a:defRPr>
            </a:defPPr>
          </a:lstStyle>
          <a:p xmlns:a="http://schemas.openxmlformats.org/drawingml/2006/main">
            <a:pPr algn="l">
              <a:lnSpc>
                <a:spcPct val="100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A broad agreement governs future use</a:t>
            </a:r>
          </a:p>
        </p:txBody>
      </p:sp>
      <p:sp>
        <p:nvSpPr>
          <p:cNvPr id="17" name="">
            <a:extLst xmlns:a="http://schemas.openxmlformats.org/drawingml/2006/main">
              <a:ext uri="{FF2B5EF4-FFF2-40B4-BE49-F238E27FC236}">
                <a16:creationId xmlns:a16="http://schemas.microsoft.com/office/drawing/2014/main" id="{B9D5CD52-CD64-4D8F-9631-BF7BC20B8866}"/>
              </a:ext>
            </a:extLst>
          </p:cNvPr>
          <p:cNvSpPr>
            <a:spLocks xmlns:a="http://schemas.openxmlformats.org/drawingml/2006/main" noGrp="1"/>
          </p:cNvSpPr>
          <p:nvPr/>
        </p:nvSpPr>
        <p:spPr>
          <a:xfrm xmlns:a="http://schemas.openxmlformats.org/drawingml/2006/main">
            <a:off x="6953250" y="4171950"/>
            <a:ext cx="4095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1725" b="0">
                <a:solidFill>
                  <a:srgbClr val="191817"/>
                </a:solidFill>
                <a:latin typeface="Times New Roman"/>
                <a:ea typeface="Times New Roman"/>
                <a:cs typeface="Times New Roman"/>
              </a:defRPr>
            </a:defPPr>
          </a:lstStyle>
          <a:p xmlns:a="http://schemas.openxmlformats.org/drawingml/2006/main">
            <a:pPr algn="l">
              <a:lnSpc>
                <a:spcPct val="100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Each program and output requires approval</a:t>
            </a:r>
          </a:p>
        </p:txBody>
      </p:sp>
      <p:sp>
        <p:nvSpPr>
          <p:cNvPr id="18" name="">
            <a:extLst xmlns:a="http://schemas.openxmlformats.org/drawingml/2006/main">
              <a:ext uri="{FF2B5EF4-FFF2-40B4-BE49-F238E27FC236}">
                <a16:creationId xmlns:a16="http://schemas.microsoft.com/office/drawing/2014/main" id="{3D96091A-F03C-4C86-9935-9253FD11A6B9}"/>
              </a:ext>
            </a:extLst>
          </p:cNvPr>
          <p:cNvSpPr>
            <a:spLocks xmlns:a="http://schemas.openxmlformats.org/drawingml/2006/main" noGrp="1"/>
          </p:cNvSpPr>
          <p:nvPr/>
        </p:nvSpPr>
        <p:spPr>
          <a:xfrm xmlns:a="http://schemas.openxmlformats.org/drawingml/2006/main">
            <a:off x="2286000" y="5467350"/>
            <a:ext cx="7620000" cy="552450"/>
          </a:xfrm>
          <a:prstGeom xmlns:a="http://schemas.openxmlformats.org/drawingml/2006/main" prst="roundRect">
            <a:avLst>
              <a:gd name="adj" fmla="val 17241"/>
            </a:avLst>
          </a:prstGeom>
          <a:solidFill xmlns:a="http://schemas.openxmlformats.org/drawingml/2006/main">
            <a:srgbClr val="E8F6EF"/>
          </a:solidFill>
          <a:ln xmlns:a="http://schemas.openxmlformats.org/drawingml/2006/main" w="9525">
            <a:solidFill>
              <a:srgbClr val="14A866"/>
            </a:solidFill>
            <a:prstDash val="solid"/>
          </a:ln>
        </p:spPr>
        <p:txBody>
          <a:bodyPr xmlns:a="http://schemas.openxmlformats.org/drawingml/2006/main" wrap="square" lIns="114300" tIns="114300" rIns="114300" bIns="114300" anchor="ctr">
            <a:normAutofit fontScale="92326"/>
          </a:bodyPr>
          <a:lstStyle xmlns:a="http://schemas.openxmlformats.org/drawingml/2006/main">
            <a:defPPr algn="ctr">
              <a:defRPr sz="1875" b="0">
                <a:solidFill>
                  <a:srgbClr val="14A866"/>
                </a:solidFill>
                <a:latin typeface="Times New Roman"/>
                <a:ea typeface="Times New Roman"/>
                <a:cs typeface="Times New Roman"/>
              </a:defRPr>
            </a:defPPr>
          </a:lstStyle>
          <a:p xmlns:a="http://schemas.openxmlformats.org/drawingml/2006/main">
            <a:pPr algn="ctr">
              <a:lnSpc>
                <a:spcPct val="100000"/>
              </a:lnSpc>
              <a:buNone/>
              <a:defRPr sz="1875" b="0">
                <a:solidFill>
                  <a:srgbClr val="14A866"/>
                </a:solidFill>
                <a:latin typeface="Times New Roman"/>
                <a:ea typeface="Times New Roman"/>
                <a:cs typeface="Times New Roman"/>
              </a:defRPr>
            </a:pPr>
            <a:r>
              <a:rPr sz="1875" b="0">
                <a:solidFill>
                  <a:srgbClr val="14A866"/>
                </a:solidFill>
                <a:latin typeface="Times New Roman"/>
                <a:ea typeface="Times New Roman"/>
                <a:cs typeface="Times New Roman"/>
              </a:rPr>
              <a:t>RUN can make more institutions available where raw data transfer is unacceptable.</a:t>
            </a:r>
          </a:p>
        </p:txBody>
      </p:sp>
      <p:sp>
        <p:nvSpPr>
          <p:cNvPr id="19" name="slide-6-folio">
            <a:extLst xmlns:a="http://schemas.openxmlformats.org/drawingml/2006/main">
              <a:ext uri="{FF2B5EF4-FFF2-40B4-BE49-F238E27FC236}">
                <a16:creationId xmlns:a16="http://schemas.microsoft.com/office/drawing/2014/main" id="{FE5BBEEC-E5FF-454F-A8E5-A279B0311259}"/>
              </a:ext>
            </a:extLst>
          </p:cNvPr>
          <p:cNvSpPr>
            <a:spLocks xmlns:a="http://schemas.openxmlformats.org/drawingml/2006/main" noGrp="1"/>
          </p:cNvSpPr>
          <p:nvPr/>
        </p:nvSpPr>
        <p:spPr>
          <a:xfrm xmlns:a="http://schemas.openxmlformats.org/drawingml/2006/main">
            <a:off x="11096625" y="6477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77736D"/>
                </a:solidFill>
                <a:latin typeface="Times New Roman"/>
                <a:ea typeface="Times New Roman"/>
                <a:cs typeface="Times New Roman"/>
              </a:defRPr>
            </a:defPPr>
          </a:lstStyle>
          <a:p xmlns:a="http://schemas.openxmlformats.org/drawingml/2006/main">
            <a:pPr algn="r">
              <a:lnSpc>
                <a:spcPct val="100000"/>
              </a:lnSpc>
              <a:buNone/>
              <a:defRPr sz="975" b="0">
                <a:solidFill>
                  <a:srgbClr val="77736D"/>
                </a:solidFill>
                <a:latin typeface="Times New Roman"/>
                <a:ea typeface="Times New Roman"/>
                <a:cs typeface="Times New Roman"/>
              </a:defRPr>
            </a:pPr>
            <a:r>
              <a:rPr sz="975" b="0">
                <a:solidFill>
                  <a:srgbClr val="77736D"/>
                </a:solidFill>
                <a:latin typeface="Times New Roman"/>
                <a:ea typeface="Times New Roman"/>
                <a:cs typeface="Times New Roman"/>
              </a:rPr>
              <a:t>06</a:t>
            </a:r>
          </a:p>
        </p:txBody>
      </p:sp>
    </p:spTree>
    <p:extLst>
      <p:ext uri="{BB962C8B-B14F-4D97-AF65-F5344CB8AC3E}">
        <p14:creationId xmlns:p14="http://schemas.microsoft.com/office/powerpoint/2010/main" val="923035683"/>
      </p:ext>
    </p:extLst>
  </p:cSld>
</p:sld>
</file>

<file path=ppt/slides/slide7.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3" name="slide-7-title">
            <a:extLst xmlns:a="http://schemas.openxmlformats.org/drawingml/2006/main">
              <a:ext uri="{FF2B5EF4-FFF2-40B4-BE49-F238E27FC236}">
                <a16:creationId xmlns:a16="http://schemas.microsoft.com/office/drawing/2014/main" id="{13A8BDCC-EDF7-4A37-9DFE-DC93EFCC2545}"/>
              </a:ext>
            </a:extLst>
          </p:cNvPr>
          <p:cNvSpPr>
            <a:spLocks xmlns:a="http://schemas.openxmlformats.org/drawingml/2006/main" noGrp="1"/>
          </p:cNvSpPr>
          <p:nvPr/>
        </p:nvSpPr>
        <p:spPr>
          <a:xfrm xmlns:a="http://schemas.openxmlformats.org/drawingml/2006/main">
            <a:off x="514350" y="3810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0">
                <a:solidFill>
                  <a:srgbClr val="191817"/>
                </a:solidFill>
                <a:latin typeface="Times New Roman"/>
                <a:ea typeface="Times New Roman"/>
                <a:cs typeface="Times New Roman"/>
              </a:defRPr>
            </a:defPPr>
          </a:lstStyle>
          <a:p xmlns:a="http://schemas.openxmlformats.org/drawingml/2006/main">
            <a:pPr algn="l">
              <a:lnSpc>
                <a:spcPct val="94000"/>
              </a:lnSpc>
              <a:buNone/>
              <a:defRPr sz="3225" b="0">
                <a:solidFill>
                  <a:srgbClr val="191817"/>
                </a:solidFill>
                <a:latin typeface="Times New Roman"/>
                <a:ea typeface="Times New Roman"/>
                <a:cs typeface="Times New Roman"/>
              </a:defRPr>
            </a:pPr>
            <a:r>
              <a:rPr sz="3225" b="0">
                <a:solidFill>
                  <a:srgbClr val="191817"/>
                </a:solidFill>
                <a:latin typeface="Times New Roman"/>
                <a:ea typeface="Times New Roman"/>
                <a:cs typeface="Times New Roman"/>
              </a:rPr>
              <a:t>Three core revenue streams</a:t>
            </a:r>
          </a:p>
        </p:txBody>
      </p:sp>
      <p:sp>
        <p:nvSpPr>
          <p:cNvPr id="2" name="">
            <a:extLst xmlns:a="http://schemas.openxmlformats.org/drawingml/2006/main">
              <a:ext uri="{FF2B5EF4-FFF2-40B4-BE49-F238E27FC236}">
                <a16:creationId xmlns:a16="http://schemas.microsoft.com/office/drawing/2014/main" id="{B2931A65-7850-446A-B696-2B77D7C21D49}"/>
              </a:ext>
            </a:extLst>
          </p:cNvPr>
          <p:cNvSpPr>
            <a:spLocks xmlns:a="http://schemas.openxmlformats.org/drawingml/2006/main" noGrp="1"/>
          </p:cNvSpPr>
          <p:nvPr/>
        </p:nvSpPr>
        <p:spPr>
          <a:xfrm xmlns:a="http://schemas.openxmlformats.org/drawingml/2006/main">
            <a:off x="523875" y="1428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5B1A1D"/>
                </a:solidFill>
                <a:latin typeface="Times New Roman"/>
                <a:ea typeface="Times New Roman"/>
                <a:cs typeface="Times New Roman"/>
              </a:defRPr>
            </a:defPPr>
          </a:lstStyle>
          <a:p xmlns:a="http://schemas.openxmlformats.org/drawingml/2006/main">
            <a:pPr algn="l">
              <a:lnSpc>
                <a:spcPct val="100000"/>
              </a:lnSpc>
              <a:buNone/>
              <a:defRPr sz="2250" b="1">
                <a:solidFill>
                  <a:srgbClr val="5B1A1D"/>
                </a:solidFill>
                <a:latin typeface="Times New Roman"/>
                <a:ea typeface="Times New Roman"/>
                <a:cs typeface="Times New Roman"/>
              </a:defRPr>
            </a:pPr>
            <a:r>
              <a:rPr sz="2250" b="1">
                <a:solidFill>
                  <a:srgbClr val="5B1A1D"/>
                </a:solidFill>
                <a:latin typeface="Times New Roman"/>
                <a:ea typeface="Times New Roman"/>
                <a:cs typeface="Times New Roman"/>
              </a:rPr>
              <a:t>RUN Exchange</a:t>
            </a:r>
          </a:p>
        </p:txBody>
      </p:sp>
      <p:sp>
        <p:nvSpPr>
          <p:cNvPr id="3" name="">
            <a:extLst xmlns:a="http://schemas.openxmlformats.org/drawingml/2006/main">
              <a:ext uri="{FF2B5EF4-FFF2-40B4-BE49-F238E27FC236}">
                <a16:creationId xmlns:a16="http://schemas.microsoft.com/office/drawing/2014/main" id="{7616C4BD-26DB-497C-88D3-47CFEF7D118F}"/>
              </a:ext>
            </a:extLst>
          </p:cNvPr>
          <p:cNvSpPr>
            <a:spLocks xmlns:a="http://schemas.openxmlformats.org/drawingml/2006/main" noGrp="1"/>
          </p:cNvSpPr>
          <p:nvPr/>
        </p:nvSpPr>
        <p:spPr>
          <a:xfrm xmlns:a="http://schemas.openxmlformats.org/drawingml/2006/main">
            <a:off x="523875" y="2143125"/>
            <a:ext cx="3143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91817"/>
                </a:solidFill>
                <a:latin typeface="Times New Roman"/>
                <a:ea typeface="Times New Roman"/>
                <a:cs typeface="Times New Roman"/>
              </a:defRPr>
            </a:defPPr>
          </a:lstStyle>
          <a:p xmlns:a="http://schemas.openxmlformats.org/drawingml/2006/main">
            <a:pPr algn="l">
              <a:lnSpc>
                <a:spcPct val="112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A buyer pays for the right to run an approved workload against protected data.</a:t>
            </a:r>
          </a:p>
          <a:p xmlns:a="http://schemas.openxmlformats.org/drawingml/2006/main">
            <a:r>
              <a:t/>
            </a:r>
          </a:p>
          <a:p xmlns:a="http://schemas.openxmlformats.org/drawingml/2006/main">
            <a:pPr algn="l">
              <a:lnSpc>
                <a:spcPct val="112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RUN retains a marketplace fee and distributes the provider pool.</a:t>
            </a:r>
          </a:p>
        </p:txBody>
      </p:sp>
      <p:sp>
        <p:nvSpPr>
          <p:cNvPr id="4" name="">
            <a:extLst xmlns:a="http://schemas.openxmlformats.org/drawingml/2006/main">
              <a:ext uri="{FF2B5EF4-FFF2-40B4-BE49-F238E27FC236}">
                <a16:creationId xmlns:a16="http://schemas.microsoft.com/office/drawing/2014/main" id="{7A766B04-C4E9-437A-BE3E-B8005FECC415}"/>
              </a:ext>
            </a:extLst>
          </p:cNvPr>
          <p:cNvSpPr>
            <a:spLocks xmlns:a="http://schemas.openxmlformats.org/drawingml/2006/main" noGrp="1"/>
          </p:cNvSpPr>
          <p:nvPr/>
        </p:nvSpPr>
        <p:spPr>
          <a:xfrm xmlns:a="http://schemas.openxmlformats.org/drawingml/2006/main">
            <a:off x="3857625" y="1381125"/>
            <a:ext cx="0" cy="3143250"/>
          </a:xfrm>
          <a:prstGeom xmlns:a="http://schemas.openxmlformats.org/drawingml/2006/main" prst="line">
            <a:avLst/>
          </a:prstGeom>
          <a:noFill xmlns:a="http://schemas.openxmlformats.org/drawingml/2006/main"/>
          <a:ln xmlns:a="http://schemas.openxmlformats.org/drawingml/2006/main" w="9525">
            <a:solidFill>
              <a:srgbClr val="D9D5CF"/>
            </a:solidFill>
            <a:prstDash val="solid"/>
          </a:ln>
        </p:spPr>
      </p:sp>
      <p:sp>
        <p:nvSpPr>
          <p:cNvPr id="5" name="">
            <a:extLst xmlns:a="http://schemas.openxmlformats.org/drawingml/2006/main">
              <a:ext uri="{FF2B5EF4-FFF2-40B4-BE49-F238E27FC236}">
                <a16:creationId xmlns:a16="http://schemas.microsoft.com/office/drawing/2014/main" id="{81F3A4EA-C151-431F-BCC6-A06F095DEDFC}"/>
              </a:ext>
            </a:extLst>
          </p:cNvPr>
          <p:cNvSpPr>
            <a:spLocks xmlns:a="http://schemas.openxmlformats.org/drawingml/2006/main" noGrp="1"/>
          </p:cNvSpPr>
          <p:nvPr/>
        </p:nvSpPr>
        <p:spPr>
          <a:xfrm xmlns:a="http://schemas.openxmlformats.org/drawingml/2006/main">
            <a:off x="4143375" y="1428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2F74FF"/>
                </a:solidFill>
                <a:latin typeface="Times New Roman"/>
                <a:ea typeface="Times New Roman"/>
                <a:cs typeface="Times New Roman"/>
              </a:defRPr>
            </a:defPPr>
          </a:lstStyle>
          <a:p xmlns:a="http://schemas.openxmlformats.org/drawingml/2006/main">
            <a:pPr algn="l">
              <a:lnSpc>
                <a:spcPct val="100000"/>
              </a:lnSpc>
              <a:buNone/>
              <a:defRPr sz="2250" b="1">
                <a:solidFill>
                  <a:srgbClr val="2F74FF"/>
                </a:solidFill>
                <a:latin typeface="Times New Roman"/>
                <a:ea typeface="Times New Roman"/>
                <a:cs typeface="Times New Roman"/>
              </a:defRPr>
            </a:pPr>
            <a:r>
              <a:rPr sz="2250" b="1">
                <a:solidFill>
                  <a:srgbClr val="2F74FF"/>
                </a:solidFill>
                <a:latin typeface="Times New Roman"/>
                <a:ea typeface="Times New Roman"/>
                <a:cs typeface="Times New Roman"/>
              </a:rPr>
              <a:t>RUN Engine</a:t>
            </a:r>
          </a:p>
        </p:txBody>
      </p:sp>
      <p:sp>
        <p:nvSpPr>
          <p:cNvPr id="6" name="">
            <a:extLst xmlns:a="http://schemas.openxmlformats.org/drawingml/2006/main">
              <a:ext uri="{FF2B5EF4-FFF2-40B4-BE49-F238E27FC236}">
                <a16:creationId xmlns:a16="http://schemas.microsoft.com/office/drawing/2014/main" id="{48B487A0-0E2A-4E73-BFFA-AA9F61DF18FF}"/>
              </a:ext>
            </a:extLst>
          </p:cNvPr>
          <p:cNvSpPr>
            <a:spLocks xmlns:a="http://schemas.openxmlformats.org/drawingml/2006/main" noGrp="1"/>
          </p:cNvSpPr>
          <p:nvPr/>
        </p:nvSpPr>
        <p:spPr>
          <a:xfrm xmlns:a="http://schemas.openxmlformats.org/drawingml/2006/main">
            <a:off x="4143375" y="2143125"/>
            <a:ext cx="3143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91817"/>
                </a:solidFill>
                <a:latin typeface="Times New Roman"/>
                <a:ea typeface="Times New Roman"/>
                <a:cs typeface="Times New Roman"/>
              </a:defRPr>
            </a:defPPr>
          </a:lstStyle>
          <a:p xmlns:a="http://schemas.openxmlformats.org/drawingml/2006/main">
            <a:pPr algn="l">
              <a:lnSpc>
                <a:spcPct val="112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Compilation, worker time, encrypted storage and transfer create metered compute revenue.</a:t>
            </a:r>
          </a:p>
          <a:p xmlns:a="http://schemas.openxmlformats.org/drawingml/2006/main">
            <a:r>
              <a:t/>
            </a:r>
          </a:p>
          <a:p xmlns:a="http://schemas.openxmlformats.org/drawingml/2006/main">
            <a:pPr algn="l">
              <a:lnSpc>
                <a:spcPct val="112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Dedicated capacity adds a premium.</a:t>
            </a:r>
          </a:p>
        </p:txBody>
      </p:sp>
      <p:sp>
        <p:nvSpPr>
          <p:cNvPr id="7" name="">
            <a:extLst xmlns:a="http://schemas.openxmlformats.org/drawingml/2006/main">
              <a:ext uri="{FF2B5EF4-FFF2-40B4-BE49-F238E27FC236}">
                <a16:creationId xmlns:a16="http://schemas.microsoft.com/office/drawing/2014/main" id="{51AFAE41-A88C-4A8D-A721-26CEDEF09D8A}"/>
              </a:ext>
            </a:extLst>
          </p:cNvPr>
          <p:cNvSpPr>
            <a:spLocks xmlns:a="http://schemas.openxmlformats.org/drawingml/2006/main" noGrp="1"/>
          </p:cNvSpPr>
          <p:nvPr/>
        </p:nvSpPr>
        <p:spPr>
          <a:xfrm xmlns:a="http://schemas.openxmlformats.org/drawingml/2006/main">
            <a:off x="7477125" y="1381125"/>
            <a:ext cx="0" cy="3143250"/>
          </a:xfrm>
          <a:prstGeom xmlns:a="http://schemas.openxmlformats.org/drawingml/2006/main" prst="line">
            <a:avLst/>
          </a:prstGeom>
          <a:noFill xmlns:a="http://schemas.openxmlformats.org/drawingml/2006/main"/>
          <a:ln xmlns:a="http://schemas.openxmlformats.org/drawingml/2006/main" w="9525">
            <a:solidFill>
              <a:srgbClr val="D9D5CF"/>
            </a:solidFill>
            <a:prstDash val="solid"/>
          </a:ln>
        </p:spPr>
      </p:sp>
      <p:sp>
        <p:nvSpPr>
          <p:cNvPr id="8" name="">
            <a:extLst xmlns:a="http://schemas.openxmlformats.org/drawingml/2006/main">
              <a:ext uri="{FF2B5EF4-FFF2-40B4-BE49-F238E27FC236}">
                <a16:creationId xmlns:a16="http://schemas.microsoft.com/office/drawing/2014/main" id="{3A18BCB8-4859-4BBF-A8F9-9500D8EFD13D}"/>
              </a:ext>
            </a:extLst>
          </p:cNvPr>
          <p:cNvSpPr>
            <a:spLocks xmlns:a="http://schemas.openxmlformats.org/drawingml/2006/main" noGrp="1"/>
          </p:cNvSpPr>
          <p:nvPr/>
        </p:nvSpPr>
        <p:spPr>
          <a:xfrm xmlns:a="http://schemas.openxmlformats.org/drawingml/2006/main">
            <a:off x="7762875" y="1428750"/>
            <a:ext cx="3143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2250" b="1">
                <a:solidFill>
                  <a:srgbClr val="14A866"/>
                </a:solidFill>
                <a:latin typeface="Times New Roman"/>
                <a:ea typeface="Times New Roman"/>
                <a:cs typeface="Times New Roman"/>
              </a:defRPr>
            </a:defPPr>
          </a:lstStyle>
          <a:p xmlns:a="http://schemas.openxmlformats.org/drawingml/2006/main">
            <a:pPr algn="l">
              <a:lnSpc>
                <a:spcPct val="100000"/>
              </a:lnSpc>
              <a:buNone/>
              <a:defRPr sz="2250" b="1">
                <a:solidFill>
                  <a:srgbClr val="14A866"/>
                </a:solidFill>
                <a:latin typeface="Times New Roman"/>
                <a:ea typeface="Times New Roman"/>
                <a:cs typeface="Times New Roman"/>
              </a:defRPr>
            </a:pPr>
            <a:r>
              <a:rPr sz="2250" b="1">
                <a:solidFill>
                  <a:srgbClr val="14A866"/>
                </a:solidFill>
                <a:latin typeface="Times New Roman"/>
                <a:ea typeface="Times New Roman"/>
                <a:cs typeface="Times New Roman"/>
              </a:rPr>
              <a:t>RUN Platform</a:t>
            </a:r>
          </a:p>
        </p:txBody>
      </p:sp>
      <p:sp>
        <p:nvSpPr>
          <p:cNvPr id="9" name="">
            <a:extLst xmlns:a="http://schemas.openxmlformats.org/drawingml/2006/main">
              <a:ext uri="{FF2B5EF4-FFF2-40B4-BE49-F238E27FC236}">
                <a16:creationId xmlns:a16="http://schemas.microsoft.com/office/drawing/2014/main" id="{D156FF0F-AE62-4BC5-989F-DFC7840AE7A7}"/>
              </a:ext>
            </a:extLst>
          </p:cNvPr>
          <p:cNvSpPr>
            <a:spLocks xmlns:a="http://schemas.openxmlformats.org/drawingml/2006/main" noGrp="1"/>
          </p:cNvSpPr>
          <p:nvPr/>
        </p:nvSpPr>
        <p:spPr>
          <a:xfrm xmlns:a="http://schemas.openxmlformats.org/drawingml/2006/main">
            <a:off x="7762875" y="2143125"/>
            <a:ext cx="314325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91817"/>
                </a:solidFill>
                <a:latin typeface="Times New Roman"/>
                <a:ea typeface="Times New Roman"/>
                <a:cs typeface="Times New Roman"/>
              </a:defRPr>
            </a:defPPr>
          </a:lstStyle>
          <a:p xmlns:a="http://schemas.openxmlformats.org/drawingml/2006/main">
            <a:pPr algn="l">
              <a:lnSpc>
                <a:spcPct val="112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Governance, RUN Nodes, audit, budgets and support sit inside an annual subscription.</a:t>
            </a:r>
          </a:p>
          <a:p xmlns:a="http://schemas.openxmlformats.org/drawingml/2006/main">
            <a:r>
              <a:t/>
            </a:r>
          </a:p>
          <a:p xmlns:a="http://schemas.openxmlformats.org/drawingml/2006/main">
            <a:pPr algn="l">
              <a:lnSpc>
                <a:spcPct val="112000"/>
              </a:lnSpc>
              <a:buNone/>
              <a:defRPr sz="1725" b="0">
                <a:solidFill>
                  <a:srgbClr val="191817"/>
                </a:solidFill>
                <a:latin typeface="Times New Roman"/>
                <a:ea typeface="Times New Roman"/>
                <a:cs typeface="Times New Roman"/>
              </a:defRPr>
            </a:pPr>
            <a:r>
              <a:rPr sz="1725" b="0">
                <a:solidFill>
                  <a:srgbClr val="191817"/>
                </a:solidFill>
                <a:latin typeface="Times New Roman"/>
                <a:ea typeface="Times New Roman"/>
                <a:cs typeface="Times New Roman"/>
              </a:rPr>
              <a:t>Customer VPC and sovereign tiers expand the contract.</a:t>
            </a:r>
          </a:p>
        </p:txBody>
      </p:sp>
      <p:sp>
        <p:nvSpPr>
          <p:cNvPr id="10" name="">
            <a:extLst xmlns:a="http://schemas.openxmlformats.org/drawingml/2006/main">
              <a:ext uri="{FF2B5EF4-FFF2-40B4-BE49-F238E27FC236}">
                <a16:creationId xmlns:a16="http://schemas.microsoft.com/office/drawing/2014/main" id="{A83196F1-9915-45AD-BBAB-7D763B92407D}"/>
              </a:ext>
            </a:extLst>
          </p:cNvPr>
          <p:cNvSpPr>
            <a:spLocks xmlns:a="http://schemas.openxmlformats.org/drawingml/2006/main" noGrp="1"/>
          </p:cNvSpPr>
          <p:nvPr/>
        </p:nvSpPr>
        <p:spPr>
          <a:xfrm xmlns:a="http://schemas.openxmlformats.org/drawingml/2006/main">
            <a:off x="1000125" y="4905375"/>
            <a:ext cx="10191750" cy="819150"/>
          </a:xfrm>
          <a:prstGeom xmlns:a="http://schemas.openxmlformats.org/drawingml/2006/main" prst="roundRect">
            <a:avLst>
              <a:gd name="adj" fmla="val 11628"/>
            </a:avLst>
          </a:prstGeom>
          <a:solidFill xmlns:a="http://schemas.openxmlformats.org/drawingml/2006/main">
            <a:srgbClr val="F3EAEB"/>
          </a:solidFill>
          <a:ln xmlns:a="http://schemas.openxmlformats.org/drawingml/2006/main" w="9525">
            <a:solidFill>
              <a:srgbClr val="5B1A1D"/>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2250" b="0">
                <a:solidFill>
                  <a:srgbClr val="5B1A1D"/>
                </a:solidFill>
                <a:latin typeface="Times New Roman"/>
                <a:ea typeface="Times New Roman"/>
                <a:cs typeface="Times New Roman"/>
              </a:defRPr>
            </a:defPPr>
          </a:lstStyle>
          <a:p xmlns:a="http://schemas.openxmlformats.org/drawingml/2006/main">
            <a:pPr algn="ctr">
              <a:lnSpc>
                <a:spcPct val="100000"/>
              </a:lnSpc>
              <a:buNone/>
              <a:defRPr sz="2250" b="0">
                <a:solidFill>
                  <a:srgbClr val="5B1A1D"/>
                </a:solidFill>
                <a:latin typeface="Times New Roman"/>
                <a:ea typeface="Times New Roman"/>
                <a:cs typeface="Times New Roman"/>
              </a:defRPr>
            </a:pPr>
            <a:r>
              <a:rPr sz="2250" b="0">
                <a:solidFill>
                  <a:srgbClr val="5B1A1D"/>
                </a:solidFill>
                <a:latin typeface="Times New Roman"/>
                <a:ea typeface="Times New Roman"/>
                <a:cs typeface="Times New Roman"/>
              </a:rPr>
              <a:t>Core revenue = subscription + marketplace fee + compute</a:t>
            </a:r>
          </a:p>
        </p:txBody>
      </p:sp>
      <p:sp>
        <p:nvSpPr>
          <p:cNvPr id="11" name="slide-7-footnote">
            <a:extLst xmlns:a="http://schemas.openxmlformats.org/drawingml/2006/main">
              <a:ext uri="{FF2B5EF4-FFF2-40B4-BE49-F238E27FC236}">
                <a16:creationId xmlns:a16="http://schemas.microsoft.com/office/drawing/2014/main" id="{AF29E8AD-AC23-4AC9-A165-4C962E956664}"/>
              </a:ext>
            </a:extLst>
          </p:cNvPr>
          <p:cNvSpPr>
            <a:spLocks xmlns:a="http://schemas.openxmlformats.org/drawingml/2006/main" noGrp="1"/>
          </p:cNvSpPr>
          <p:nvPr/>
        </p:nvSpPr>
        <p:spPr>
          <a:xfrm xmlns:a="http://schemas.openxmlformats.org/drawingml/2006/main">
            <a:off x="514350" y="6477000"/>
            <a:ext cx="9334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l">
              <a:defRPr sz="975" b="0">
                <a:solidFill>
                  <a:srgbClr val="77736D"/>
                </a:solidFill>
                <a:latin typeface="Times New Roman"/>
                <a:ea typeface="Times New Roman"/>
                <a:cs typeface="Times New Roman"/>
              </a:defRPr>
            </a:defPPr>
          </a:lstStyle>
          <a:p xmlns:a="http://schemas.openxmlformats.org/drawingml/2006/main">
            <a:pPr algn="l">
              <a:lnSpc>
                <a:spcPct val="100000"/>
              </a:lnSpc>
              <a:buNone/>
              <a:defRPr sz="975" b="0">
                <a:solidFill>
                  <a:srgbClr val="77736D"/>
                </a:solidFill>
                <a:latin typeface="Times New Roman"/>
                <a:ea typeface="Times New Roman"/>
                <a:cs typeface="Times New Roman"/>
              </a:defRPr>
            </a:pPr>
            <a:r>
              <a:rPr sz="975" b="0">
                <a:solidFill>
                  <a:srgbClr val="77736D"/>
                </a:solidFill>
                <a:latin typeface="Times New Roman"/>
                <a:ea typeface="Times New Roman"/>
                <a:cs typeface="Times New Roman"/>
              </a:rPr>
              <a:t>Integration and support can add services revenue. Provider payouts are reported separately.</a:t>
            </a:r>
          </a:p>
        </p:txBody>
      </p:sp>
      <p:sp>
        <p:nvSpPr>
          <p:cNvPr id="12" name="slide-7-folio">
            <a:extLst xmlns:a="http://schemas.openxmlformats.org/drawingml/2006/main">
              <a:ext uri="{FF2B5EF4-FFF2-40B4-BE49-F238E27FC236}">
                <a16:creationId xmlns:a16="http://schemas.microsoft.com/office/drawing/2014/main" id="{E89CC926-4D4E-4096-8BC4-4B3758205ABC}"/>
              </a:ext>
            </a:extLst>
          </p:cNvPr>
          <p:cNvSpPr>
            <a:spLocks xmlns:a="http://schemas.openxmlformats.org/drawingml/2006/main" noGrp="1"/>
          </p:cNvSpPr>
          <p:nvPr/>
        </p:nvSpPr>
        <p:spPr>
          <a:xfrm xmlns:a="http://schemas.openxmlformats.org/drawingml/2006/main">
            <a:off x="11096625" y="6477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77736D"/>
                </a:solidFill>
                <a:latin typeface="Times New Roman"/>
                <a:ea typeface="Times New Roman"/>
                <a:cs typeface="Times New Roman"/>
              </a:defRPr>
            </a:defPPr>
          </a:lstStyle>
          <a:p xmlns:a="http://schemas.openxmlformats.org/drawingml/2006/main">
            <a:pPr algn="r">
              <a:lnSpc>
                <a:spcPct val="100000"/>
              </a:lnSpc>
              <a:buNone/>
              <a:defRPr sz="975" b="0">
                <a:solidFill>
                  <a:srgbClr val="77736D"/>
                </a:solidFill>
                <a:latin typeface="Times New Roman"/>
                <a:ea typeface="Times New Roman"/>
                <a:cs typeface="Times New Roman"/>
              </a:defRPr>
            </a:pPr>
            <a:r>
              <a:rPr sz="975" b="0">
                <a:solidFill>
                  <a:srgbClr val="77736D"/>
                </a:solidFill>
                <a:latin typeface="Times New Roman"/>
                <a:ea typeface="Times New Roman"/>
                <a:cs typeface="Times New Roman"/>
              </a:rPr>
              <a:t>07</a:t>
            </a:r>
          </a:p>
        </p:txBody>
      </p:sp>
    </p:spTree>
    <p:extLst>
      <p:ext uri="{BB962C8B-B14F-4D97-AF65-F5344CB8AC3E}">
        <p14:creationId xmlns:p14="http://schemas.microsoft.com/office/powerpoint/2010/main" val="1188612359"/>
      </p:ext>
    </p:extLst>
  </p:cSld>
</p:sld>
</file>

<file path=ppt/slides/slide8.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21" name="slide-8-title">
            <a:extLst xmlns:a="http://schemas.openxmlformats.org/drawingml/2006/main">
              <a:ext uri="{FF2B5EF4-FFF2-40B4-BE49-F238E27FC236}">
                <a16:creationId xmlns:a16="http://schemas.microsoft.com/office/drawing/2014/main" id="{E48CCCC5-BF6F-4133-BB88-9134166C9362}"/>
              </a:ext>
            </a:extLst>
          </p:cNvPr>
          <p:cNvSpPr>
            <a:spLocks xmlns:a="http://schemas.openxmlformats.org/drawingml/2006/main" noGrp="1"/>
          </p:cNvSpPr>
          <p:nvPr/>
        </p:nvSpPr>
        <p:spPr>
          <a:xfrm xmlns:a="http://schemas.openxmlformats.org/drawingml/2006/main">
            <a:off x="514350" y="3810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0">
                <a:solidFill>
                  <a:srgbClr val="191817"/>
                </a:solidFill>
                <a:latin typeface="Times New Roman"/>
                <a:ea typeface="Times New Roman"/>
                <a:cs typeface="Times New Roman"/>
              </a:defRPr>
            </a:defPPr>
          </a:lstStyle>
          <a:p xmlns:a="http://schemas.openxmlformats.org/drawingml/2006/main">
            <a:pPr algn="l">
              <a:lnSpc>
                <a:spcPct val="94000"/>
              </a:lnSpc>
              <a:buNone/>
              <a:defRPr sz="3225" b="0">
                <a:solidFill>
                  <a:srgbClr val="191817"/>
                </a:solidFill>
                <a:latin typeface="Times New Roman"/>
                <a:ea typeface="Times New Roman"/>
                <a:cs typeface="Times New Roman"/>
              </a:defRPr>
            </a:pPr>
            <a:r>
              <a:rPr sz="3225" b="0">
                <a:solidFill>
                  <a:srgbClr val="191817"/>
                </a:solidFill>
                <a:latin typeface="Times New Roman"/>
                <a:ea typeface="Times New Roman"/>
                <a:cs typeface="Times New Roman"/>
              </a:rPr>
              <a:t>ACV expands through added contract scope</a:t>
            </a:r>
          </a:p>
        </p:txBody>
      </p:sp>
      <p:sp>
        <p:nvSpPr>
          <p:cNvPr id="2" name="">
            <a:extLst xmlns:a="http://schemas.openxmlformats.org/drawingml/2006/main">
              <a:ext uri="{FF2B5EF4-FFF2-40B4-BE49-F238E27FC236}">
                <a16:creationId xmlns:a16="http://schemas.microsoft.com/office/drawing/2014/main" id="{83C317F3-6B6D-43B1-8EC8-3507FF147997}"/>
              </a:ext>
            </a:extLst>
          </p:cNvPr>
          <p:cNvSpPr>
            <a:spLocks xmlns:a="http://schemas.openxmlformats.org/drawingml/2006/main" noGrp="1"/>
          </p:cNvSpPr>
          <p:nvPr/>
        </p:nvSpPr>
        <p:spPr>
          <a:xfrm xmlns:a="http://schemas.openxmlformats.org/drawingml/2006/main">
            <a:off x="7762875" y="1047750"/>
            <a:ext cx="3857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229"/>
          </a:bodyPr>
          <a:lstStyle xmlns:a="http://schemas.openxmlformats.org/drawingml/2006/main">
            <a:defPPr algn="r">
              <a:defRPr sz="1425" b="0">
                <a:solidFill>
                  <a:srgbClr val="5B1A1D"/>
                </a:solidFill>
                <a:latin typeface="Times New Roman"/>
                <a:ea typeface="Times New Roman"/>
                <a:cs typeface="Times New Roman"/>
              </a:defRPr>
            </a:defPPr>
          </a:lstStyle>
          <a:p xmlns:a="http://schemas.openxmlformats.org/drawingml/2006/main">
            <a:pPr algn="r">
              <a:lnSpc>
                <a:spcPct val="100000"/>
              </a:lnSpc>
              <a:buNone/>
              <a:defRPr sz="1425" b="0">
                <a:solidFill>
                  <a:srgbClr val="5B1A1D"/>
                </a:solidFill>
                <a:latin typeface="Times New Roman"/>
                <a:ea typeface="Times New Roman"/>
                <a:cs typeface="Times New Roman"/>
              </a:defRPr>
            </a:pPr>
            <a:r>
              <a:rPr sz="1425" b="0">
                <a:solidFill>
                  <a:srgbClr val="5B1A1D"/>
                </a:solidFill>
                <a:latin typeface="Times New Roman"/>
                <a:ea typeface="Times New Roman"/>
                <a:cs typeface="Times New Roman"/>
              </a:rPr>
              <a:t>Qualitative path. The source publishes no pricing forecast.</a:t>
            </a:r>
          </a:p>
        </p:txBody>
      </p:sp>
      <p:sp>
        <p:nvSpPr>
          <p:cNvPr id="3" name="">
            <a:extLst xmlns:a="http://schemas.openxmlformats.org/drawingml/2006/main">
              <a:ext uri="{FF2B5EF4-FFF2-40B4-BE49-F238E27FC236}">
                <a16:creationId xmlns:a16="http://schemas.microsoft.com/office/drawing/2014/main" id="{63BF69BB-76AB-4D28-98E6-C94095AAE817}"/>
              </a:ext>
            </a:extLst>
          </p:cNvPr>
          <p:cNvSpPr>
            <a:spLocks xmlns:a="http://schemas.openxmlformats.org/drawingml/2006/main" noGrp="1"/>
          </p:cNvSpPr>
          <p:nvPr/>
        </p:nvSpPr>
        <p:spPr>
          <a:xfrm xmlns:a="http://schemas.openxmlformats.org/drawingml/2006/main">
            <a:off x="523875" y="2047875"/>
            <a:ext cx="2524125" cy="2333625"/>
          </a:xfrm>
          <a:prstGeom xmlns:a="http://schemas.openxmlformats.org/drawingml/2006/main" prst="roundRect">
            <a:avLst>
              <a:gd name="adj" fmla="val 4082"/>
            </a:avLst>
          </a:prstGeom>
          <a:solidFill xmlns:a="http://schemas.openxmlformats.org/drawingml/2006/main">
            <a:srgbClr val="FFF2DD"/>
          </a:solidFill>
          <a:ln xmlns:a="http://schemas.openxmlformats.org/drawingml/2006/main" w="14288">
            <a:solidFill>
              <a:srgbClr val="D8892B"/>
            </a:solidFill>
            <a:prstDash val="solid"/>
          </a:ln>
        </p:spPr>
      </p:sp>
      <p:sp>
        <p:nvSpPr>
          <p:cNvPr id="4" name="">
            <a:extLst xmlns:a="http://schemas.openxmlformats.org/drawingml/2006/main">
              <a:ext uri="{FF2B5EF4-FFF2-40B4-BE49-F238E27FC236}">
                <a16:creationId xmlns:a16="http://schemas.microsoft.com/office/drawing/2014/main" id="{832D95AB-0528-4B02-87D5-9AD4E6578A90}"/>
              </a:ext>
            </a:extLst>
          </p:cNvPr>
          <p:cNvSpPr>
            <a:spLocks xmlns:a="http://schemas.openxmlformats.org/drawingml/2006/main" noGrp="1"/>
          </p:cNvSpPr>
          <p:nvPr/>
        </p:nvSpPr>
        <p:spPr>
          <a:xfrm xmlns:a="http://schemas.openxmlformats.org/drawingml/2006/main">
            <a:off x="1524000" y="1695450"/>
            <a:ext cx="523875" cy="523875"/>
          </a:xfrm>
          <a:prstGeom xmlns:a="http://schemas.openxmlformats.org/drawingml/2006/main" prst="ellipse">
            <a:avLst/>
          </a:prstGeom>
          <a:solidFill xmlns:a="http://schemas.openxmlformats.org/drawingml/2006/main">
            <a:srgbClr val="D8892B"/>
          </a:solidFill>
          <a:ln xmlns:a="http://schemas.openxmlformats.org/drawingml/2006/main" w="9525">
            <a:solidFill>
              <a:srgbClr val="D8892B"/>
            </a:solid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FFFFF"/>
                </a:solidFill>
                <a:latin typeface="Times New Roman"/>
                <a:ea typeface="Times New Roman"/>
                <a:cs typeface="Times New Roman"/>
              </a:defRPr>
            </a:defPPr>
          </a:lstStyle>
          <a:p xmlns:a="http://schemas.openxmlformats.org/drawingml/2006/main">
            <a:pPr algn="ctr">
              <a:lnSpc>
                <a:spcPct val="100000"/>
              </a:lnSpc>
              <a:buNone/>
              <a:defRPr sz="1725" b="1">
                <a:solidFill>
                  <a:srgbClr val="FFFFFF"/>
                </a:solidFill>
                <a:latin typeface="Times New Roman"/>
                <a:ea typeface="Times New Roman"/>
                <a:cs typeface="Times New Roman"/>
              </a:defRPr>
            </a:pPr>
            <a:r>
              <a:rPr sz="1725" b="1">
                <a:solidFill>
                  <a:srgbClr val="FFFFFF"/>
                </a:solidFill>
                <a:latin typeface="Times New Roman"/>
                <a:ea typeface="Times New Roman"/>
                <a:cs typeface="Times New Roman"/>
              </a:rPr>
              <a:t>1</a:t>
            </a:r>
          </a:p>
        </p:txBody>
      </p:sp>
      <p:sp>
        <p:nvSpPr>
          <p:cNvPr id="5" name="">
            <a:extLst xmlns:a="http://schemas.openxmlformats.org/drawingml/2006/main">
              <a:ext uri="{FF2B5EF4-FFF2-40B4-BE49-F238E27FC236}">
                <a16:creationId xmlns:a16="http://schemas.microsoft.com/office/drawing/2014/main" id="{BA8F7B16-1E81-425A-8006-37110F08863E}"/>
              </a:ext>
            </a:extLst>
          </p:cNvPr>
          <p:cNvSpPr>
            <a:spLocks xmlns:a="http://schemas.openxmlformats.org/drawingml/2006/main" noGrp="1"/>
          </p:cNvSpPr>
          <p:nvPr/>
        </p:nvSpPr>
        <p:spPr>
          <a:xfrm xmlns:a="http://schemas.openxmlformats.org/drawingml/2006/main">
            <a:off x="695325" y="2381250"/>
            <a:ext cx="21812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D8892B"/>
                </a:solidFill>
                <a:latin typeface="Times New Roman"/>
                <a:ea typeface="Times New Roman"/>
                <a:cs typeface="Times New Roman"/>
              </a:defRPr>
            </a:defPPr>
          </a:lstStyle>
          <a:p xmlns:a="http://schemas.openxmlformats.org/drawingml/2006/main">
            <a:pPr algn="ctr">
              <a:lnSpc>
                <a:spcPct val="100000"/>
              </a:lnSpc>
              <a:buNone/>
              <a:defRPr sz="2025" b="1">
                <a:solidFill>
                  <a:srgbClr val="D8892B"/>
                </a:solidFill>
                <a:latin typeface="Times New Roman"/>
                <a:ea typeface="Times New Roman"/>
                <a:cs typeface="Times New Roman"/>
              </a:defRPr>
            </a:pPr>
            <a:r>
              <a:rPr sz="2025" b="1">
                <a:solidFill>
                  <a:srgbClr val="D8892B"/>
                </a:solidFill>
                <a:latin typeface="Times New Roman"/>
                <a:ea typeface="Times New Roman"/>
                <a:cs typeface="Times New Roman"/>
              </a:rPr>
              <a:t>Paid pilot</a:t>
            </a:r>
          </a:p>
        </p:txBody>
      </p:sp>
      <p:sp>
        <p:nvSpPr>
          <p:cNvPr id="6" name="">
            <a:extLst xmlns:a="http://schemas.openxmlformats.org/drawingml/2006/main">
              <a:ext uri="{FF2B5EF4-FFF2-40B4-BE49-F238E27FC236}">
                <a16:creationId xmlns:a16="http://schemas.microsoft.com/office/drawing/2014/main" id="{58B43FB4-6AC3-4912-8C41-F421309099CF}"/>
              </a:ext>
            </a:extLst>
          </p:cNvPr>
          <p:cNvSpPr>
            <a:spLocks xmlns:a="http://schemas.openxmlformats.org/drawingml/2006/main" noGrp="1"/>
          </p:cNvSpPr>
          <p:nvPr/>
        </p:nvSpPr>
        <p:spPr>
          <a:xfrm xmlns:a="http://schemas.openxmlformats.org/drawingml/2006/main">
            <a:off x="762000" y="3095625"/>
            <a:ext cx="20478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191817"/>
                </a:solidFill>
                <a:latin typeface="Times New Roman"/>
                <a:ea typeface="Times New Roman"/>
                <a:cs typeface="Times New Roman"/>
              </a:defRPr>
            </a:defPPr>
          </a:lstStyle>
          <a:p xmlns:a="http://schemas.openxmlformats.org/drawingml/2006/main">
            <a:pPr algn="ctr">
              <a:lnSpc>
                <a:spcPct val="110000"/>
              </a:lnSpc>
              <a:buNone/>
              <a:defRPr sz="1500" b="0">
                <a:solidFill>
                  <a:srgbClr val="191817"/>
                </a:solidFill>
                <a:latin typeface="Times New Roman"/>
                <a:ea typeface="Times New Roman"/>
                <a:cs typeface="Times New Roman"/>
              </a:defRPr>
            </a:pPr>
            <a:r>
              <a:rPr sz="1500" b="0">
                <a:solidFill>
                  <a:srgbClr val="191817"/>
                </a:solidFill>
                <a:latin typeface="Times New Roman"/>
                <a:ea typeface="Times New Roman"/>
                <a:cs typeface="Times New Roman"/>
              </a:rPr>
              <a:t>Access budget</a:t>
            </a:r>
          </a:p>
          <a:p xmlns:a="http://schemas.openxmlformats.org/drawingml/2006/main">
            <a:pPr algn="ctr">
              <a:lnSpc>
                <a:spcPct val="110000"/>
              </a:lnSpc>
              <a:buNone/>
              <a:defRPr sz="1500" b="0">
                <a:solidFill>
                  <a:srgbClr val="191817"/>
                </a:solidFill>
                <a:latin typeface="Times New Roman"/>
                <a:ea typeface="Times New Roman"/>
                <a:cs typeface="Times New Roman"/>
              </a:defRPr>
            </a:pPr>
            <a:r>
              <a:rPr sz="1500" b="0">
                <a:solidFill>
                  <a:srgbClr val="191817"/>
                </a:solidFill>
                <a:latin typeface="Times New Roman"/>
                <a:ea typeface="Times New Roman"/>
                <a:cs typeface="Times New Roman"/>
              </a:rPr>
              <a:t>Compute budget</a:t>
            </a:r>
          </a:p>
          <a:p xmlns:a="http://schemas.openxmlformats.org/drawingml/2006/main">
            <a:pPr algn="ctr">
              <a:lnSpc>
                <a:spcPct val="110000"/>
              </a:lnSpc>
              <a:buNone/>
              <a:defRPr sz="1500" b="0">
                <a:solidFill>
                  <a:srgbClr val="191817"/>
                </a:solidFill>
                <a:latin typeface="Times New Roman"/>
                <a:ea typeface="Times New Roman"/>
                <a:cs typeface="Times New Roman"/>
              </a:defRPr>
            </a:pPr>
            <a:r>
              <a:rPr sz="1500" b="0">
                <a:solidFill>
                  <a:srgbClr val="191817"/>
                </a:solidFill>
                <a:latin typeface="Times New Roman"/>
                <a:ea typeface="Times New Roman"/>
                <a:cs typeface="Times New Roman"/>
              </a:rPr>
              <a:t>Integration scope</a:t>
            </a:r>
          </a:p>
        </p:txBody>
      </p:sp>
      <p:sp>
        <p:nvSpPr>
          <p:cNvPr id="7" name="">
            <a:extLst xmlns:a="http://schemas.openxmlformats.org/drawingml/2006/main">
              <a:ext uri="{FF2B5EF4-FFF2-40B4-BE49-F238E27FC236}">
                <a16:creationId xmlns:a16="http://schemas.microsoft.com/office/drawing/2014/main" id="{05EB960D-8C5C-4B72-8381-33702D6CFFAA}"/>
              </a:ext>
            </a:extLst>
          </p:cNvPr>
          <p:cNvSpPr>
            <a:spLocks xmlns:a="http://schemas.openxmlformats.org/drawingml/2006/main" noGrp="1"/>
          </p:cNvSpPr>
          <p:nvPr/>
        </p:nvSpPr>
        <p:spPr>
          <a:xfrm xmlns:a="http://schemas.openxmlformats.org/drawingml/2006/main">
            <a:off x="3429000" y="2047875"/>
            <a:ext cx="2524125" cy="2333625"/>
          </a:xfrm>
          <a:prstGeom xmlns:a="http://schemas.openxmlformats.org/drawingml/2006/main" prst="roundRect">
            <a:avLst>
              <a:gd name="adj" fmla="val 4082"/>
            </a:avLst>
          </a:prstGeom>
          <a:solidFill xmlns:a="http://schemas.openxmlformats.org/drawingml/2006/main">
            <a:srgbClr val="EAF1FF"/>
          </a:solidFill>
          <a:ln xmlns:a="http://schemas.openxmlformats.org/drawingml/2006/main" w="14288">
            <a:solidFill>
              <a:srgbClr val="2F74FF"/>
            </a:solidFill>
            <a:prstDash val="solid"/>
          </a:ln>
        </p:spPr>
      </p:sp>
      <p:sp>
        <p:nvSpPr>
          <p:cNvPr id="8" name="">
            <a:extLst xmlns:a="http://schemas.openxmlformats.org/drawingml/2006/main">
              <a:ext uri="{FF2B5EF4-FFF2-40B4-BE49-F238E27FC236}">
                <a16:creationId xmlns:a16="http://schemas.microsoft.com/office/drawing/2014/main" id="{BF08E83F-173E-4F0A-8BA9-049EF0434530}"/>
              </a:ext>
            </a:extLst>
          </p:cNvPr>
          <p:cNvSpPr>
            <a:spLocks xmlns:a="http://schemas.openxmlformats.org/drawingml/2006/main" noGrp="1"/>
          </p:cNvSpPr>
          <p:nvPr/>
        </p:nvSpPr>
        <p:spPr>
          <a:xfrm xmlns:a="http://schemas.openxmlformats.org/drawingml/2006/main">
            <a:off x="4429125" y="1695450"/>
            <a:ext cx="523875" cy="523875"/>
          </a:xfrm>
          <a:prstGeom xmlns:a="http://schemas.openxmlformats.org/drawingml/2006/main" prst="ellipse">
            <a:avLst/>
          </a:prstGeom>
          <a:solidFill xmlns:a="http://schemas.openxmlformats.org/drawingml/2006/main">
            <a:srgbClr val="2F74FF"/>
          </a:solidFill>
          <a:ln xmlns:a="http://schemas.openxmlformats.org/drawingml/2006/main" w="9525">
            <a:solidFill>
              <a:srgbClr val="2F74FF"/>
            </a:solid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FFFFF"/>
                </a:solidFill>
                <a:latin typeface="Times New Roman"/>
                <a:ea typeface="Times New Roman"/>
                <a:cs typeface="Times New Roman"/>
              </a:defRPr>
            </a:defPPr>
          </a:lstStyle>
          <a:p xmlns:a="http://schemas.openxmlformats.org/drawingml/2006/main">
            <a:pPr algn="ctr">
              <a:lnSpc>
                <a:spcPct val="100000"/>
              </a:lnSpc>
              <a:buNone/>
              <a:defRPr sz="1725" b="1">
                <a:solidFill>
                  <a:srgbClr val="FFFFFF"/>
                </a:solidFill>
                <a:latin typeface="Times New Roman"/>
                <a:ea typeface="Times New Roman"/>
                <a:cs typeface="Times New Roman"/>
              </a:defRPr>
            </a:pPr>
            <a:r>
              <a:rPr sz="1725" b="1">
                <a:solidFill>
                  <a:srgbClr val="FFFFFF"/>
                </a:solidFill>
                <a:latin typeface="Times New Roman"/>
                <a:ea typeface="Times New Roman"/>
                <a:cs typeface="Times New Roman"/>
              </a:rPr>
              <a:t>2</a:t>
            </a:r>
          </a:p>
        </p:txBody>
      </p:sp>
      <p:sp>
        <p:nvSpPr>
          <p:cNvPr id="9" name="">
            <a:extLst xmlns:a="http://schemas.openxmlformats.org/drawingml/2006/main">
              <a:ext uri="{FF2B5EF4-FFF2-40B4-BE49-F238E27FC236}">
                <a16:creationId xmlns:a16="http://schemas.microsoft.com/office/drawing/2014/main" id="{ADAEE709-2D5E-4BB1-A02B-939DF7A2EFC2}"/>
              </a:ext>
            </a:extLst>
          </p:cNvPr>
          <p:cNvSpPr>
            <a:spLocks xmlns:a="http://schemas.openxmlformats.org/drawingml/2006/main" noGrp="1"/>
          </p:cNvSpPr>
          <p:nvPr/>
        </p:nvSpPr>
        <p:spPr>
          <a:xfrm xmlns:a="http://schemas.openxmlformats.org/drawingml/2006/main">
            <a:off x="3600450" y="2381250"/>
            <a:ext cx="21812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765"/>
          </a:bodyPr>
          <a:lstStyle xmlns:a="http://schemas.openxmlformats.org/drawingml/2006/main">
            <a:defPPr algn="ctr">
              <a:defRPr sz="2025" b="1">
                <a:solidFill>
                  <a:srgbClr val="2F74FF"/>
                </a:solidFill>
                <a:latin typeface="Times New Roman"/>
                <a:ea typeface="Times New Roman"/>
                <a:cs typeface="Times New Roman"/>
              </a:defRPr>
            </a:defPPr>
          </a:lstStyle>
          <a:p xmlns:a="http://schemas.openxmlformats.org/drawingml/2006/main">
            <a:pPr algn="ctr">
              <a:lnSpc>
                <a:spcPct val="100000"/>
              </a:lnSpc>
              <a:buNone/>
              <a:defRPr sz="2025" b="1">
                <a:solidFill>
                  <a:srgbClr val="2F74FF"/>
                </a:solidFill>
                <a:latin typeface="Times New Roman"/>
                <a:ea typeface="Times New Roman"/>
                <a:cs typeface="Times New Roman"/>
              </a:defRPr>
            </a:pPr>
            <a:r>
              <a:rPr sz="2025" b="1">
                <a:solidFill>
                  <a:srgbClr val="2F74FF"/>
                </a:solidFill>
                <a:latin typeface="Times New Roman"/>
                <a:ea typeface="Times New Roman"/>
                <a:cs typeface="Times New Roman"/>
              </a:rPr>
              <a:t>Annual collaboration</a:t>
            </a:r>
          </a:p>
        </p:txBody>
      </p:sp>
      <p:sp>
        <p:nvSpPr>
          <p:cNvPr id="10" name="">
            <a:extLst xmlns:a="http://schemas.openxmlformats.org/drawingml/2006/main">
              <a:ext uri="{FF2B5EF4-FFF2-40B4-BE49-F238E27FC236}">
                <a16:creationId xmlns:a16="http://schemas.microsoft.com/office/drawing/2014/main" id="{AF62D2C3-300B-4661-A91D-2570641F694C}"/>
              </a:ext>
            </a:extLst>
          </p:cNvPr>
          <p:cNvSpPr>
            <a:spLocks xmlns:a="http://schemas.openxmlformats.org/drawingml/2006/main" noGrp="1"/>
          </p:cNvSpPr>
          <p:nvPr/>
        </p:nvSpPr>
        <p:spPr>
          <a:xfrm xmlns:a="http://schemas.openxmlformats.org/drawingml/2006/main">
            <a:off x="3667125" y="3095625"/>
            <a:ext cx="20478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191817"/>
                </a:solidFill>
                <a:latin typeface="Times New Roman"/>
                <a:ea typeface="Times New Roman"/>
                <a:cs typeface="Times New Roman"/>
              </a:defRPr>
            </a:defPPr>
          </a:lstStyle>
          <a:p xmlns:a="http://schemas.openxmlformats.org/drawingml/2006/main">
            <a:pPr algn="ctr">
              <a:lnSpc>
                <a:spcPct val="110000"/>
              </a:lnSpc>
              <a:buNone/>
              <a:defRPr sz="1500" b="0">
                <a:solidFill>
                  <a:srgbClr val="191817"/>
                </a:solidFill>
                <a:latin typeface="Times New Roman"/>
                <a:ea typeface="Times New Roman"/>
                <a:cs typeface="Times New Roman"/>
              </a:defRPr>
            </a:pPr>
            <a:r>
              <a:rPr sz="1500" b="0">
                <a:solidFill>
                  <a:srgbClr val="191817"/>
                </a:solidFill>
                <a:latin typeface="Times New Roman"/>
                <a:ea typeface="Times New Roman"/>
                <a:cs typeface="Times New Roman"/>
              </a:rPr>
              <a:t>Adds platform subscription</a:t>
            </a:r>
          </a:p>
          <a:p xmlns:a="http://schemas.openxmlformats.org/drawingml/2006/main">
            <a:pPr algn="ctr">
              <a:lnSpc>
                <a:spcPct val="110000"/>
              </a:lnSpc>
              <a:buNone/>
              <a:defRPr sz="1500" b="0">
                <a:solidFill>
                  <a:srgbClr val="191817"/>
                </a:solidFill>
                <a:latin typeface="Times New Roman"/>
                <a:ea typeface="Times New Roman"/>
                <a:cs typeface="Times New Roman"/>
              </a:defRPr>
            </a:pPr>
            <a:r>
              <a:rPr sz="1500" b="0">
                <a:solidFill>
                  <a:srgbClr val="191817"/>
                </a:solidFill>
                <a:latin typeface="Times New Roman"/>
                <a:ea typeface="Times New Roman"/>
                <a:cs typeface="Times New Roman"/>
              </a:rPr>
              <a:t>Adds recurring compute</a:t>
            </a:r>
          </a:p>
        </p:txBody>
      </p:sp>
      <p:sp>
        <p:nvSpPr>
          <p:cNvPr id="11" name="">
            <a:extLst xmlns:a="http://schemas.openxmlformats.org/drawingml/2006/main">
              <a:ext uri="{FF2B5EF4-FFF2-40B4-BE49-F238E27FC236}">
                <a16:creationId xmlns:a16="http://schemas.microsoft.com/office/drawing/2014/main" id="{278583E7-EB98-4071-8020-9B06A2607747}"/>
              </a:ext>
            </a:extLst>
          </p:cNvPr>
          <p:cNvSpPr>
            <a:spLocks xmlns:a="http://schemas.openxmlformats.org/drawingml/2006/main" noGrp="1"/>
          </p:cNvSpPr>
          <p:nvPr/>
        </p:nvSpPr>
        <p:spPr>
          <a:xfrm xmlns:a="http://schemas.openxmlformats.org/drawingml/2006/main">
            <a:off x="6334125" y="2047875"/>
            <a:ext cx="2524125" cy="2333625"/>
          </a:xfrm>
          <a:prstGeom xmlns:a="http://schemas.openxmlformats.org/drawingml/2006/main" prst="roundRect">
            <a:avLst>
              <a:gd name="adj" fmla="val 4082"/>
            </a:avLst>
          </a:prstGeom>
          <a:solidFill xmlns:a="http://schemas.openxmlformats.org/drawingml/2006/main">
            <a:srgbClr val="E8F6EF"/>
          </a:solidFill>
          <a:ln xmlns:a="http://schemas.openxmlformats.org/drawingml/2006/main" w="14288">
            <a:solidFill>
              <a:srgbClr val="14A866"/>
            </a:solidFill>
            <a:prstDash val="solid"/>
          </a:ln>
        </p:spPr>
      </p:sp>
      <p:sp>
        <p:nvSpPr>
          <p:cNvPr id="12" name="">
            <a:extLst xmlns:a="http://schemas.openxmlformats.org/drawingml/2006/main">
              <a:ext uri="{FF2B5EF4-FFF2-40B4-BE49-F238E27FC236}">
                <a16:creationId xmlns:a16="http://schemas.microsoft.com/office/drawing/2014/main" id="{78A83EDB-F3FF-4005-8A81-9F792165B847}"/>
              </a:ext>
            </a:extLst>
          </p:cNvPr>
          <p:cNvSpPr>
            <a:spLocks xmlns:a="http://schemas.openxmlformats.org/drawingml/2006/main" noGrp="1"/>
          </p:cNvSpPr>
          <p:nvPr/>
        </p:nvSpPr>
        <p:spPr>
          <a:xfrm xmlns:a="http://schemas.openxmlformats.org/drawingml/2006/main">
            <a:off x="7334250" y="1695450"/>
            <a:ext cx="523875" cy="523875"/>
          </a:xfrm>
          <a:prstGeom xmlns:a="http://schemas.openxmlformats.org/drawingml/2006/main" prst="ellipse">
            <a:avLst/>
          </a:prstGeom>
          <a:solidFill xmlns:a="http://schemas.openxmlformats.org/drawingml/2006/main">
            <a:srgbClr val="14A866"/>
          </a:solidFill>
          <a:ln xmlns:a="http://schemas.openxmlformats.org/drawingml/2006/main" w="9525">
            <a:solidFill>
              <a:srgbClr val="14A866"/>
            </a:solid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FFFFF"/>
                </a:solidFill>
                <a:latin typeface="Times New Roman"/>
                <a:ea typeface="Times New Roman"/>
                <a:cs typeface="Times New Roman"/>
              </a:defRPr>
            </a:defPPr>
          </a:lstStyle>
          <a:p xmlns:a="http://schemas.openxmlformats.org/drawingml/2006/main">
            <a:pPr algn="ctr">
              <a:lnSpc>
                <a:spcPct val="100000"/>
              </a:lnSpc>
              <a:buNone/>
              <a:defRPr sz="1725" b="1">
                <a:solidFill>
                  <a:srgbClr val="FFFFFF"/>
                </a:solidFill>
                <a:latin typeface="Times New Roman"/>
                <a:ea typeface="Times New Roman"/>
                <a:cs typeface="Times New Roman"/>
              </a:defRPr>
            </a:pPr>
            <a:r>
              <a:rPr sz="1725" b="1">
                <a:solidFill>
                  <a:srgbClr val="FFFFFF"/>
                </a:solidFill>
                <a:latin typeface="Times New Roman"/>
                <a:ea typeface="Times New Roman"/>
                <a:cs typeface="Times New Roman"/>
              </a:rPr>
              <a:t>3</a:t>
            </a:r>
          </a:p>
        </p:txBody>
      </p:sp>
      <p:sp>
        <p:nvSpPr>
          <p:cNvPr id="13" name="">
            <a:extLst xmlns:a="http://schemas.openxmlformats.org/drawingml/2006/main">
              <a:ext uri="{FF2B5EF4-FFF2-40B4-BE49-F238E27FC236}">
                <a16:creationId xmlns:a16="http://schemas.microsoft.com/office/drawing/2014/main" id="{25B52602-079B-4382-9726-4C8330F94613}"/>
              </a:ext>
            </a:extLst>
          </p:cNvPr>
          <p:cNvSpPr>
            <a:spLocks xmlns:a="http://schemas.openxmlformats.org/drawingml/2006/main" noGrp="1"/>
          </p:cNvSpPr>
          <p:nvPr/>
        </p:nvSpPr>
        <p:spPr>
          <a:xfrm xmlns:a="http://schemas.openxmlformats.org/drawingml/2006/main">
            <a:off x="6505575" y="2381250"/>
            <a:ext cx="21812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2025" b="1">
                <a:solidFill>
                  <a:srgbClr val="14A866"/>
                </a:solidFill>
                <a:latin typeface="Times New Roman"/>
                <a:ea typeface="Times New Roman"/>
                <a:cs typeface="Times New Roman"/>
              </a:defRPr>
            </a:defPPr>
          </a:lstStyle>
          <a:p xmlns:a="http://schemas.openxmlformats.org/drawingml/2006/main">
            <a:pPr algn="ctr">
              <a:lnSpc>
                <a:spcPct val="100000"/>
              </a:lnSpc>
              <a:buNone/>
              <a:defRPr sz="2025" b="1">
                <a:solidFill>
                  <a:srgbClr val="14A866"/>
                </a:solidFill>
                <a:latin typeface="Times New Roman"/>
                <a:ea typeface="Times New Roman"/>
                <a:cs typeface="Times New Roman"/>
              </a:defRPr>
            </a:pPr>
            <a:r>
              <a:rPr sz="2025" b="1">
                <a:solidFill>
                  <a:srgbClr val="14A866"/>
                </a:solidFill>
                <a:latin typeface="Times New Roman"/>
                <a:ea typeface="Times New Roman"/>
                <a:cs typeface="Times New Roman"/>
              </a:rPr>
              <a:t>Network expansion</a:t>
            </a:r>
          </a:p>
        </p:txBody>
      </p:sp>
      <p:sp>
        <p:nvSpPr>
          <p:cNvPr id="14" name="">
            <a:extLst xmlns:a="http://schemas.openxmlformats.org/drawingml/2006/main">
              <a:ext uri="{FF2B5EF4-FFF2-40B4-BE49-F238E27FC236}">
                <a16:creationId xmlns:a16="http://schemas.microsoft.com/office/drawing/2014/main" id="{B3F18BF6-D215-483D-B51A-FE6633041890}"/>
              </a:ext>
            </a:extLst>
          </p:cNvPr>
          <p:cNvSpPr>
            <a:spLocks xmlns:a="http://schemas.openxmlformats.org/drawingml/2006/main" noGrp="1"/>
          </p:cNvSpPr>
          <p:nvPr/>
        </p:nvSpPr>
        <p:spPr>
          <a:xfrm xmlns:a="http://schemas.openxmlformats.org/drawingml/2006/main">
            <a:off x="6572250" y="3095625"/>
            <a:ext cx="20478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191817"/>
                </a:solidFill>
                <a:latin typeface="Times New Roman"/>
                <a:ea typeface="Times New Roman"/>
                <a:cs typeface="Times New Roman"/>
              </a:defRPr>
            </a:defPPr>
          </a:lstStyle>
          <a:p xmlns:a="http://schemas.openxmlformats.org/drawingml/2006/main">
            <a:pPr algn="ctr">
              <a:lnSpc>
                <a:spcPct val="110000"/>
              </a:lnSpc>
              <a:buNone/>
              <a:defRPr sz="1500" b="0">
                <a:solidFill>
                  <a:srgbClr val="191817"/>
                </a:solidFill>
                <a:latin typeface="Times New Roman"/>
                <a:ea typeface="Times New Roman"/>
                <a:cs typeface="Times New Roman"/>
              </a:defRPr>
            </a:pPr>
            <a:r>
              <a:rPr sz="1500" b="0">
                <a:solidFill>
                  <a:srgbClr val="191817"/>
                </a:solidFill>
                <a:latin typeface="Times New Roman"/>
                <a:ea typeface="Times New Roman"/>
                <a:cs typeface="Times New Roman"/>
              </a:rPr>
              <a:t>Adds providers</a:t>
            </a:r>
          </a:p>
          <a:p xmlns:a="http://schemas.openxmlformats.org/drawingml/2006/main">
            <a:pPr algn="ctr">
              <a:lnSpc>
                <a:spcPct val="110000"/>
              </a:lnSpc>
              <a:buNone/>
              <a:defRPr sz="1500" b="0">
                <a:solidFill>
                  <a:srgbClr val="191817"/>
                </a:solidFill>
                <a:latin typeface="Times New Roman"/>
                <a:ea typeface="Times New Roman"/>
                <a:cs typeface="Times New Roman"/>
              </a:defRPr>
            </a:pPr>
            <a:r>
              <a:rPr sz="1500" b="0">
                <a:solidFill>
                  <a:srgbClr val="191817"/>
                </a:solidFill>
                <a:latin typeface="Times New Roman"/>
                <a:ea typeface="Times New Roman"/>
                <a:cs typeface="Times New Roman"/>
              </a:rPr>
              <a:t>Adds workloads</a:t>
            </a:r>
          </a:p>
          <a:p xmlns:a="http://schemas.openxmlformats.org/drawingml/2006/main">
            <a:pPr algn="ctr">
              <a:lnSpc>
                <a:spcPct val="110000"/>
              </a:lnSpc>
              <a:buNone/>
              <a:defRPr sz="1500" b="0">
                <a:solidFill>
                  <a:srgbClr val="191817"/>
                </a:solidFill>
                <a:latin typeface="Times New Roman"/>
                <a:ea typeface="Times New Roman"/>
                <a:cs typeface="Times New Roman"/>
              </a:defRPr>
            </a:pPr>
            <a:r>
              <a:rPr sz="1500" b="0">
                <a:solidFill>
                  <a:srgbClr val="191817"/>
                </a:solidFill>
                <a:latin typeface="Times New Roman"/>
                <a:ea typeface="Times New Roman"/>
                <a:cs typeface="Times New Roman"/>
              </a:rPr>
              <a:t>Adds Exchange fees</a:t>
            </a:r>
          </a:p>
        </p:txBody>
      </p:sp>
      <p:sp>
        <p:nvSpPr>
          <p:cNvPr id="15" name="">
            <a:extLst xmlns:a="http://schemas.openxmlformats.org/drawingml/2006/main">
              <a:ext uri="{FF2B5EF4-FFF2-40B4-BE49-F238E27FC236}">
                <a16:creationId xmlns:a16="http://schemas.microsoft.com/office/drawing/2014/main" id="{74165ADC-0BF9-4D6A-893A-F349B7EBE7E1}"/>
              </a:ext>
            </a:extLst>
          </p:cNvPr>
          <p:cNvSpPr>
            <a:spLocks xmlns:a="http://schemas.openxmlformats.org/drawingml/2006/main" noGrp="1"/>
          </p:cNvSpPr>
          <p:nvPr/>
        </p:nvSpPr>
        <p:spPr>
          <a:xfrm xmlns:a="http://schemas.openxmlformats.org/drawingml/2006/main">
            <a:off x="9239250" y="2047875"/>
            <a:ext cx="2524125" cy="2333625"/>
          </a:xfrm>
          <a:prstGeom xmlns:a="http://schemas.openxmlformats.org/drawingml/2006/main" prst="roundRect">
            <a:avLst>
              <a:gd name="adj" fmla="val 4082"/>
            </a:avLst>
          </a:prstGeom>
          <a:solidFill xmlns:a="http://schemas.openxmlformats.org/drawingml/2006/main">
            <a:srgbClr val="F3EAEB"/>
          </a:solidFill>
          <a:ln xmlns:a="http://schemas.openxmlformats.org/drawingml/2006/main" w="14288">
            <a:solidFill>
              <a:srgbClr val="5B1A1D"/>
            </a:solidFill>
            <a:prstDash val="solid"/>
          </a:ln>
        </p:spPr>
      </p:sp>
      <p:sp>
        <p:nvSpPr>
          <p:cNvPr id="16" name="">
            <a:extLst xmlns:a="http://schemas.openxmlformats.org/drawingml/2006/main">
              <a:ext uri="{FF2B5EF4-FFF2-40B4-BE49-F238E27FC236}">
                <a16:creationId xmlns:a16="http://schemas.microsoft.com/office/drawing/2014/main" id="{B4548C84-CCC6-4396-B722-A3816894AF7A}"/>
              </a:ext>
            </a:extLst>
          </p:cNvPr>
          <p:cNvSpPr>
            <a:spLocks xmlns:a="http://schemas.openxmlformats.org/drawingml/2006/main" noGrp="1"/>
          </p:cNvSpPr>
          <p:nvPr/>
        </p:nvSpPr>
        <p:spPr>
          <a:xfrm xmlns:a="http://schemas.openxmlformats.org/drawingml/2006/main">
            <a:off x="10239375" y="1695450"/>
            <a:ext cx="523875" cy="523875"/>
          </a:xfrm>
          <a:prstGeom xmlns:a="http://schemas.openxmlformats.org/drawingml/2006/main" prst="ellipse">
            <a:avLst/>
          </a:prstGeom>
          <a:solidFill xmlns:a="http://schemas.openxmlformats.org/drawingml/2006/main">
            <a:srgbClr val="5B1A1D"/>
          </a:solidFill>
          <a:ln xmlns:a="http://schemas.openxmlformats.org/drawingml/2006/main" w="9525">
            <a:solidFill>
              <a:srgbClr val="5B1A1D"/>
            </a:solidFill>
            <a:prstDash val="solid"/>
          </a:ln>
        </p:spPr>
        <p:txBody>
          <a:bodyPr xmlns:a="http://schemas.openxmlformats.org/drawingml/2006/main" wrap="square" lIns="0" tIns="0" rIns="0" bIns="0" anchor="ctr">
            <a:normAutofit fontScale="100000"/>
          </a:bodyPr>
          <a:lstStyle xmlns:a="http://schemas.openxmlformats.org/drawingml/2006/main">
            <a:defPPr algn="ctr">
              <a:defRPr sz="1725" b="1">
                <a:solidFill>
                  <a:srgbClr val="FFFFFF"/>
                </a:solidFill>
                <a:latin typeface="Times New Roman"/>
                <a:ea typeface="Times New Roman"/>
                <a:cs typeface="Times New Roman"/>
              </a:defRPr>
            </a:defPPr>
          </a:lstStyle>
          <a:p xmlns:a="http://schemas.openxmlformats.org/drawingml/2006/main">
            <a:pPr algn="ctr">
              <a:lnSpc>
                <a:spcPct val="100000"/>
              </a:lnSpc>
              <a:buNone/>
              <a:defRPr sz="1725" b="1">
                <a:solidFill>
                  <a:srgbClr val="FFFFFF"/>
                </a:solidFill>
                <a:latin typeface="Times New Roman"/>
                <a:ea typeface="Times New Roman"/>
                <a:cs typeface="Times New Roman"/>
              </a:defRPr>
            </a:pPr>
            <a:r>
              <a:rPr sz="1725" b="1">
                <a:solidFill>
                  <a:srgbClr val="FFFFFF"/>
                </a:solidFill>
                <a:latin typeface="Times New Roman"/>
                <a:ea typeface="Times New Roman"/>
                <a:cs typeface="Times New Roman"/>
              </a:rPr>
              <a:t>4</a:t>
            </a:r>
          </a:p>
        </p:txBody>
      </p:sp>
      <p:sp>
        <p:nvSpPr>
          <p:cNvPr id="17" name="">
            <a:extLst xmlns:a="http://schemas.openxmlformats.org/drawingml/2006/main">
              <a:ext uri="{FF2B5EF4-FFF2-40B4-BE49-F238E27FC236}">
                <a16:creationId xmlns:a16="http://schemas.microsoft.com/office/drawing/2014/main" id="{743FC21E-6325-442E-9208-7F838EC19553}"/>
              </a:ext>
            </a:extLst>
          </p:cNvPr>
          <p:cNvSpPr>
            <a:spLocks xmlns:a="http://schemas.openxmlformats.org/drawingml/2006/main" noGrp="1"/>
          </p:cNvSpPr>
          <p:nvPr/>
        </p:nvSpPr>
        <p:spPr>
          <a:xfrm xmlns:a="http://schemas.openxmlformats.org/drawingml/2006/main">
            <a:off x="9410700" y="2381250"/>
            <a:ext cx="21812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765"/>
          </a:bodyPr>
          <a:lstStyle xmlns:a="http://schemas.openxmlformats.org/drawingml/2006/main">
            <a:defPPr algn="ctr">
              <a:defRPr sz="2025" b="1">
                <a:solidFill>
                  <a:srgbClr val="5B1A1D"/>
                </a:solidFill>
                <a:latin typeface="Times New Roman"/>
                <a:ea typeface="Times New Roman"/>
                <a:cs typeface="Times New Roman"/>
              </a:defRPr>
            </a:defPPr>
          </a:lstStyle>
          <a:p xmlns:a="http://schemas.openxmlformats.org/drawingml/2006/main">
            <a:pPr algn="ctr">
              <a:lnSpc>
                <a:spcPct val="100000"/>
              </a:lnSpc>
              <a:buNone/>
              <a:defRPr sz="2025" b="1">
                <a:solidFill>
                  <a:srgbClr val="5B1A1D"/>
                </a:solidFill>
                <a:latin typeface="Times New Roman"/>
                <a:ea typeface="Times New Roman"/>
                <a:cs typeface="Times New Roman"/>
              </a:defRPr>
            </a:pPr>
            <a:r>
              <a:rPr sz="2025" b="1">
                <a:solidFill>
                  <a:srgbClr val="5B1A1D"/>
                </a:solidFill>
                <a:latin typeface="Times New Roman"/>
                <a:ea typeface="Times New Roman"/>
                <a:cs typeface="Times New Roman"/>
              </a:rPr>
              <a:t>Dedicated deployment</a:t>
            </a:r>
          </a:p>
        </p:txBody>
      </p:sp>
      <p:sp>
        <p:nvSpPr>
          <p:cNvPr id="18" name="">
            <a:extLst xmlns:a="http://schemas.openxmlformats.org/drawingml/2006/main">
              <a:ext uri="{FF2B5EF4-FFF2-40B4-BE49-F238E27FC236}">
                <a16:creationId xmlns:a16="http://schemas.microsoft.com/office/drawing/2014/main" id="{644AA5AE-6859-4183-A453-1D0161609416}"/>
              </a:ext>
            </a:extLst>
          </p:cNvPr>
          <p:cNvSpPr>
            <a:spLocks xmlns:a="http://schemas.openxmlformats.org/drawingml/2006/main" noGrp="1"/>
          </p:cNvSpPr>
          <p:nvPr/>
        </p:nvSpPr>
        <p:spPr>
          <a:xfrm xmlns:a="http://schemas.openxmlformats.org/drawingml/2006/main">
            <a:off x="9477375" y="3095625"/>
            <a:ext cx="2047875"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ctr">
              <a:defRPr sz="1500" b="0">
                <a:solidFill>
                  <a:srgbClr val="191817"/>
                </a:solidFill>
                <a:latin typeface="Times New Roman"/>
                <a:ea typeface="Times New Roman"/>
                <a:cs typeface="Times New Roman"/>
              </a:defRPr>
            </a:defPPr>
          </a:lstStyle>
          <a:p xmlns:a="http://schemas.openxmlformats.org/drawingml/2006/main">
            <a:pPr algn="ctr">
              <a:lnSpc>
                <a:spcPct val="110000"/>
              </a:lnSpc>
              <a:buNone/>
              <a:defRPr sz="1500" b="0">
                <a:solidFill>
                  <a:srgbClr val="191817"/>
                </a:solidFill>
                <a:latin typeface="Times New Roman"/>
                <a:ea typeface="Times New Roman"/>
                <a:cs typeface="Times New Roman"/>
              </a:defRPr>
            </a:pPr>
            <a:r>
              <a:rPr sz="1500" b="0">
                <a:solidFill>
                  <a:srgbClr val="191817"/>
                </a:solidFill>
                <a:latin typeface="Times New Roman"/>
                <a:ea typeface="Times New Roman"/>
                <a:cs typeface="Times New Roman"/>
              </a:rPr>
              <a:t>Adds customer VPC or sovereign license</a:t>
            </a:r>
          </a:p>
          <a:p xmlns:a="http://schemas.openxmlformats.org/drawingml/2006/main">
            <a:pPr algn="ctr">
              <a:lnSpc>
                <a:spcPct val="110000"/>
              </a:lnSpc>
              <a:buNone/>
              <a:defRPr sz="1500" b="0">
                <a:solidFill>
                  <a:srgbClr val="191817"/>
                </a:solidFill>
                <a:latin typeface="Times New Roman"/>
                <a:ea typeface="Times New Roman"/>
                <a:cs typeface="Times New Roman"/>
              </a:defRPr>
            </a:pPr>
            <a:r>
              <a:rPr sz="1500" b="0">
                <a:solidFill>
                  <a:srgbClr val="191817"/>
                </a:solidFill>
                <a:latin typeface="Times New Roman"/>
                <a:ea typeface="Times New Roman"/>
                <a:cs typeface="Times New Roman"/>
              </a:rPr>
              <a:t>Adds reserved capacity and support</a:t>
            </a:r>
          </a:p>
        </p:txBody>
      </p:sp>
      <p:sp>
        <p:nvSpPr>
          <p:cNvPr id="19" name="">
            <a:extLst xmlns:a="http://schemas.openxmlformats.org/drawingml/2006/main">
              <a:ext uri="{FF2B5EF4-FFF2-40B4-BE49-F238E27FC236}">
                <a16:creationId xmlns:a16="http://schemas.microsoft.com/office/drawing/2014/main" id="{D8272C5D-2744-42CB-AE06-608E5B5E73E8}"/>
              </a:ext>
            </a:extLst>
          </p:cNvPr>
          <p:cNvSpPr>
            <a:spLocks xmlns:a="http://schemas.openxmlformats.org/drawingml/2006/main" noGrp="1"/>
          </p:cNvSpPr>
          <p:nvPr/>
        </p:nvSpPr>
        <p:spPr>
          <a:xfrm xmlns:a="http://schemas.openxmlformats.org/drawingml/2006/main">
            <a:off x="1619250" y="4953000"/>
            <a:ext cx="8953500" cy="781050"/>
          </a:xfrm>
          <a:prstGeom xmlns:a="http://schemas.openxmlformats.org/drawingml/2006/main" prst="roundRect">
            <a:avLst>
              <a:gd name="adj" fmla="val 12195"/>
            </a:avLst>
          </a:prstGeom>
          <a:solidFill xmlns:a="http://schemas.openxmlformats.org/drawingml/2006/main">
            <a:srgbClr val="E8F6EF"/>
          </a:solidFill>
          <a:ln xmlns:a="http://schemas.openxmlformats.org/drawingml/2006/main" w="9525">
            <a:solidFill>
              <a:srgbClr val="14A866"/>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2175" b="0">
                <a:solidFill>
                  <a:srgbClr val="14A866"/>
                </a:solidFill>
                <a:latin typeface="Times New Roman"/>
                <a:ea typeface="Times New Roman"/>
                <a:cs typeface="Times New Roman"/>
              </a:defRPr>
            </a:defPPr>
          </a:lstStyle>
          <a:p xmlns:a="http://schemas.openxmlformats.org/drawingml/2006/main">
            <a:pPr algn="ctr">
              <a:lnSpc>
                <a:spcPct val="100000"/>
              </a:lnSpc>
              <a:buNone/>
              <a:defRPr sz="2175" b="0">
                <a:solidFill>
                  <a:srgbClr val="14A866"/>
                </a:solidFill>
                <a:latin typeface="Times New Roman"/>
                <a:ea typeface="Times New Roman"/>
                <a:cs typeface="Times New Roman"/>
              </a:defRPr>
            </a:pPr>
            <a:r>
              <a:rPr sz="2175" b="0">
                <a:solidFill>
                  <a:srgbClr val="14A866"/>
                </a:solidFill>
                <a:latin typeface="Times New Roman"/>
                <a:ea typeface="Times New Roman"/>
                <a:cs typeface="Times New Roman"/>
              </a:rPr>
              <a:t>ACV grows as more revenue layers enter one customer relationship.</a:t>
            </a:r>
          </a:p>
        </p:txBody>
      </p:sp>
      <p:sp>
        <p:nvSpPr>
          <p:cNvPr id="20" name="slide-8-folio">
            <a:extLst xmlns:a="http://schemas.openxmlformats.org/drawingml/2006/main">
              <a:ext uri="{FF2B5EF4-FFF2-40B4-BE49-F238E27FC236}">
                <a16:creationId xmlns:a16="http://schemas.microsoft.com/office/drawing/2014/main" id="{4D4E93E9-4812-4A32-9590-3507D243BD07}"/>
              </a:ext>
            </a:extLst>
          </p:cNvPr>
          <p:cNvSpPr>
            <a:spLocks xmlns:a="http://schemas.openxmlformats.org/drawingml/2006/main" noGrp="1"/>
          </p:cNvSpPr>
          <p:nvPr/>
        </p:nvSpPr>
        <p:spPr>
          <a:xfrm xmlns:a="http://schemas.openxmlformats.org/drawingml/2006/main">
            <a:off x="11096625" y="64770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77736D"/>
                </a:solidFill>
                <a:latin typeface="Times New Roman"/>
                <a:ea typeface="Times New Roman"/>
                <a:cs typeface="Times New Roman"/>
              </a:defRPr>
            </a:defPPr>
          </a:lstStyle>
          <a:p xmlns:a="http://schemas.openxmlformats.org/drawingml/2006/main">
            <a:pPr algn="r">
              <a:lnSpc>
                <a:spcPct val="100000"/>
              </a:lnSpc>
              <a:buNone/>
              <a:defRPr sz="975" b="0">
                <a:solidFill>
                  <a:srgbClr val="77736D"/>
                </a:solidFill>
                <a:latin typeface="Times New Roman"/>
                <a:ea typeface="Times New Roman"/>
                <a:cs typeface="Times New Roman"/>
              </a:defRPr>
            </a:pPr>
            <a:r>
              <a:rPr sz="975" b="0">
                <a:solidFill>
                  <a:srgbClr val="77736D"/>
                </a:solidFill>
                <a:latin typeface="Times New Roman"/>
                <a:ea typeface="Times New Roman"/>
                <a:cs typeface="Times New Roman"/>
              </a:rPr>
              <a:t>08</a:t>
            </a:r>
          </a:p>
        </p:txBody>
      </p:sp>
    </p:spTree>
    <p:extLst>
      <p:ext uri="{BB962C8B-B14F-4D97-AF65-F5344CB8AC3E}">
        <p14:creationId xmlns:p14="http://schemas.microsoft.com/office/powerpoint/2010/main" val="1476243275"/>
      </p:ext>
    </p:extLst>
  </p:cSld>
</p:sld>
</file>

<file path=ppt/slides/slide9.xml><?xml version="1.0" encoding="utf-8"?>
<p:sld xmlns:p="http://schemas.openxmlformats.org/presentationml/2006/main">
  <p:cSld>
    <p:bg>
      <p:bgPr>
        <a:solidFill xmlns:a="http://schemas.openxmlformats.org/drawingml/2006/main">
          <a:srgbClr val="FCFBF8"/>
        </a:solidFill>
      </p:bgPr>
    </p:bg>
    <p:spTree>
      <p:nvGrpSpPr>
        <p:cNvPr id="1" name=""/>
        <p:cNvGrpSpPr/>
        <p:nvPr/>
      </p:nvGrpSpPr>
      <p:grpSpPr>
        <a:xfrm xmlns:a="http://schemas.openxmlformats.org/drawingml/2006/main"/>
      </p:grpSpPr>
      <p:sp>
        <p:nvSpPr>
          <p:cNvPr id="10" name="slide-9-title">
            <a:extLst xmlns:a="http://schemas.openxmlformats.org/drawingml/2006/main">
              <a:ext uri="{FF2B5EF4-FFF2-40B4-BE49-F238E27FC236}">
                <a16:creationId xmlns:a16="http://schemas.microsoft.com/office/drawing/2014/main" id="{6F8671B3-E6ED-4240-9BFF-1316694B8DC1}"/>
              </a:ext>
            </a:extLst>
          </p:cNvPr>
          <p:cNvSpPr>
            <a:spLocks xmlns:a="http://schemas.openxmlformats.org/drawingml/2006/main" noGrp="1"/>
          </p:cNvSpPr>
          <p:nvPr/>
        </p:nvSpPr>
        <p:spPr>
          <a:xfrm xmlns:a="http://schemas.openxmlformats.org/drawingml/2006/main">
            <a:off x="514350" y="381000"/>
            <a:ext cx="10668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225" b="0">
                <a:solidFill>
                  <a:srgbClr val="191817"/>
                </a:solidFill>
                <a:latin typeface="Times New Roman"/>
                <a:ea typeface="Times New Roman"/>
                <a:cs typeface="Times New Roman"/>
              </a:defRPr>
            </a:defPPr>
          </a:lstStyle>
          <a:p xmlns:a="http://schemas.openxmlformats.org/drawingml/2006/main">
            <a:pPr algn="l">
              <a:lnSpc>
                <a:spcPct val="94000"/>
              </a:lnSpc>
              <a:buNone/>
              <a:defRPr sz="3225" b="0">
                <a:solidFill>
                  <a:srgbClr val="191817"/>
                </a:solidFill>
                <a:latin typeface="Times New Roman"/>
                <a:ea typeface="Times New Roman"/>
                <a:cs typeface="Times New Roman"/>
              </a:defRPr>
            </a:pPr>
            <a:r>
              <a:rPr sz="3225" b="0">
                <a:solidFill>
                  <a:srgbClr val="191817"/>
                </a:solidFill>
                <a:latin typeface="Times New Roman"/>
                <a:ea typeface="Times New Roman"/>
                <a:cs typeface="Times New Roman"/>
              </a:rPr>
              <a:t>Funding rationale and next proof point</a:t>
            </a:r>
          </a:p>
        </p:txBody>
      </p:sp>
      <p:sp>
        <p:nvSpPr>
          <p:cNvPr id="2" name="">
            <a:extLst xmlns:a="http://schemas.openxmlformats.org/drawingml/2006/main">
              <a:ext uri="{FF2B5EF4-FFF2-40B4-BE49-F238E27FC236}">
                <a16:creationId xmlns:a16="http://schemas.microsoft.com/office/drawing/2014/main" id="{782F5369-6CFB-4E3D-B13E-0E7CE14823AB}"/>
              </a:ext>
            </a:extLst>
          </p:cNvPr>
          <p:cNvSpPr>
            <a:spLocks xmlns:a="http://schemas.openxmlformats.org/drawingml/2006/main" noGrp="1"/>
          </p:cNvSpPr>
          <p:nvPr/>
        </p:nvSpPr>
        <p:spPr>
          <a:xfrm xmlns:a="http://schemas.openxmlformats.org/drawingml/2006/main">
            <a:off x="523875" y="12858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2F74FF"/>
                </a:solidFill>
                <a:latin typeface="Times New Roman"/>
                <a:ea typeface="Times New Roman"/>
                <a:cs typeface="Times New Roman"/>
              </a:defRPr>
            </a:defPPr>
          </a:lstStyle>
          <a:p xmlns:a="http://schemas.openxmlformats.org/drawingml/2006/main">
            <a:pPr algn="l">
              <a:lnSpc>
                <a:spcPct val="100000"/>
              </a:lnSpc>
              <a:buNone/>
              <a:defRPr sz="2100" b="1">
                <a:solidFill>
                  <a:srgbClr val="2F74FF"/>
                </a:solidFill>
                <a:latin typeface="Times New Roman"/>
                <a:ea typeface="Times New Roman"/>
                <a:cs typeface="Times New Roman"/>
              </a:defRPr>
            </a:pPr>
            <a:r>
              <a:rPr sz="2100" b="1">
                <a:solidFill>
                  <a:srgbClr val="2F74FF"/>
                </a:solidFill>
                <a:latin typeface="Times New Roman"/>
                <a:ea typeface="Times New Roman"/>
                <a:cs typeface="Times New Roman"/>
              </a:rPr>
              <a:t>Current proof</a:t>
            </a:r>
          </a:p>
        </p:txBody>
      </p:sp>
      <p:sp>
        <p:nvSpPr>
          <p:cNvPr id="3" name="">
            <a:extLst xmlns:a="http://schemas.openxmlformats.org/drawingml/2006/main">
              <a:ext uri="{FF2B5EF4-FFF2-40B4-BE49-F238E27FC236}">
                <a16:creationId xmlns:a16="http://schemas.microsoft.com/office/drawing/2014/main" id="{57DD10BE-9006-4F18-A21B-D6A2207581FA}"/>
              </a:ext>
            </a:extLst>
          </p:cNvPr>
          <p:cNvSpPr>
            <a:spLocks xmlns:a="http://schemas.openxmlformats.org/drawingml/2006/main" noGrp="1"/>
          </p:cNvSpPr>
          <p:nvPr/>
        </p:nvSpPr>
        <p:spPr>
          <a:xfrm xmlns:a="http://schemas.openxmlformats.org/drawingml/2006/main">
            <a:off x="523875" y="1857375"/>
            <a:ext cx="3143250" cy="2381250"/>
          </a:xfrm>
          <a:prstGeom xmlns:a="http://schemas.openxmlformats.org/drawingml/2006/main" prst="roundRect">
            <a:avLst>
              <a:gd name="adj" fmla="val 4000"/>
            </a:avLst>
          </a:prstGeom>
          <a:solidFill xmlns:a="http://schemas.openxmlformats.org/drawingml/2006/main">
            <a:srgbClr val="EAF1FF"/>
          </a:solidFill>
          <a:ln xmlns:a="http://schemas.openxmlformats.org/drawingml/2006/main" w="14288">
            <a:solidFill>
              <a:srgbClr val="2F74FF"/>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800" b="0">
                <a:solidFill>
                  <a:srgbClr val="191817"/>
                </a:solidFill>
                <a:latin typeface="Times New Roman"/>
                <a:ea typeface="Times New Roman"/>
                <a:cs typeface="Times New Roman"/>
              </a:defRPr>
            </a:defPPr>
          </a:lstStyle>
          <a:p xmlns:a="http://schemas.openxmlformats.org/drawingml/2006/main">
            <a:pPr algn="ctr">
              <a:lnSpc>
                <a:spcPct val="112000"/>
              </a:lnSpc>
              <a:buNone/>
              <a:defRPr sz="1800" b="0">
                <a:solidFill>
                  <a:srgbClr val="191817"/>
                </a:solidFill>
                <a:latin typeface="Times New Roman"/>
                <a:ea typeface="Times New Roman"/>
                <a:cs typeface="Times New Roman"/>
              </a:defRPr>
            </a:pPr>
            <a:r>
              <a:rPr sz="1800" b="0">
                <a:solidFill>
                  <a:srgbClr val="191817"/>
                </a:solidFill>
                <a:latin typeface="Times New Roman"/>
                <a:ea typeface="Times New Roman"/>
                <a:cs typeface="Times New Roman"/>
              </a:rPr>
              <a:t>Encrypted logistic regression training and inference</a:t>
            </a:r>
          </a:p>
          <a:p xmlns:a="http://schemas.openxmlformats.org/drawingml/2006/main">
            <a:r>
              <a:t/>
            </a:r>
          </a:p>
          <a:p xmlns:a="http://schemas.openxmlformats.org/drawingml/2006/main">
            <a:pPr algn="ctr">
              <a:lnSpc>
                <a:spcPct val="112000"/>
              </a:lnSpc>
              <a:buNone/>
              <a:defRPr sz="1800" b="0">
                <a:solidFill>
                  <a:srgbClr val="191817"/>
                </a:solidFill>
                <a:latin typeface="Times New Roman"/>
                <a:ea typeface="Times New Roman"/>
                <a:cs typeface="Times New Roman"/>
              </a:defRPr>
            </a:pPr>
            <a:r>
              <a:rPr sz="1800" b="0">
                <a:solidFill>
                  <a:srgbClr val="191817"/>
                </a:solidFill>
                <a:latin typeface="Times New Roman"/>
                <a:ea typeface="Times New Roman"/>
                <a:cs typeface="Times New Roman"/>
              </a:rPr>
              <a:t>Encrypted linear regression inference</a:t>
            </a:r>
          </a:p>
        </p:txBody>
      </p:sp>
      <p:sp>
        <p:nvSpPr>
          <p:cNvPr id="4" name="">
            <a:extLst xmlns:a="http://schemas.openxmlformats.org/drawingml/2006/main">
              <a:ext uri="{FF2B5EF4-FFF2-40B4-BE49-F238E27FC236}">
                <a16:creationId xmlns:a16="http://schemas.microsoft.com/office/drawing/2014/main" id="{B25FE883-1DD6-4BAB-AFA6-F5F9C2302BFF}"/>
              </a:ext>
            </a:extLst>
          </p:cNvPr>
          <p:cNvSpPr>
            <a:spLocks xmlns:a="http://schemas.openxmlformats.org/drawingml/2006/main" noGrp="1"/>
          </p:cNvSpPr>
          <p:nvPr/>
        </p:nvSpPr>
        <p:spPr>
          <a:xfrm xmlns:a="http://schemas.openxmlformats.org/drawingml/2006/main">
            <a:off x="4524375" y="12858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14A866"/>
                </a:solidFill>
                <a:latin typeface="Times New Roman"/>
                <a:ea typeface="Times New Roman"/>
                <a:cs typeface="Times New Roman"/>
              </a:defRPr>
            </a:defPPr>
          </a:lstStyle>
          <a:p xmlns:a="http://schemas.openxmlformats.org/drawingml/2006/main">
            <a:pPr algn="l">
              <a:lnSpc>
                <a:spcPct val="100000"/>
              </a:lnSpc>
              <a:buNone/>
              <a:defRPr sz="2100" b="1">
                <a:solidFill>
                  <a:srgbClr val="14A866"/>
                </a:solidFill>
                <a:latin typeface="Times New Roman"/>
                <a:ea typeface="Times New Roman"/>
                <a:cs typeface="Times New Roman"/>
              </a:defRPr>
            </a:pPr>
            <a:r>
              <a:rPr sz="2100" b="1">
                <a:solidFill>
                  <a:srgbClr val="14A866"/>
                </a:solidFill>
                <a:latin typeface="Times New Roman"/>
                <a:ea typeface="Times New Roman"/>
                <a:cs typeface="Times New Roman"/>
              </a:rPr>
              <a:t>Capital funds</a:t>
            </a:r>
          </a:p>
        </p:txBody>
      </p:sp>
      <p:sp>
        <p:nvSpPr>
          <p:cNvPr id="5" name="">
            <a:extLst xmlns:a="http://schemas.openxmlformats.org/drawingml/2006/main">
              <a:ext uri="{FF2B5EF4-FFF2-40B4-BE49-F238E27FC236}">
                <a16:creationId xmlns:a16="http://schemas.microsoft.com/office/drawing/2014/main" id="{D30AFADA-E227-42C0-B2AD-B2B5A55F559C}"/>
              </a:ext>
            </a:extLst>
          </p:cNvPr>
          <p:cNvSpPr>
            <a:spLocks xmlns:a="http://schemas.openxmlformats.org/drawingml/2006/main" noGrp="1"/>
          </p:cNvSpPr>
          <p:nvPr/>
        </p:nvSpPr>
        <p:spPr>
          <a:xfrm xmlns:a="http://schemas.openxmlformats.org/drawingml/2006/main">
            <a:off x="4524375" y="1857375"/>
            <a:ext cx="3143250" cy="2381250"/>
          </a:xfrm>
          <a:prstGeom xmlns:a="http://schemas.openxmlformats.org/drawingml/2006/main" prst="roundRect">
            <a:avLst>
              <a:gd name="adj" fmla="val 4000"/>
            </a:avLst>
          </a:prstGeom>
          <a:solidFill xmlns:a="http://schemas.openxmlformats.org/drawingml/2006/main">
            <a:srgbClr val="E8F6EF"/>
          </a:solidFill>
          <a:ln xmlns:a="http://schemas.openxmlformats.org/drawingml/2006/main" w="14288">
            <a:solidFill>
              <a:srgbClr val="14A866"/>
            </a:solidFill>
            <a:prstDash val="solid"/>
          </a:ln>
        </p:spPr>
        <p:txBody>
          <a:bodyPr xmlns:a="http://schemas.openxmlformats.org/drawingml/2006/main" wrap="square" lIns="114300" tIns="114300" rIns="114300" bIns="114300" anchor="ctr">
            <a:normAutofit fontScale="100000"/>
          </a:bodyPr>
          <a:lstStyle xmlns:a="http://schemas.openxmlformats.org/drawingml/2006/main">
            <a:defPPr algn="ctr">
              <a:defRPr sz="1650" b="0">
                <a:solidFill>
                  <a:srgbClr val="191817"/>
                </a:solidFill>
                <a:latin typeface="Times New Roman"/>
                <a:ea typeface="Times New Roman"/>
                <a:cs typeface="Times New Roman"/>
              </a:defRPr>
            </a:defPPr>
          </a:lstStyle>
          <a:p xmlns:a="http://schemas.openxmlformats.org/drawingml/2006/main">
            <a:pPr algn="ctr">
              <a:lnSpc>
                <a:spcPct val="108000"/>
              </a:lnSpc>
              <a:buNone/>
              <a:defRPr sz="1650" b="0">
                <a:solidFill>
                  <a:srgbClr val="191817"/>
                </a:solidFill>
                <a:latin typeface="Times New Roman"/>
                <a:ea typeface="Times New Roman"/>
                <a:cs typeface="Times New Roman"/>
              </a:defRPr>
            </a:pPr>
            <a:r>
              <a:rPr sz="1650" b="0">
                <a:solidFill>
                  <a:srgbClr val="191817"/>
                </a:solidFill>
                <a:latin typeface="Times New Roman"/>
                <a:ea typeface="Times New Roman"/>
                <a:cs typeface="Times New Roman"/>
              </a:rPr>
              <a:t>Provider onboarding and Exchange operations</a:t>
            </a:r>
          </a:p>
          <a:p xmlns:a="http://schemas.openxmlformats.org/drawingml/2006/main">
            <a:r>
              <a:t/>
            </a:r>
          </a:p>
          <a:p xmlns:a="http://schemas.openxmlformats.org/drawingml/2006/main">
            <a:pPr algn="ctr">
              <a:lnSpc>
                <a:spcPct val="108000"/>
              </a:lnSpc>
              <a:buNone/>
              <a:defRPr sz="1650" b="0">
                <a:solidFill>
                  <a:srgbClr val="191817"/>
                </a:solidFill>
                <a:latin typeface="Times New Roman"/>
                <a:ea typeface="Times New Roman"/>
                <a:cs typeface="Times New Roman"/>
              </a:defRPr>
            </a:pPr>
            <a:r>
              <a:rPr sz="1650" b="0">
                <a:solidFill>
                  <a:srgbClr val="191817"/>
                </a:solidFill>
                <a:latin typeface="Times New Roman"/>
                <a:ea typeface="Times New Roman"/>
                <a:cs typeface="Times New Roman"/>
              </a:rPr>
              <a:t>Runtime, connectors and key management</a:t>
            </a:r>
          </a:p>
          <a:p xmlns:a="http://schemas.openxmlformats.org/drawingml/2006/main">
            <a:r>
              <a:t/>
            </a:r>
          </a:p>
          <a:p xmlns:a="http://schemas.openxmlformats.org/drawingml/2006/main">
            <a:pPr algn="ctr">
              <a:lnSpc>
                <a:spcPct val="108000"/>
              </a:lnSpc>
              <a:buNone/>
              <a:defRPr sz="1650" b="0">
                <a:solidFill>
                  <a:srgbClr val="191817"/>
                </a:solidFill>
                <a:latin typeface="Times New Roman"/>
                <a:ea typeface="Times New Roman"/>
                <a:cs typeface="Times New Roman"/>
              </a:defRPr>
            </a:pPr>
            <a:r>
              <a:rPr sz="1650" b="0">
                <a:solidFill>
                  <a:srgbClr val="191817"/>
                </a:solidFill>
                <a:latin typeface="Times New Roman"/>
                <a:ea typeface="Times New Roman"/>
                <a:cs typeface="Times New Roman"/>
              </a:rPr>
              <a:t>Security and enterprise controls</a:t>
            </a:r>
          </a:p>
        </p:txBody>
      </p:sp>
      <p:sp>
        <p:nvSpPr>
          <p:cNvPr id="6" name="">
            <a:extLst xmlns:a="http://schemas.openxmlformats.org/drawingml/2006/main">
              <a:ext uri="{FF2B5EF4-FFF2-40B4-BE49-F238E27FC236}">
                <a16:creationId xmlns:a16="http://schemas.microsoft.com/office/drawing/2014/main" id="{0CDDDAEC-D9DD-422E-89D5-BD007739C4F4}"/>
              </a:ext>
            </a:extLst>
          </p:cNvPr>
          <p:cNvSpPr>
            <a:spLocks xmlns:a="http://schemas.openxmlformats.org/drawingml/2006/main" noGrp="1"/>
          </p:cNvSpPr>
          <p:nvPr/>
        </p:nvSpPr>
        <p:spPr>
          <a:xfrm xmlns:a="http://schemas.openxmlformats.org/drawingml/2006/main">
            <a:off x="8524875" y="1285875"/>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100" b="1">
                <a:solidFill>
                  <a:srgbClr val="5B1A1D"/>
                </a:solidFill>
                <a:latin typeface="Times New Roman"/>
                <a:ea typeface="Times New Roman"/>
                <a:cs typeface="Times New Roman"/>
              </a:defRPr>
            </a:defPPr>
          </a:lstStyle>
          <a:p xmlns:a="http://schemas.openxmlformats.org/drawingml/2006/main">
            <a:pPr algn="l">
              <a:lnSpc>
                <a:spcPct val="100000"/>
              </a:lnSpc>
              <a:buNone/>
              <a:defRPr sz="2100" b="1">
                <a:solidFill>
                  <a:srgbClr val="5B1A1D"/>
                </a:solidFill>
                <a:latin typeface="Times New Roman"/>
                <a:ea typeface="Times New Roman"/>
                <a:cs typeface="Times New Roman"/>
              </a:defRPr>
            </a:pPr>
            <a:r>
              <a:rPr sz="2100" b="1">
                <a:solidFill>
                  <a:srgbClr val="5B1A1D"/>
                </a:solidFill>
                <a:latin typeface="Times New Roman"/>
                <a:ea typeface="Times New Roman"/>
                <a:cs typeface="Times New Roman"/>
              </a:rPr>
              <a:t>Next commercial proof</a:t>
            </a:r>
          </a:p>
        </p:txBody>
      </p:sp>
      <p:sp>
        <p:nvSpPr>
          <p:cNvPr id="7" name="">
            <a:extLst xmlns:a="http://schemas.openxmlformats.org/drawingml/2006/main">
              <a:ext uri="{FF2B5EF4-FFF2-40B4-BE49-F238E27FC236}">
                <a16:creationId xmlns:a16="http://schemas.microsoft.com/office/drawing/2014/main" id="{C7A69FCE-C2B9-4B39-BA93-441869EB721C}"/>
              </a:ext>
            </a:extLst>
          </p:cNvPr>
          <p:cNvSpPr>
            <a:spLocks xmlns:a="http://schemas.openxmlformats.org/drawingml/2006/main" noGrp="1"/>
          </p:cNvSpPr>
          <p:nvPr/>
        </p:nvSpPr>
        <p:spPr>
          <a:xfrm xmlns:a="http://schemas.openxmlformats.org/drawingml/2006/main">
            <a:off x="8524875" y="1857375"/>
            <a:ext cx="3143250" cy="2381250"/>
          </a:xfrm>
          <a:prstGeom xmlns:a="http://schemas.openxmlformats.org/drawingml/2006/main" prst="roundRect">
            <a:avLst>
              <a:gd name="adj" fmla="val 4000"/>
            </a:avLst>
          </a:prstGeom>
          <a:solidFill xmlns:a="http://schemas.openxmlformats.org/drawingml/2006/main">
            <a:srgbClr val="F3EAEB"/>
          </a:solidFill>
          <a:ln xmlns:a="http://schemas.openxmlformats.org/drawingml/2006/main" w="14288">
            <a:solidFill>
              <a:srgbClr val="5B1A1D"/>
            </a:solidFill>
            <a:prstDash val="solid"/>
          </a:ln>
        </p:spPr>
        <p:txBody>
          <a:bodyPr xmlns:a="http://schemas.openxmlformats.org/drawingml/2006/main" wrap="square" lIns="114300" tIns="114300" rIns="114300" bIns="114300" anchor="ctr">
            <a:normAutofit fontScale="93621"/>
          </a:bodyPr>
          <a:lstStyle xmlns:a="http://schemas.openxmlformats.org/drawingml/2006/main">
            <a:defPPr algn="ctr">
              <a:defRPr sz="1575" b="0">
                <a:solidFill>
                  <a:srgbClr val="191817"/>
                </a:solidFill>
                <a:latin typeface="Times New Roman"/>
                <a:ea typeface="Times New Roman"/>
                <a:cs typeface="Times New Roman"/>
              </a:defRPr>
            </a:defPPr>
          </a:lstStyle>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Paid pilot across multiple data owners</a:t>
            </a:r>
          </a:p>
          <a:p xmlns:a="http://schemas.openxmlformats.org/drawingml/2006/main">
            <a:r>
              <a:t/>
            </a:r>
          </a:p>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Threshold release to a customer key</a:t>
            </a:r>
          </a:p>
          <a:p xmlns:a="http://schemas.openxmlformats.org/drawingml/2006/main">
            <a:r>
              <a:t/>
            </a:r>
          </a:p>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Two providers paid</a:t>
            </a:r>
          </a:p>
          <a:p xmlns:a="http://schemas.openxmlformats.org/drawingml/2006/main">
            <a:r>
              <a:t/>
            </a:r>
          </a:p>
          <a:p xmlns:a="http://schemas.openxmlformats.org/drawingml/2006/main">
            <a:pPr algn="ctr">
              <a:lnSpc>
                <a:spcPct val="106000"/>
              </a:lnSpc>
              <a:buNone/>
              <a:defRPr sz="1575" b="0">
                <a:solidFill>
                  <a:srgbClr val="191817"/>
                </a:solidFill>
                <a:latin typeface="Times New Roman"/>
                <a:ea typeface="Times New Roman"/>
                <a:cs typeface="Times New Roman"/>
              </a:defRPr>
            </a:pPr>
            <a:r>
              <a:rPr sz="1575" b="0">
                <a:solidFill>
                  <a:srgbClr val="191817"/>
                </a:solidFill>
                <a:latin typeface="Times New Roman"/>
                <a:ea typeface="Times New Roman"/>
                <a:cs typeface="Times New Roman"/>
              </a:rPr>
              <a:t>Recurring platform and compute contract</a:t>
            </a:r>
          </a:p>
        </p:txBody>
      </p:sp>
      <p:sp>
        <p:nvSpPr>
          <p:cNvPr id="8" name="">
            <a:extLst xmlns:a="http://schemas.openxmlformats.org/drawingml/2006/main">
              <a:ext uri="{FF2B5EF4-FFF2-40B4-BE49-F238E27FC236}">
                <a16:creationId xmlns:a16="http://schemas.microsoft.com/office/drawing/2014/main" id="{F5F872CD-F097-4145-91B2-4C5B9086BAF0}"/>
              </a:ext>
            </a:extLst>
          </p:cNvPr>
          <p:cNvSpPr>
            <a:spLocks xmlns:a="http://schemas.openxmlformats.org/drawingml/2006/main" noGrp="1"/>
          </p:cNvSpPr>
          <p:nvPr/>
        </p:nvSpPr>
        <p:spPr>
          <a:xfrm xmlns:a="http://schemas.openxmlformats.org/drawingml/2006/main">
            <a:off x="0" y="4953000"/>
            <a:ext cx="12192000" cy="1447800"/>
          </a:xfrm>
          <a:prstGeom xmlns:a="http://schemas.openxmlformats.org/drawingml/2006/main" prst="rect">
            <a:avLst/>
          </a:prstGeom>
          <a:solidFill xmlns:a="http://schemas.openxmlformats.org/drawingml/2006/main">
            <a:srgbClr val="5B1A1D"/>
          </a:solidFill>
          <a:ln xmlns:a="http://schemas.openxmlformats.org/drawingml/2006/main" w="0">
            <a:solidFill>
              <a:srgbClr val="5B1A1D"/>
            </a:solidFill>
            <a:prstDash val="solid"/>
          </a:ln>
        </p:spPr>
        <p:txBody>
          <a:bodyPr xmlns:a="http://schemas.openxmlformats.org/drawingml/2006/main" wrap="square" lIns="1047750" tIns="228600" rIns="1047750" bIns="228600" anchor="ctr">
            <a:normAutofit fontScale="100000"/>
          </a:bodyPr>
          <a:lstStyle xmlns:a="http://schemas.openxmlformats.org/drawingml/2006/main">
            <a:defPPr algn="ctr">
              <a:defRPr sz="2550" b="0">
                <a:solidFill>
                  <a:srgbClr val="FFFFFF"/>
                </a:solidFill>
                <a:latin typeface="Times New Roman"/>
                <a:ea typeface="Times New Roman"/>
                <a:cs typeface="Times New Roman"/>
              </a:defRPr>
            </a:defPPr>
          </a:lstStyle>
          <a:p xmlns:a="http://schemas.openxmlformats.org/drawingml/2006/main">
            <a:pPr algn="ctr">
              <a:lnSpc>
                <a:spcPct val="100000"/>
              </a:lnSpc>
              <a:buNone/>
              <a:defRPr sz="2550" b="0">
                <a:solidFill>
                  <a:srgbClr val="FFFFFF"/>
                </a:solidFill>
                <a:latin typeface="Times New Roman"/>
                <a:ea typeface="Times New Roman"/>
                <a:cs typeface="Times New Roman"/>
              </a:defRPr>
            </a:pPr>
            <a:r>
              <a:rPr sz="2550" b="0">
                <a:solidFill>
                  <a:srgbClr val="FFFFFF"/>
                </a:solidFill>
                <a:latin typeface="Times New Roman"/>
                <a:ea typeface="Times New Roman"/>
                <a:cs typeface="Times New Roman"/>
              </a:rPr>
              <a:t>The durable asset is the transaction layer above the privacy backend.</a:t>
            </a:r>
          </a:p>
        </p:txBody>
      </p:sp>
      <p:sp>
        <p:nvSpPr>
          <p:cNvPr id="9" name="">
            <a:extLst xmlns:a="http://schemas.openxmlformats.org/drawingml/2006/main">
              <a:ext uri="{FF2B5EF4-FFF2-40B4-BE49-F238E27FC236}">
                <a16:creationId xmlns:a16="http://schemas.microsoft.com/office/drawing/2014/main" id="{4A982BD8-32E3-4473-BD30-C60916C60DEA}"/>
              </a:ext>
            </a:extLst>
          </p:cNvPr>
          <p:cNvSpPr>
            <a:spLocks xmlns:a="http://schemas.openxmlformats.org/drawingml/2006/main" noGrp="1"/>
          </p:cNvSpPr>
          <p:nvPr/>
        </p:nvSpPr>
        <p:spPr>
          <a:xfrm xmlns:a="http://schemas.openxmlformats.org/drawingml/2006/main">
            <a:off x="11096625" y="6515100"/>
            <a:ext cx="5524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defPPr algn="r">
              <a:defRPr sz="975" b="0">
                <a:solidFill>
                  <a:srgbClr val="77736D"/>
                </a:solidFill>
                <a:latin typeface="Times New Roman"/>
                <a:ea typeface="Times New Roman"/>
                <a:cs typeface="Times New Roman"/>
              </a:defRPr>
            </a:defPPr>
          </a:lstStyle>
          <a:p xmlns:a="http://schemas.openxmlformats.org/drawingml/2006/main">
            <a:pPr algn="r">
              <a:lnSpc>
                <a:spcPct val="100000"/>
              </a:lnSpc>
              <a:buNone/>
              <a:defRPr sz="975" b="0">
                <a:solidFill>
                  <a:srgbClr val="77736D"/>
                </a:solidFill>
                <a:latin typeface="Times New Roman"/>
                <a:ea typeface="Times New Roman"/>
                <a:cs typeface="Times New Roman"/>
              </a:defRPr>
            </a:pPr>
            <a:r>
              <a:rPr sz="975" b="0">
                <a:solidFill>
                  <a:srgbClr val="77736D"/>
                </a:solidFill>
                <a:latin typeface="Times New Roman"/>
                <a:ea typeface="Times New Roman"/>
                <a:cs typeface="Times New Roman"/>
              </a:rPr>
              <a:t>09</a:t>
            </a:r>
          </a:p>
        </p:txBody>
      </p:sp>
    </p:spTree>
    <p:extLst>
      <p:ext uri="{BB962C8B-B14F-4D97-AF65-F5344CB8AC3E}">
        <p14:creationId xmlns:p14="http://schemas.microsoft.com/office/powerpoint/2010/main" val="4175785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2026-10-11T13:32:57.0560000Z</dcterms:created>
  <dcterms:modified xsi:type="dcterms:W3CDTF">2026-10-11T13:32:57.0560000Z</dcterms:modified>
</coreProperties>
</file>